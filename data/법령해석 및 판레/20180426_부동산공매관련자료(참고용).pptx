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handoutMasterIdLst>
    <p:handoutMasterId r:id="rId20"/>
  </p:handoutMasterIdLst>
  <p:sldIdLst>
    <p:sldId id="273" r:id="rId2"/>
    <p:sldId id="276" r:id="rId3"/>
    <p:sldId id="289" r:id="rId4"/>
    <p:sldId id="291" r:id="rId5"/>
    <p:sldId id="301" r:id="rId6"/>
    <p:sldId id="295" r:id="rId7"/>
    <p:sldId id="294" r:id="rId8"/>
    <p:sldId id="304" r:id="rId9"/>
    <p:sldId id="297" r:id="rId10"/>
    <p:sldId id="298" r:id="rId11"/>
    <p:sldId id="308" r:id="rId12"/>
    <p:sldId id="302" r:id="rId13"/>
    <p:sldId id="303" r:id="rId14"/>
    <p:sldId id="296" r:id="rId15"/>
    <p:sldId id="305" r:id="rId16"/>
    <p:sldId id="306" r:id="rId17"/>
    <p:sldId id="307" r:id="rId18"/>
    <p:sldId id="272" r:id="rId19"/>
  </p:sldIdLst>
  <p:sldSz cx="9144000" cy="6858000" type="screen4x3"/>
  <p:notesSz cx="6797675" cy="9928225"/>
  <p:embeddedFontLst>
    <p:embeddedFont>
      <p:font typeface="나눔고딕" panose="020B0600000101010101" charset="-127"/>
      <p:regular r:id="rId21"/>
      <p:bold r:id="rId22"/>
    </p:embeddedFont>
    <p:embeddedFont>
      <p:font typeface="맑은 고딕" panose="020B0503020000020004" pitchFamily="50" charset="-127"/>
      <p:regular r:id="rId23"/>
      <p:bold r:id="rId24"/>
    </p:embeddedFont>
    <p:embeddedFont>
      <p:font typeface="나눔고딕 ExtraBold" panose="020B0600000101010101" charset="-127"/>
      <p:bold r:id="rId25"/>
    </p:embeddedFont>
    <p:embeddedFont>
      <p:font typeface="나눔명조" panose="020B0600000101010101" charset="-127"/>
      <p:regular r:id="rId26"/>
      <p:bold r:id="rId27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DB4"/>
    <a:srgbClr val="063579"/>
    <a:srgbClr val="A6AFB4"/>
    <a:srgbClr val="64A644"/>
    <a:srgbClr val="64C844"/>
    <a:srgbClr val="CACACC"/>
    <a:srgbClr val="5CA6C4"/>
    <a:srgbClr val="ED4037"/>
    <a:srgbClr val="3B3532"/>
    <a:srgbClr val="A6D4E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43" autoAdjust="0"/>
    <p:restoredTop sz="94660"/>
  </p:normalViewPr>
  <p:slideViewPr>
    <p:cSldViewPr>
      <p:cViewPr>
        <p:scale>
          <a:sx n="100" d="100"/>
          <a:sy n="100" d="100"/>
        </p:scale>
        <p:origin x="-324" y="-234"/>
      </p:cViewPr>
      <p:guideLst>
        <p:guide orient="horz"/>
        <p:guide pos="337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font" Target="fonts/font7.fntdata"/><Relationship Id="rId30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46247" cy="496811"/>
          </a:xfrm>
          <a:prstGeom prst="rect">
            <a:avLst/>
          </a:prstGeom>
        </p:spPr>
        <p:txBody>
          <a:bodyPr vert="horz" lIns="92117" tIns="46058" rIns="92117" bIns="46058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49826" y="1"/>
            <a:ext cx="2946246" cy="496811"/>
          </a:xfrm>
          <a:prstGeom prst="rect">
            <a:avLst/>
          </a:prstGeom>
        </p:spPr>
        <p:txBody>
          <a:bodyPr vert="horz" lIns="92117" tIns="46058" rIns="92117" bIns="46058" rtlCol="0"/>
          <a:lstStyle>
            <a:lvl1pPr algn="r">
              <a:defRPr sz="1200"/>
            </a:lvl1pPr>
          </a:lstStyle>
          <a:p>
            <a:fld id="{ED5E3417-1B90-417C-8219-5620C7A6F09C}" type="datetimeFigureOut">
              <a:rPr lang="ko-KR" altLang="en-US" smtClean="0"/>
              <a:t>2018-04-26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429817"/>
            <a:ext cx="2946247" cy="496810"/>
          </a:xfrm>
          <a:prstGeom prst="rect">
            <a:avLst/>
          </a:prstGeom>
        </p:spPr>
        <p:txBody>
          <a:bodyPr vert="horz" lIns="92117" tIns="46058" rIns="92117" bIns="46058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49826" y="9429817"/>
            <a:ext cx="2946246" cy="496810"/>
          </a:xfrm>
          <a:prstGeom prst="rect">
            <a:avLst/>
          </a:prstGeom>
        </p:spPr>
        <p:txBody>
          <a:bodyPr vert="horz" lIns="92117" tIns="46058" rIns="92117" bIns="46058" rtlCol="0" anchor="b"/>
          <a:lstStyle>
            <a:lvl1pPr algn="r">
              <a:defRPr sz="1200"/>
            </a:lvl1pPr>
          </a:lstStyle>
          <a:p>
            <a:fld id="{F0C641DB-1E3C-4C3D-B7B6-7CA6CFE29E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158398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4CBB35-AD46-4E76-8D25-6B58F7F57BFA}" type="datetimeFigureOut">
              <a:rPr lang="ko-KR" altLang="en-US" smtClean="0"/>
              <a:pPr/>
              <a:t>2018-04-26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E518D-BBB7-423D-A504-30C5C19EE5B0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36144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4CBB35-AD46-4E76-8D25-6B58F7F57BFA}" type="datetimeFigureOut">
              <a:rPr lang="ko-KR" altLang="en-US" smtClean="0"/>
              <a:pPr/>
              <a:t>2018-04-26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E518D-BBB7-423D-A504-30C5C19EE5B0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405292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4CBB35-AD46-4E76-8D25-6B58F7F57BFA}" type="datetimeFigureOut">
              <a:rPr lang="ko-KR" altLang="en-US" smtClean="0"/>
              <a:pPr/>
              <a:t>2018-04-26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E518D-BBB7-423D-A504-30C5C19EE5B0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478580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4CBB35-AD46-4E76-8D25-6B58F7F57BFA}" type="datetimeFigureOut">
              <a:rPr lang="ko-KR" altLang="en-US" smtClean="0"/>
              <a:pPr/>
              <a:t>2018-04-26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E518D-BBB7-423D-A504-30C5C19EE5B0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19036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4CBB35-AD46-4E76-8D25-6B58F7F57BFA}" type="datetimeFigureOut">
              <a:rPr lang="ko-KR" altLang="en-US" smtClean="0"/>
              <a:pPr/>
              <a:t>2018-04-26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E518D-BBB7-423D-A504-30C5C19EE5B0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15337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4CBB35-AD46-4E76-8D25-6B58F7F57BFA}" type="datetimeFigureOut">
              <a:rPr lang="ko-KR" altLang="en-US" smtClean="0"/>
              <a:pPr/>
              <a:t>2018-04-26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E518D-BBB7-423D-A504-30C5C19EE5B0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552601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4CBB35-AD46-4E76-8D25-6B58F7F57BFA}" type="datetimeFigureOut">
              <a:rPr lang="ko-KR" altLang="en-US" smtClean="0"/>
              <a:pPr/>
              <a:t>2018-04-26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E518D-BBB7-423D-A504-30C5C19EE5B0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636277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4CBB35-AD46-4E76-8D25-6B58F7F57BFA}" type="datetimeFigureOut">
              <a:rPr lang="ko-KR" altLang="en-US" smtClean="0"/>
              <a:pPr/>
              <a:t>2018-04-26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E518D-BBB7-423D-A504-30C5C19EE5B0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836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4CBB35-AD46-4E76-8D25-6B58F7F57BFA}" type="datetimeFigureOut">
              <a:rPr lang="ko-KR" altLang="en-US" smtClean="0"/>
              <a:pPr/>
              <a:t>2018-04-26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E518D-BBB7-423D-A504-30C5C19EE5B0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767521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4CBB35-AD46-4E76-8D25-6B58F7F57BFA}" type="datetimeFigureOut">
              <a:rPr lang="ko-KR" altLang="en-US" smtClean="0"/>
              <a:pPr/>
              <a:t>2018-04-26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E518D-BBB7-423D-A504-30C5C19EE5B0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84629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4CBB35-AD46-4E76-8D25-6B58F7F57BFA}" type="datetimeFigureOut">
              <a:rPr lang="ko-KR" altLang="en-US" smtClean="0"/>
              <a:pPr/>
              <a:t>2018-04-26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E518D-BBB7-423D-A504-30C5C19EE5B0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079379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4CBB35-AD46-4E76-8D25-6B58F7F57BFA}" type="datetimeFigureOut">
              <a:rPr lang="ko-KR" altLang="en-US" smtClean="0"/>
              <a:pPr/>
              <a:t>2018-04-26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8E518D-BBB7-423D-A504-30C5C19EE5B0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756225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그림1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-36512" y="-8733"/>
            <a:ext cx="9180000" cy="6866733"/>
          </a:xfrm>
          <a:prstGeom prst="rect">
            <a:avLst/>
          </a:prstGeom>
        </p:spPr>
      </p:pic>
      <p:pic>
        <p:nvPicPr>
          <p:cNvPr id="6" name="그림 5" descr="1도 흰색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6556693" y="5445224"/>
            <a:ext cx="1714419" cy="77973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789325" y="2060848"/>
            <a:ext cx="3430747" cy="8517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7000"/>
              </a:lnSpc>
            </a:pPr>
            <a:r>
              <a:rPr lang="ko-KR" altLang="en-US" sz="28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고딕 ExtraBold" pitchFamily="50" charset="-127"/>
                <a:ea typeface="나눔고딕 ExtraBold" pitchFamily="50" charset="-127"/>
              </a:rPr>
              <a:t>대한민국 경제 </a:t>
            </a:r>
            <a:r>
              <a:rPr lang="ko-KR" altLang="en-US" sz="28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고딕 ExtraBold" pitchFamily="50" charset="-127"/>
                <a:ea typeface="나눔고딕 ExtraBold" pitchFamily="50" charset="-127"/>
              </a:rPr>
              <a:t>키우미</a:t>
            </a:r>
            <a:endParaRPr lang="en-US" altLang="ko-KR" sz="2800" dirty="0" smtClean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1"/>
              </a:solidFill>
              <a:latin typeface="나눔고딕 ExtraBold" pitchFamily="50" charset="-127"/>
              <a:ea typeface="나눔고딕 ExtraBold" pitchFamily="50" charset="-127"/>
            </a:endParaRPr>
          </a:p>
        </p:txBody>
      </p:sp>
      <p:pic>
        <p:nvPicPr>
          <p:cNvPr id="10" name="그림 9" descr="KAMCO 영문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380678" y="331340"/>
            <a:ext cx="2754000" cy="217340"/>
          </a:xfrm>
          <a:prstGeom prst="rect">
            <a:avLst/>
          </a:prstGeom>
        </p:spPr>
      </p:pic>
      <p:pic>
        <p:nvPicPr>
          <p:cNvPr id="15" name="그림 14" descr="그림1ㅍㅍㅍ.png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1863997" y="3017554"/>
            <a:ext cx="5473756" cy="82289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그림 15" descr="그림303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0" y="2266218"/>
            <a:ext cx="1173719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500" b="1" spc="-100" dirty="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명조" pitchFamily="18" charset="-127"/>
                <a:ea typeface="나눔명조" pitchFamily="18" charset="-127"/>
              </a:rPr>
              <a:t>CONTENTS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30073" y="3434919"/>
            <a:ext cx="234360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500" b="1" spc="-100" dirty="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고딕OTF" pitchFamily="34" charset="-127"/>
                <a:ea typeface="나눔고딕OTF" pitchFamily="34" charset="-127"/>
              </a:rPr>
              <a:t> </a:t>
            </a:r>
            <a:endParaRPr lang="ko-KR" altLang="en-US" sz="1500" b="1" spc="-10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1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grpSp>
        <p:nvGrpSpPr>
          <p:cNvPr id="3" name="그룹 14"/>
          <p:cNvGrpSpPr/>
          <p:nvPr/>
        </p:nvGrpSpPr>
        <p:grpSpPr>
          <a:xfrm>
            <a:off x="4469640" y="2089723"/>
            <a:ext cx="4674360" cy="59943"/>
            <a:chOff x="4469640" y="2037987"/>
            <a:chExt cx="4674360" cy="59943"/>
          </a:xfrm>
        </p:grpSpPr>
        <p:cxnSp>
          <p:nvCxnSpPr>
            <p:cNvPr id="11" name="직선 연결선 10"/>
            <p:cNvCxnSpPr/>
            <p:nvPr/>
          </p:nvCxnSpPr>
          <p:spPr>
            <a:xfrm flipH="1">
              <a:off x="4499992" y="2067958"/>
              <a:ext cx="4644008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타원 12"/>
            <p:cNvSpPr/>
            <p:nvPr/>
          </p:nvSpPr>
          <p:spPr>
            <a:xfrm>
              <a:off x="4469640" y="2037987"/>
              <a:ext cx="59943" cy="59943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4" name="그룹 17"/>
          <p:cNvGrpSpPr/>
          <p:nvPr/>
        </p:nvGrpSpPr>
        <p:grpSpPr>
          <a:xfrm>
            <a:off x="4469640" y="5387833"/>
            <a:ext cx="4674360" cy="59943"/>
            <a:chOff x="4469640" y="2037987"/>
            <a:chExt cx="4674360" cy="59943"/>
          </a:xfrm>
        </p:grpSpPr>
        <p:cxnSp>
          <p:nvCxnSpPr>
            <p:cNvPr id="19" name="직선 연결선 18"/>
            <p:cNvCxnSpPr/>
            <p:nvPr/>
          </p:nvCxnSpPr>
          <p:spPr>
            <a:xfrm flipH="1">
              <a:off x="4499992" y="2067958"/>
              <a:ext cx="4644008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타원 19"/>
            <p:cNvSpPr/>
            <p:nvPr/>
          </p:nvSpPr>
          <p:spPr>
            <a:xfrm>
              <a:off x="4469640" y="2037987"/>
              <a:ext cx="59943" cy="59943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1028" name="Picture 4" descr="C:\Users\kang\Desktop\캠코_W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3925" y="2266460"/>
            <a:ext cx="998355" cy="3057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그림 17" descr="캠코 남회색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6050660" y="476672"/>
            <a:ext cx="2700000" cy="16564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050660" y="2626772"/>
            <a:ext cx="2700000" cy="21929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00050" indent="-400050">
              <a:lnSpc>
                <a:spcPct val="150000"/>
              </a:lnSpc>
              <a:buFont typeface="+mj-lt"/>
              <a:buAutoNum type="romanUcPeriod"/>
            </a:pPr>
            <a:r>
              <a:rPr lang="ko-KR" altLang="en-US" sz="1300" b="1" dirty="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조세행정처분</a:t>
            </a:r>
            <a:endParaRPr lang="ko-KR" altLang="en-US" sz="1300" b="1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1"/>
              </a:solidFill>
              <a:latin typeface="08서울남산체 B" panose="02020603020101020101" pitchFamily="18" charset="-127"/>
              <a:ea typeface="08서울남산체 B" panose="02020603020101020101" pitchFamily="18" charset="-127"/>
            </a:endParaRPr>
          </a:p>
          <a:p>
            <a:pPr marL="400050" indent="-400050">
              <a:lnSpc>
                <a:spcPct val="150000"/>
              </a:lnSpc>
              <a:buFont typeface="+mj-lt"/>
              <a:buAutoNum type="romanUcPeriod"/>
            </a:pPr>
            <a:r>
              <a:rPr lang="ko-KR" altLang="en-US" sz="1300" b="1" dirty="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송달</a:t>
            </a:r>
            <a:endParaRPr lang="en-US" altLang="ko-KR" sz="1300" b="1" dirty="0" smtClean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1"/>
              </a:solidFill>
              <a:latin typeface="08서울남산체 B" panose="02020603020101020101" pitchFamily="18" charset="-127"/>
              <a:ea typeface="08서울남산체 B" panose="02020603020101020101" pitchFamily="18" charset="-127"/>
            </a:endParaRPr>
          </a:p>
          <a:p>
            <a:pPr marL="400050" indent="-400050">
              <a:lnSpc>
                <a:spcPct val="150000"/>
              </a:lnSpc>
              <a:buFont typeface="+mj-lt"/>
              <a:buAutoNum type="romanUcPeriod"/>
            </a:pPr>
            <a:r>
              <a:rPr lang="ko-KR" altLang="en-US" sz="1300" b="1" dirty="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공매 의뢰 전 말소검토대상</a:t>
            </a:r>
            <a:endParaRPr lang="en-US" altLang="ko-KR" sz="1300" b="1" dirty="0" smtClean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1"/>
              </a:solidFill>
              <a:latin typeface="08서울남산체 B" panose="02020603020101020101" pitchFamily="18" charset="-127"/>
              <a:ea typeface="08서울남산체 B" panose="02020603020101020101" pitchFamily="18" charset="-127"/>
            </a:endParaRPr>
          </a:p>
          <a:p>
            <a:pPr marL="400050" indent="-400050">
              <a:lnSpc>
                <a:spcPct val="150000"/>
              </a:lnSpc>
              <a:buFont typeface="+mj-lt"/>
              <a:buAutoNum type="romanUcPeriod"/>
            </a:pPr>
            <a:r>
              <a:rPr lang="ko-KR" altLang="en-US" sz="1300" b="1" dirty="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공매흐름도</a:t>
            </a:r>
            <a:endParaRPr lang="en-US" altLang="ko-KR" sz="1300" b="1" dirty="0" smtClean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1"/>
              </a:solidFill>
              <a:latin typeface="08서울남산체 B" panose="02020603020101020101" pitchFamily="18" charset="-127"/>
              <a:ea typeface="08서울남산체 B" panose="02020603020101020101" pitchFamily="18" charset="-127"/>
            </a:endParaRPr>
          </a:p>
          <a:p>
            <a:pPr marL="400050" indent="-400050">
              <a:lnSpc>
                <a:spcPct val="150000"/>
              </a:lnSpc>
              <a:buFont typeface="+mj-lt"/>
              <a:buAutoNum type="romanUcPeriod"/>
            </a:pPr>
            <a:r>
              <a:rPr lang="ko-KR" altLang="en-US" sz="1300" b="1" dirty="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공매주요내용</a:t>
            </a:r>
            <a:endParaRPr lang="en-US" altLang="ko-KR" sz="1300" b="1" dirty="0" smtClean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1"/>
              </a:solidFill>
              <a:latin typeface="08서울남산체 B" panose="02020603020101020101" pitchFamily="18" charset="-127"/>
              <a:ea typeface="08서울남산체 B" panose="02020603020101020101" pitchFamily="18" charset="-127"/>
            </a:endParaRPr>
          </a:p>
          <a:p>
            <a:pPr marL="400050" indent="-400050">
              <a:lnSpc>
                <a:spcPct val="150000"/>
              </a:lnSpc>
              <a:buFont typeface="+mj-lt"/>
              <a:buAutoNum type="romanUcPeriod"/>
            </a:pPr>
            <a:r>
              <a:rPr lang="ko-KR" altLang="en-US" sz="1300" b="1" dirty="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배분</a:t>
            </a:r>
            <a:endParaRPr lang="en-US" altLang="ko-KR" sz="1300" b="1" dirty="0" smtClean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1"/>
              </a:solidFill>
              <a:latin typeface="08서울남산체 B" panose="02020603020101020101" pitchFamily="18" charset="-127"/>
              <a:ea typeface="08서울남산체 B" panose="02020603020101020101" pitchFamily="18" charset="-127"/>
            </a:endParaRPr>
          </a:p>
          <a:p>
            <a:pPr marL="400050" indent="-400050">
              <a:lnSpc>
                <a:spcPct val="150000"/>
              </a:lnSpc>
              <a:buFont typeface="+mj-lt"/>
              <a:buAutoNum type="romanUcPeriod"/>
            </a:pPr>
            <a:r>
              <a:rPr lang="ko-KR" altLang="en-US" sz="1300" b="1" dirty="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체납처분</a:t>
            </a:r>
            <a:r>
              <a:rPr lang="ko-KR" altLang="en-US" sz="13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비</a:t>
            </a:r>
            <a:endParaRPr lang="en-US" altLang="ko-KR" sz="1300" b="1" dirty="0" smtClean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1"/>
              </a:solidFill>
              <a:latin typeface="08서울남산체 B" panose="02020603020101020101" pitchFamily="18" charset="-127"/>
              <a:ea typeface="08서울남산체 B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332707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모서리가 둥근 직사각형 103"/>
          <p:cNvSpPr/>
          <p:nvPr/>
        </p:nvSpPr>
        <p:spPr>
          <a:xfrm>
            <a:off x="530587" y="4653136"/>
            <a:ext cx="8064896" cy="1224136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08서울남산체 B" panose="02020603020101020101" pitchFamily="18" charset="-127"/>
              <a:ea typeface="08서울남산체 B" panose="02020603020101020101" pitchFamily="18" charset="-127"/>
            </a:endParaRPr>
          </a:p>
        </p:txBody>
      </p:sp>
      <p:sp>
        <p:nvSpPr>
          <p:cNvPr id="101" name="모서리가 둥근 직사각형 100"/>
          <p:cNvSpPr/>
          <p:nvPr/>
        </p:nvSpPr>
        <p:spPr>
          <a:xfrm>
            <a:off x="530587" y="2852936"/>
            <a:ext cx="8064896" cy="1512168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08서울남산체 B" panose="02020603020101020101" pitchFamily="18" charset="-127"/>
              <a:ea typeface="08서울남산체 B" panose="02020603020101020101" pitchFamily="18" charset="-127"/>
            </a:endParaRPr>
          </a:p>
        </p:txBody>
      </p:sp>
      <p:sp>
        <p:nvSpPr>
          <p:cNvPr id="5" name="모서리가 둥근 직사각형 4"/>
          <p:cNvSpPr/>
          <p:nvPr/>
        </p:nvSpPr>
        <p:spPr>
          <a:xfrm>
            <a:off x="530587" y="1340768"/>
            <a:ext cx="8064896" cy="1224136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08서울남산체 B" panose="02020603020101020101" pitchFamily="18" charset="-127"/>
              <a:ea typeface="08서울남산체 B" panose="02020603020101020101" pitchFamily="18" charset="-127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516164" y="537582"/>
            <a:ext cx="2217274" cy="477054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altLang="ko-KR" sz="2500" b="1" spc="-150" dirty="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063A7A"/>
                </a:solidFill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Ⅰ. </a:t>
            </a:r>
            <a:r>
              <a:rPr lang="ko-KR" altLang="en-US" sz="2500" b="1" spc="-150" dirty="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063A7A"/>
                </a:solidFill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조세행정처분</a:t>
            </a:r>
            <a:endParaRPr lang="ko-KR" altLang="en-US" sz="2500" b="1" spc="-15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rgbClr val="063A7A"/>
              </a:solidFill>
              <a:latin typeface="08서울남산체 B" panose="02020603020101020101" pitchFamily="18" charset="-127"/>
              <a:ea typeface="08서울남산체 B" panose="02020603020101020101" pitchFamily="18" charset="-127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27583" y="1540470"/>
            <a:ext cx="505848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400"/>
              </a:lnSpc>
            </a:pPr>
            <a:r>
              <a:rPr lang="ko-KR" altLang="en-US" sz="2000" dirty="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0D0D0D"/>
                </a:solidFill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과세처분</a:t>
            </a:r>
            <a:endParaRPr lang="en-US" altLang="ko-KR" sz="2000" dirty="0" smtClean="0">
              <a:ln>
                <a:solidFill>
                  <a:schemeClr val="bg1">
                    <a:alpha val="0"/>
                  </a:schemeClr>
                </a:solidFill>
              </a:ln>
              <a:solidFill>
                <a:srgbClr val="0D0D0D"/>
              </a:solidFill>
              <a:latin typeface="08서울남산체 B" panose="02020603020101020101" pitchFamily="18" charset="-127"/>
              <a:ea typeface="08서울남산체 B" panose="02020603020101020101" pitchFamily="18" charset="-127"/>
            </a:endParaRPr>
          </a:p>
        </p:txBody>
      </p:sp>
      <p:cxnSp>
        <p:nvCxnSpPr>
          <p:cNvPr id="21" name="직선 연결선 20"/>
          <p:cNvCxnSpPr/>
          <p:nvPr/>
        </p:nvCxnSpPr>
        <p:spPr>
          <a:xfrm>
            <a:off x="539552" y="1079631"/>
            <a:ext cx="8064000" cy="0"/>
          </a:xfrm>
          <a:prstGeom prst="line">
            <a:avLst/>
          </a:prstGeom>
          <a:ln w="38100">
            <a:solidFill>
              <a:srgbClr val="6982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연결선 21"/>
          <p:cNvCxnSpPr/>
          <p:nvPr/>
        </p:nvCxnSpPr>
        <p:spPr>
          <a:xfrm>
            <a:off x="530587" y="6192487"/>
            <a:ext cx="8064896" cy="0"/>
          </a:xfrm>
          <a:prstGeom prst="line">
            <a:avLst/>
          </a:prstGeom>
          <a:ln w="12700">
            <a:solidFill>
              <a:srgbClr val="AEADB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4" name="그림 23" descr="캠코 배경없음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5886073" y="6303415"/>
            <a:ext cx="2718000" cy="195034"/>
          </a:xfrm>
          <a:prstGeom prst="rect">
            <a:avLst/>
          </a:prstGeom>
        </p:spPr>
      </p:pic>
      <p:pic>
        <p:nvPicPr>
          <p:cNvPr id="26" name="그림 25" descr="kamco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7913248" y="755739"/>
            <a:ext cx="691200" cy="196766"/>
          </a:xfrm>
          <a:prstGeom prst="rect">
            <a:avLst/>
          </a:prstGeom>
        </p:spPr>
      </p:pic>
      <p:sp>
        <p:nvSpPr>
          <p:cNvPr id="89" name="직사각형 88"/>
          <p:cNvSpPr/>
          <p:nvPr/>
        </p:nvSpPr>
        <p:spPr>
          <a:xfrm>
            <a:off x="549690" y="1602026"/>
            <a:ext cx="42191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200" b="1" spc="-200" dirty="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698299"/>
                </a:solidFill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▶ </a:t>
            </a:r>
            <a:endParaRPr lang="ko-KR" altLang="en-US" sz="1200" dirty="0">
              <a:latin typeface="08서울남산체 B" panose="02020603020101020101" pitchFamily="18" charset="-127"/>
              <a:ea typeface="08서울남산체 B" panose="02020603020101020101" pitchFamily="18" charset="-127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50899" y="2025715"/>
            <a:ext cx="8053173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500" dirty="0" smtClean="0"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  조세법이 규정한 과세요건의 충족으로 성립한 조세채권을 확정하는 행정처분</a:t>
            </a:r>
            <a:endParaRPr lang="ko-KR" altLang="en-US" sz="1500" dirty="0">
              <a:latin typeface="08서울남산체 B" panose="02020603020101020101" pitchFamily="18" charset="-127"/>
              <a:ea typeface="08서울남산체 B" panose="02020603020101020101" pitchFamily="18" charset="-127"/>
            </a:endParaRPr>
          </a:p>
        </p:txBody>
      </p:sp>
      <p:sp>
        <p:nvSpPr>
          <p:cNvPr id="94" name="TextBox 93"/>
          <p:cNvSpPr txBox="1"/>
          <p:nvPr/>
        </p:nvSpPr>
        <p:spPr>
          <a:xfrm>
            <a:off x="827583" y="3042811"/>
            <a:ext cx="505848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400"/>
              </a:lnSpc>
            </a:pPr>
            <a:r>
              <a:rPr lang="ko-KR" altLang="en-US" sz="2000" dirty="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0D0D0D"/>
                </a:solidFill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징수처분</a:t>
            </a:r>
            <a:endParaRPr lang="en-US" altLang="ko-KR" sz="2000" dirty="0" smtClean="0">
              <a:ln>
                <a:solidFill>
                  <a:schemeClr val="bg1">
                    <a:alpha val="0"/>
                  </a:schemeClr>
                </a:solidFill>
              </a:ln>
              <a:solidFill>
                <a:srgbClr val="0D0D0D"/>
              </a:solidFill>
              <a:latin typeface="08서울남산체 B" panose="02020603020101020101" pitchFamily="18" charset="-127"/>
              <a:ea typeface="08서울남산체 B" panose="02020603020101020101" pitchFamily="18" charset="-127"/>
            </a:endParaRPr>
          </a:p>
        </p:txBody>
      </p:sp>
      <p:sp>
        <p:nvSpPr>
          <p:cNvPr id="95" name="직사각형 94"/>
          <p:cNvSpPr/>
          <p:nvPr/>
        </p:nvSpPr>
        <p:spPr>
          <a:xfrm>
            <a:off x="549690" y="3104367"/>
            <a:ext cx="42191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200" b="1" spc="-200" dirty="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698299"/>
                </a:solidFill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▶ </a:t>
            </a:r>
            <a:endParaRPr lang="ko-KR" altLang="en-US" sz="1200" dirty="0">
              <a:latin typeface="08서울남산체 B" panose="02020603020101020101" pitchFamily="18" charset="-127"/>
              <a:ea typeface="08서울남산체 B" panose="02020603020101020101" pitchFamily="18" charset="-127"/>
            </a:endParaRPr>
          </a:p>
        </p:txBody>
      </p:sp>
      <p:sp>
        <p:nvSpPr>
          <p:cNvPr id="96" name="TextBox 95"/>
          <p:cNvSpPr txBox="1"/>
          <p:nvPr/>
        </p:nvSpPr>
        <p:spPr>
          <a:xfrm>
            <a:off x="550899" y="3436258"/>
            <a:ext cx="8053173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500" dirty="0" smtClean="0"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  확정된 조세채권에 대하여 기한 내 완납하지 않는 경우</a:t>
            </a:r>
            <a:endParaRPr lang="en-US" altLang="ko-KR" sz="1500" dirty="0" smtClean="0">
              <a:latin typeface="08서울남산체 B" panose="02020603020101020101" pitchFamily="18" charset="-127"/>
              <a:ea typeface="08서울남산체 B" panose="02020603020101020101" pitchFamily="18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500" dirty="0"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 </a:t>
            </a:r>
            <a:r>
              <a:rPr lang="en-US" altLang="ko-KR" sz="1500" dirty="0" smtClean="0"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 </a:t>
            </a:r>
            <a:r>
              <a:rPr lang="ko-KR" altLang="en-US" sz="1500" dirty="0" smtClean="0"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조세의 납부 및 이를 촉구하는 과정으로</a:t>
            </a:r>
            <a:r>
              <a:rPr lang="en-US" altLang="ko-KR" sz="1500" dirty="0" smtClean="0"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,</a:t>
            </a:r>
            <a:r>
              <a:rPr lang="ko-KR" altLang="en-US" sz="1500" dirty="0" smtClean="0"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 납부최고서 및 독촉장 등을 통한 행정처분</a:t>
            </a:r>
            <a:endParaRPr lang="ko-KR" altLang="en-US" sz="1500" dirty="0">
              <a:latin typeface="08서울남산체 B" panose="02020603020101020101" pitchFamily="18" charset="-127"/>
              <a:ea typeface="08서울남산체 B" panose="02020603020101020101" pitchFamily="18" charset="-127"/>
            </a:endParaRPr>
          </a:p>
        </p:txBody>
      </p:sp>
      <p:sp>
        <p:nvSpPr>
          <p:cNvPr id="97" name="TextBox 96"/>
          <p:cNvSpPr txBox="1"/>
          <p:nvPr/>
        </p:nvSpPr>
        <p:spPr>
          <a:xfrm>
            <a:off x="827584" y="4871757"/>
            <a:ext cx="50584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400"/>
              </a:lnSpc>
            </a:pPr>
            <a:r>
              <a:rPr lang="ko-KR" altLang="en-US" sz="2000" dirty="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0D0D0D"/>
                </a:solidFill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체납처분</a:t>
            </a:r>
            <a:endParaRPr lang="en-US" altLang="ko-KR" sz="2000" dirty="0" smtClean="0">
              <a:ln>
                <a:solidFill>
                  <a:schemeClr val="bg1">
                    <a:alpha val="0"/>
                  </a:schemeClr>
                </a:solidFill>
              </a:ln>
              <a:solidFill>
                <a:srgbClr val="0D0D0D"/>
              </a:solidFill>
              <a:latin typeface="08서울남산체 B" panose="02020603020101020101" pitchFamily="18" charset="-127"/>
              <a:ea typeface="08서울남산체 B" panose="02020603020101020101" pitchFamily="18" charset="-127"/>
            </a:endParaRPr>
          </a:p>
        </p:txBody>
      </p:sp>
      <p:sp>
        <p:nvSpPr>
          <p:cNvPr id="98" name="직사각형 97"/>
          <p:cNvSpPr/>
          <p:nvPr/>
        </p:nvSpPr>
        <p:spPr>
          <a:xfrm>
            <a:off x="549690" y="4933313"/>
            <a:ext cx="42191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200" b="1" spc="-200" dirty="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698299"/>
                </a:solidFill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▶ </a:t>
            </a:r>
            <a:endParaRPr lang="ko-KR" altLang="en-US" sz="1200" dirty="0">
              <a:latin typeface="08서울남산체 B" panose="02020603020101020101" pitchFamily="18" charset="-127"/>
              <a:ea typeface="08서울남산체 B" panose="02020603020101020101" pitchFamily="18" charset="-127"/>
            </a:endParaRPr>
          </a:p>
        </p:txBody>
      </p:sp>
      <p:sp>
        <p:nvSpPr>
          <p:cNvPr id="100" name="TextBox 99"/>
          <p:cNvSpPr txBox="1"/>
          <p:nvPr/>
        </p:nvSpPr>
        <p:spPr>
          <a:xfrm>
            <a:off x="550899" y="5265204"/>
            <a:ext cx="80531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500" dirty="0"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 </a:t>
            </a:r>
            <a:r>
              <a:rPr lang="en-US" altLang="ko-KR" sz="1500" dirty="0" smtClean="0"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 </a:t>
            </a:r>
            <a:r>
              <a:rPr lang="ko-KR" altLang="en-US" sz="1500" dirty="0" smtClean="0"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조세채권의 강제적 실현절차로서</a:t>
            </a:r>
            <a:r>
              <a:rPr lang="en-US" altLang="ko-KR" sz="1500" dirty="0" smtClean="0"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 </a:t>
            </a:r>
            <a:r>
              <a:rPr lang="ko-KR" altLang="en-US" sz="1500" dirty="0" smtClean="0"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압류 </a:t>
            </a:r>
            <a:r>
              <a:rPr lang="en-US" altLang="ko-KR" sz="1600" dirty="0" smtClean="0"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·</a:t>
            </a:r>
            <a:r>
              <a:rPr lang="ko-KR" altLang="en-US" sz="1600" dirty="0" smtClean="0"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 </a:t>
            </a:r>
            <a:r>
              <a:rPr lang="ko-KR" altLang="en-US" sz="1500" dirty="0" smtClean="0"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매각 </a:t>
            </a:r>
            <a:r>
              <a:rPr lang="en-US" altLang="ko-KR" sz="1600" dirty="0"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·</a:t>
            </a:r>
            <a:r>
              <a:rPr lang="ko-KR" altLang="en-US" sz="1600" dirty="0" smtClean="0"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 청산 등의 각 행정처분의 </a:t>
            </a:r>
            <a:r>
              <a:rPr lang="ko-KR" altLang="en-US" sz="1600" dirty="0" err="1" smtClean="0"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총합체</a:t>
            </a:r>
            <a:endParaRPr lang="ko-KR" altLang="en-US" sz="1600" dirty="0">
              <a:latin typeface="08서울남산체 B" panose="02020603020101020101" pitchFamily="18" charset="-127"/>
              <a:ea typeface="08서울남산체 B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461951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직사각형 29"/>
          <p:cNvSpPr/>
          <p:nvPr/>
        </p:nvSpPr>
        <p:spPr>
          <a:xfrm>
            <a:off x="549689" y="3515033"/>
            <a:ext cx="8054384" cy="33861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직사각형 17"/>
          <p:cNvSpPr/>
          <p:nvPr/>
        </p:nvSpPr>
        <p:spPr>
          <a:xfrm>
            <a:off x="549689" y="1364251"/>
            <a:ext cx="8054384" cy="33861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extBox 1"/>
          <p:cNvSpPr txBox="1"/>
          <p:nvPr/>
        </p:nvSpPr>
        <p:spPr>
          <a:xfrm>
            <a:off x="516164" y="537582"/>
            <a:ext cx="5189241" cy="477054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altLang="ko-KR" sz="2500" b="1" spc="-150" dirty="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063A7A"/>
                </a:solidFill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Ⅰ. </a:t>
            </a:r>
            <a:r>
              <a:rPr lang="ko-KR" altLang="en-US" sz="2500" b="1" spc="-150" dirty="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063A7A"/>
                </a:solidFill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조세행정처분</a:t>
            </a:r>
            <a:r>
              <a:rPr lang="en-US" altLang="ko-KR" sz="2500" b="1" spc="-150" dirty="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063A7A"/>
                </a:solidFill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(</a:t>
            </a:r>
            <a:r>
              <a:rPr lang="ko-KR" altLang="en-US" sz="2500" b="1" spc="-150" dirty="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063A7A"/>
                </a:solidFill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선행절차의 위법성 승계</a:t>
            </a:r>
            <a:r>
              <a:rPr lang="en-US" altLang="ko-KR" sz="2500" b="1" spc="-150" dirty="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063A7A"/>
                </a:solidFill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)</a:t>
            </a:r>
            <a:endParaRPr lang="ko-KR" altLang="en-US" sz="2500" b="1" spc="-15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rgbClr val="063A7A"/>
              </a:solidFill>
              <a:latin typeface="08서울남산체 B" panose="02020603020101020101" pitchFamily="18" charset="-127"/>
              <a:ea typeface="08서울남산체 B" panose="02020603020101020101" pitchFamily="18" charset="-127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60645" y="1340768"/>
            <a:ext cx="784169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400"/>
              </a:lnSpc>
            </a:pPr>
            <a:r>
              <a:rPr lang="ko-KR" altLang="en-US" dirty="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0D0D0D"/>
                </a:solidFill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판례</a:t>
            </a:r>
            <a:r>
              <a:rPr lang="en-US" altLang="ko-KR" dirty="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0D0D0D"/>
                </a:solidFill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1) </a:t>
            </a:r>
            <a:r>
              <a:rPr lang="ko-KR" altLang="en-US" dirty="0"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대법원 </a:t>
            </a:r>
            <a:r>
              <a:rPr lang="en-US" altLang="ko-KR" dirty="0"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1987.9.22 </a:t>
            </a:r>
            <a:r>
              <a:rPr lang="ko-KR" altLang="en-US" dirty="0"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선고 </a:t>
            </a:r>
            <a:r>
              <a:rPr lang="en-US" altLang="ko-KR" dirty="0"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87</a:t>
            </a:r>
            <a:r>
              <a:rPr lang="ko-KR" altLang="en-US" dirty="0"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누 </a:t>
            </a:r>
            <a:r>
              <a:rPr lang="en-US" altLang="ko-KR" dirty="0"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383 </a:t>
            </a:r>
            <a:r>
              <a:rPr lang="ko-KR" altLang="en-US" dirty="0"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부동산압류처분무효확인 판결 </a:t>
            </a:r>
            <a:r>
              <a:rPr lang="ko-KR" altLang="en-US" dirty="0" smtClean="0"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中</a:t>
            </a:r>
            <a:endParaRPr lang="ko-KR" altLang="en-US" dirty="0">
              <a:latin typeface="08서울남산체 B" panose="02020603020101020101" pitchFamily="18" charset="-127"/>
              <a:ea typeface="08서울남산체 B" panose="02020603020101020101" pitchFamily="18" charset="-127"/>
            </a:endParaRPr>
          </a:p>
        </p:txBody>
      </p:sp>
      <p:cxnSp>
        <p:nvCxnSpPr>
          <p:cNvPr id="21" name="직선 연결선 20"/>
          <p:cNvCxnSpPr/>
          <p:nvPr/>
        </p:nvCxnSpPr>
        <p:spPr>
          <a:xfrm>
            <a:off x="539552" y="1079631"/>
            <a:ext cx="8064000" cy="0"/>
          </a:xfrm>
          <a:prstGeom prst="line">
            <a:avLst/>
          </a:prstGeom>
          <a:ln w="38100">
            <a:solidFill>
              <a:srgbClr val="6982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연결선 21"/>
          <p:cNvCxnSpPr/>
          <p:nvPr/>
        </p:nvCxnSpPr>
        <p:spPr>
          <a:xfrm>
            <a:off x="530587" y="6192487"/>
            <a:ext cx="8064896" cy="0"/>
          </a:xfrm>
          <a:prstGeom prst="line">
            <a:avLst/>
          </a:prstGeom>
          <a:ln w="12700">
            <a:solidFill>
              <a:srgbClr val="AEADB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4" name="그림 23" descr="캠코 배경없음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5886073" y="6303415"/>
            <a:ext cx="2718000" cy="195034"/>
          </a:xfrm>
          <a:prstGeom prst="rect">
            <a:avLst/>
          </a:prstGeom>
        </p:spPr>
      </p:pic>
      <p:pic>
        <p:nvPicPr>
          <p:cNvPr id="26" name="그림 25" descr="kamco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7913248" y="755739"/>
            <a:ext cx="691200" cy="196766"/>
          </a:xfrm>
          <a:prstGeom prst="rect">
            <a:avLst/>
          </a:prstGeom>
        </p:spPr>
      </p:pic>
      <p:sp>
        <p:nvSpPr>
          <p:cNvPr id="89" name="직사각형 88"/>
          <p:cNvSpPr/>
          <p:nvPr/>
        </p:nvSpPr>
        <p:spPr>
          <a:xfrm>
            <a:off x="548480" y="1388058"/>
            <a:ext cx="42191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200" b="1" spc="-200" dirty="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698299"/>
                </a:solidFill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▶ </a:t>
            </a:r>
            <a:endParaRPr lang="ko-KR" altLang="en-US" sz="1200" dirty="0">
              <a:latin typeface="08서울남산체 B" panose="02020603020101020101" pitchFamily="18" charset="-127"/>
              <a:ea typeface="08서울남산체 B" panose="02020603020101020101" pitchFamily="18" charset="-127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9689" y="1798679"/>
            <a:ext cx="805317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dirty="0"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 </a:t>
            </a:r>
            <a:r>
              <a:rPr lang="en-US" altLang="ko-KR" sz="1600" dirty="0" smtClean="0"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  </a:t>
            </a:r>
            <a:r>
              <a:rPr lang="ko-KR" altLang="en-US" sz="1600" dirty="0" smtClean="0"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체납처분은 </a:t>
            </a:r>
            <a:r>
              <a:rPr lang="ko-KR" altLang="en-US" sz="1600" dirty="0"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부과 처분의 집행을 위한 절차에 </a:t>
            </a:r>
            <a:r>
              <a:rPr lang="ko-KR" altLang="en-US" sz="1600" dirty="0" smtClean="0"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불과하므로</a:t>
            </a:r>
            <a:endParaRPr lang="en-US" altLang="ko-KR" sz="1600" dirty="0" smtClean="0">
              <a:latin typeface="08서울남산체 B" panose="02020603020101020101" pitchFamily="18" charset="-127"/>
              <a:ea typeface="08서울남산체 B" panose="02020603020101020101" pitchFamily="18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600" dirty="0"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 </a:t>
            </a:r>
            <a:r>
              <a:rPr lang="en-US" altLang="ko-KR" sz="1600" dirty="0" smtClean="0"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  </a:t>
            </a:r>
            <a:r>
              <a:rPr lang="ko-KR" altLang="en-US" sz="1600" dirty="0" smtClean="0"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그 </a:t>
            </a:r>
            <a:r>
              <a:rPr lang="ko-KR" altLang="en-US" sz="1600" dirty="0"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부과처분에 중대하고도 </a:t>
            </a:r>
            <a:r>
              <a:rPr lang="ko-KR" altLang="en-US" sz="1600" dirty="0" smtClean="0"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명백한 </a:t>
            </a:r>
            <a:r>
              <a:rPr lang="ko-KR" altLang="en-US" sz="1600" dirty="0"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하자가 있어 무효인 </a:t>
            </a:r>
            <a:r>
              <a:rPr lang="ko-KR" altLang="en-US" sz="1600" dirty="0" smtClean="0"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경우에는</a:t>
            </a:r>
            <a:r>
              <a:rPr lang="en-US" altLang="ko-KR" sz="1600" dirty="0" smtClean="0"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,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760645" y="3484285"/>
            <a:ext cx="769978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400"/>
              </a:lnSpc>
            </a:pPr>
            <a:r>
              <a:rPr lang="ko-KR" altLang="en-US" dirty="0"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판례</a:t>
            </a:r>
            <a:r>
              <a:rPr lang="en-US" altLang="ko-KR" dirty="0"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2) </a:t>
            </a:r>
            <a:r>
              <a:rPr lang="ko-KR" altLang="en-US" dirty="0"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대법원 </a:t>
            </a:r>
            <a:r>
              <a:rPr lang="en-US" altLang="ko-KR" dirty="0"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2001. 6.1 </a:t>
            </a:r>
            <a:r>
              <a:rPr lang="ko-KR" altLang="en-US" dirty="0"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선고 </a:t>
            </a:r>
            <a:r>
              <a:rPr lang="en-US" altLang="ko-KR" dirty="0"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99</a:t>
            </a:r>
            <a:r>
              <a:rPr lang="ko-KR" altLang="en-US" dirty="0"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다 </a:t>
            </a:r>
            <a:r>
              <a:rPr lang="en-US" altLang="ko-KR" dirty="0"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1260 </a:t>
            </a:r>
            <a:r>
              <a:rPr lang="ko-KR" altLang="en-US" dirty="0" smtClean="0"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소유권이전등기말소등기 등</a:t>
            </a:r>
            <a:endParaRPr lang="ko-KR" altLang="en-US" dirty="0">
              <a:latin typeface="08서울남산체 B" panose="02020603020101020101" pitchFamily="18" charset="-127"/>
              <a:ea typeface="08서울남산체 B" panose="02020603020101020101" pitchFamily="18" charset="-127"/>
            </a:endParaRPr>
          </a:p>
        </p:txBody>
      </p:sp>
      <p:sp>
        <p:nvSpPr>
          <p:cNvPr id="95" name="직사각형 94"/>
          <p:cNvSpPr/>
          <p:nvPr/>
        </p:nvSpPr>
        <p:spPr>
          <a:xfrm>
            <a:off x="548480" y="3532536"/>
            <a:ext cx="42191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200" b="1" spc="-200" dirty="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698299"/>
                </a:solidFill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▶ </a:t>
            </a:r>
            <a:endParaRPr lang="ko-KR" altLang="en-US" sz="1200" dirty="0">
              <a:latin typeface="08서울남산체 B" panose="02020603020101020101" pitchFamily="18" charset="-127"/>
              <a:ea typeface="08서울남산체 B" panose="02020603020101020101" pitchFamily="18" charset="-127"/>
            </a:endParaRPr>
          </a:p>
        </p:txBody>
      </p:sp>
      <p:sp>
        <p:nvSpPr>
          <p:cNvPr id="96" name="TextBox 95"/>
          <p:cNvSpPr txBox="1"/>
          <p:nvPr/>
        </p:nvSpPr>
        <p:spPr>
          <a:xfrm>
            <a:off x="549689" y="3953551"/>
            <a:ext cx="805317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>
              <a:lnSpc>
                <a:spcPct val="150000"/>
              </a:lnSpc>
            </a:pPr>
            <a:r>
              <a:rPr lang="ko-KR" altLang="en-US" sz="1600" dirty="0"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 </a:t>
            </a:r>
            <a:r>
              <a:rPr lang="ko-KR" altLang="en-US" sz="1600" dirty="0" smtClean="0"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  압류의 </a:t>
            </a:r>
            <a:r>
              <a:rPr lang="ko-KR" altLang="en-US" sz="1600" dirty="0"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원인이 된 부가가치세가 </a:t>
            </a:r>
            <a:r>
              <a:rPr lang="ko-KR" altLang="en-US" sz="1600" dirty="0" smtClean="0"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완납되었음에도</a:t>
            </a:r>
            <a:endParaRPr lang="en-US" altLang="ko-KR" sz="1600" dirty="0" smtClean="0">
              <a:latin typeface="08서울남산체 B" panose="02020603020101020101" pitchFamily="18" charset="-127"/>
              <a:ea typeface="08서울남산체 B" panose="02020603020101020101" pitchFamily="18" charset="-127"/>
            </a:endParaRPr>
          </a:p>
          <a:p>
            <a:pPr fontAlgn="base">
              <a:lnSpc>
                <a:spcPct val="150000"/>
              </a:lnSpc>
            </a:pPr>
            <a:r>
              <a:rPr lang="en-US" altLang="ko-KR" sz="1600" dirty="0" smtClean="0"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   </a:t>
            </a:r>
            <a:r>
              <a:rPr lang="ko-KR" altLang="en-US" sz="1600" dirty="0" smtClean="0"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징수처분에 따른</a:t>
            </a:r>
            <a:r>
              <a:rPr lang="en-US" altLang="ko-KR" sz="1600" dirty="0"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 </a:t>
            </a:r>
            <a:r>
              <a:rPr lang="ko-KR" altLang="en-US" sz="1600" dirty="0" smtClean="0"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양도소득세 등이</a:t>
            </a:r>
            <a:r>
              <a:rPr lang="en-US" altLang="ko-KR" sz="1600" dirty="0"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 </a:t>
            </a:r>
            <a:r>
              <a:rPr lang="ko-KR" altLang="en-US" sz="1600" dirty="0" smtClean="0"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체납되었음을 </a:t>
            </a:r>
            <a:r>
              <a:rPr lang="ko-KR" altLang="en-US" sz="1600" dirty="0"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이유로 </a:t>
            </a:r>
            <a:r>
              <a:rPr lang="ko-KR" altLang="en-US" sz="1600" dirty="0" smtClean="0"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하여</a:t>
            </a:r>
            <a:r>
              <a:rPr lang="en-US" altLang="ko-KR" sz="1600" dirty="0"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 </a:t>
            </a:r>
            <a:r>
              <a:rPr lang="ko-KR" altLang="en-US" sz="1600" dirty="0" smtClean="0"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압류가 </a:t>
            </a:r>
            <a:r>
              <a:rPr lang="ko-KR" altLang="en-US" sz="1600" dirty="0"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해제되지 아니한 </a:t>
            </a:r>
            <a:r>
              <a:rPr lang="ko-KR" altLang="en-US" sz="1600" dirty="0" smtClean="0"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채</a:t>
            </a:r>
            <a:endParaRPr lang="en-US" altLang="ko-KR" sz="1600" dirty="0" smtClean="0">
              <a:latin typeface="08서울남산체 B" panose="02020603020101020101" pitchFamily="18" charset="-127"/>
              <a:ea typeface="08서울남산체 B" panose="02020603020101020101" pitchFamily="18" charset="-127"/>
            </a:endParaRPr>
          </a:p>
          <a:p>
            <a:pPr fontAlgn="base">
              <a:lnSpc>
                <a:spcPct val="150000"/>
              </a:lnSpc>
            </a:pPr>
            <a:r>
              <a:rPr lang="en-US" altLang="ko-KR" sz="1600" dirty="0"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 </a:t>
            </a:r>
            <a:r>
              <a:rPr lang="en-US" altLang="ko-KR" sz="1600" dirty="0" smtClean="0"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  </a:t>
            </a:r>
            <a:r>
              <a:rPr lang="ko-KR" altLang="en-US" sz="1600" dirty="0" smtClean="0"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공매절차가</a:t>
            </a:r>
            <a:r>
              <a:rPr lang="en-US" altLang="ko-KR" sz="1600" dirty="0" smtClean="0"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 </a:t>
            </a:r>
            <a:r>
              <a:rPr lang="ko-KR" altLang="en-US" sz="1600" dirty="0" smtClean="0"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진행된 경우</a:t>
            </a:r>
            <a:r>
              <a:rPr lang="en-US" altLang="ko-KR" sz="1600" dirty="0"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 </a:t>
            </a:r>
            <a:r>
              <a:rPr lang="ko-KR" altLang="en-US" sz="1600" dirty="0" smtClean="0"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위 양도소득세 등 징수처분이 무효라면</a:t>
            </a:r>
            <a:r>
              <a:rPr lang="en-US" altLang="ko-KR" sz="1600" dirty="0" smtClean="0"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,</a:t>
            </a:r>
            <a:endParaRPr lang="en-US" altLang="ko-KR" sz="1600" dirty="0">
              <a:latin typeface="08서울남산체 B" panose="02020603020101020101" pitchFamily="18" charset="-127"/>
              <a:ea typeface="08서울남산체 B" panose="02020603020101020101" pitchFamily="18" charset="-127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4427984" y="2708920"/>
            <a:ext cx="41674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b="1" dirty="0" smtClean="0"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부과처분의 집행을 위한 체납처분도 무효에 해당</a:t>
            </a:r>
            <a:endParaRPr lang="en-US" altLang="ko-KR" sz="1600" b="1" dirty="0" smtClean="0">
              <a:latin typeface="08서울남산체 B" panose="02020603020101020101" pitchFamily="18" charset="-127"/>
              <a:ea typeface="08서울남산체 B" panose="02020603020101020101" pitchFamily="18" charset="-127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4745589" y="5242415"/>
            <a:ext cx="3849894" cy="4188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50000"/>
              </a:lnSpc>
            </a:pPr>
            <a:r>
              <a:rPr lang="ko-KR" altLang="en-US" sz="1600" b="1" dirty="0" smtClean="0"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공매처분 역시 당연 무효에 해당</a:t>
            </a:r>
            <a:endParaRPr lang="en-US" altLang="ko-KR" sz="1600" b="1" dirty="0" smtClean="0">
              <a:latin typeface="08서울남산체 B" panose="02020603020101020101" pitchFamily="18" charset="-127"/>
              <a:ea typeface="08서울남산체 B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0245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94" grpId="0"/>
      <p:bldP spid="95" grpId="0"/>
      <p:bldP spid="96" grpId="0"/>
      <p:bldP spid="33" grpId="0"/>
      <p:bldP spid="3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모서리가 둥근 직사각형 30"/>
          <p:cNvSpPr/>
          <p:nvPr/>
        </p:nvSpPr>
        <p:spPr>
          <a:xfrm>
            <a:off x="2222745" y="5022612"/>
            <a:ext cx="6191301" cy="638636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extBox 1"/>
          <p:cNvSpPr txBox="1"/>
          <p:nvPr/>
        </p:nvSpPr>
        <p:spPr>
          <a:xfrm>
            <a:off x="516164" y="537582"/>
            <a:ext cx="1168910" cy="477054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altLang="ko-KR" sz="2500" b="1" spc="-150" dirty="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063A7A"/>
                </a:solidFill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Ⅱ. </a:t>
            </a:r>
            <a:r>
              <a:rPr lang="ko-KR" altLang="en-US" sz="2500" b="1" spc="-150" dirty="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063A7A"/>
                </a:solidFill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송달</a:t>
            </a:r>
            <a:endParaRPr lang="ko-KR" altLang="en-US" sz="2500" b="1" spc="-15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rgbClr val="063A7A"/>
              </a:solidFill>
              <a:latin typeface="08서울남산체 B" panose="02020603020101020101" pitchFamily="18" charset="-127"/>
              <a:ea typeface="08서울남산체 B" panose="02020603020101020101" pitchFamily="18" charset="-127"/>
            </a:endParaRPr>
          </a:p>
        </p:txBody>
      </p:sp>
      <p:cxnSp>
        <p:nvCxnSpPr>
          <p:cNvPr id="21" name="직선 연결선 20"/>
          <p:cNvCxnSpPr/>
          <p:nvPr/>
        </p:nvCxnSpPr>
        <p:spPr>
          <a:xfrm>
            <a:off x="539552" y="1079631"/>
            <a:ext cx="8064000" cy="0"/>
          </a:xfrm>
          <a:prstGeom prst="line">
            <a:avLst/>
          </a:prstGeom>
          <a:ln w="38100">
            <a:solidFill>
              <a:srgbClr val="6982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연결선 21"/>
          <p:cNvCxnSpPr/>
          <p:nvPr/>
        </p:nvCxnSpPr>
        <p:spPr>
          <a:xfrm>
            <a:off x="530587" y="6192487"/>
            <a:ext cx="8064896" cy="0"/>
          </a:xfrm>
          <a:prstGeom prst="line">
            <a:avLst/>
          </a:prstGeom>
          <a:ln w="12700">
            <a:solidFill>
              <a:srgbClr val="AEADB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4" name="그림 23" descr="캠코 배경없음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5886073" y="6303415"/>
            <a:ext cx="2718000" cy="195034"/>
          </a:xfrm>
          <a:prstGeom prst="rect">
            <a:avLst/>
          </a:prstGeom>
        </p:spPr>
      </p:pic>
      <p:pic>
        <p:nvPicPr>
          <p:cNvPr id="26" name="그림 25" descr="kamco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7913248" y="755739"/>
            <a:ext cx="691200" cy="196766"/>
          </a:xfrm>
          <a:prstGeom prst="rect">
            <a:avLst/>
          </a:prstGeom>
        </p:spPr>
      </p:pic>
      <p:sp>
        <p:nvSpPr>
          <p:cNvPr id="23" name="직사각형 22"/>
          <p:cNvSpPr/>
          <p:nvPr/>
        </p:nvSpPr>
        <p:spPr>
          <a:xfrm>
            <a:off x="549689" y="1364251"/>
            <a:ext cx="8054384" cy="33861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TextBox 24"/>
          <p:cNvSpPr txBox="1"/>
          <p:nvPr/>
        </p:nvSpPr>
        <p:spPr>
          <a:xfrm>
            <a:off x="760645" y="1340768"/>
            <a:ext cx="7841697" cy="378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400"/>
              </a:lnSpc>
            </a:pPr>
            <a:r>
              <a:rPr lang="ko-KR" altLang="en-US" dirty="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0D0D0D"/>
                </a:solidFill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자연</a:t>
            </a:r>
            <a:r>
              <a:rPr lang="ko-KR" altLang="en-US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0D0D0D"/>
                </a:solidFill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인</a:t>
            </a:r>
            <a:endParaRPr lang="ko-KR" altLang="en-US" dirty="0">
              <a:latin typeface="08서울남산체 B" panose="02020603020101020101" pitchFamily="18" charset="-127"/>
              <a:ea typeface="08서울남산체 B" panose="02020603020101020101" pitchFamily="18" charset="-127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548480" y="1388058"/>
            <a:ext cx="42191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200" b="1" spc="-200" dirty="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698299"/>
                </a:solidFill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▶ </a:t>
            </a:r>
            <a:endParaRPr lang="ko-KR" altLang="en-US" sz="1200" dirty="0">
              <a:latin typeface="08서울남산체 B" panose="02020603020101020101" pitchFamily="18" charset="-127"/>
              <a:ea typeface="08서울남산체 B" panose="02020603020101020101" pitchFamily="18" charset="-127"/>
            </a:endParaRPr>
          </a:p>
        </p:txBody>
      </p:sp>
      <p:grpSp>
        <p:nvGrpSpPr>
          <p:cNvPr id="12" name="그룹 11"/>
          <p:cNvGrpSpPr/>
          <p:nvPr/>
        </p:nvGrpSpPr>
        <p:grpSpPr>
          <a:xfrm>
            <a:off x="611560" y="2008585"/>
            <a:ext cx="7821633" cy="3744416"/>
            <a:chOff x="611560" y="1988840"/>
            <a:chExt cx="7821633" cy="3744416"/>
          </a:xfrm>
        </p:grpSpPr>
        <p:cxnSp>
          <p:nvCxnSpPr>
            <p:cNvPr id="13" name="직선 연결선 12"/>
            <p:cNvCxnSpPr/>
            <p:nvPr/>
          </p:nvCxnSpPr>
          <p:spPr>
            <a:xfrm>
              <a:off x="693193" y="1988840"/>
              <a:ext cx="7740000" cy="0"/>
            </a:xfrm>
            <a:prstGeom prst="line">
              <a:avLst/>
            </a:prstGeom>
            <a:ln w="19050">
              <a:solidFill>
                <a:srgbClr val="06357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/>
            <p:cNvCxnSpPr/>
            <p:nvPr/>
          </p:nvCxnSpPr>
          <p:spPr>
            <a:xfrm>
              <a:off x="693193" y="2291489"/>
              <a:ext cx="7740000" cy="0"/>
            </a:xfrm>
            <a:prstGeom prst="line">
              <a:avLst/>
            </a:prstGeom>
            <a:ln w="31750">
              <a:solidFill>
                <a:srgbClr val="A6AFB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TextBox 18"/>
            <p:cNvSpPr txBox="1"/>
            <p:nvPr/>
          </p:nvSpPr>
          <p:spPr>
            <a:xfrm>
              <a:off x="693192" y="2772216"/>
              <a:ext cx="115212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200" b="1" dirty="0" smtClean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사</a:t>
              </a:r>
              <a:r>
                <a:rPr lang="ko-KR" altLang="en-US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망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1758695" y="2480818"/>
              <a:ext cx="173318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b="1" dirty="0" smtClean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상속인 대상 송달</a:t>
              </a:r>
              <a:endParaRPr lang="ko-KR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1758695" y="3033338"/>
              <a:ext cx="180519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b="1" dirty="0" smtClean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상속인이 수인이거나</a:t>
              </a:r>
              <a:endParaRPr lang="en-US" altLang="ko-KR" sz="1000" b="1" dirty="0" smtClean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  <a:p>
              <a:pPr algn="ctr"/>
              <a:r>
                <a:rPr lang="ko-KR" altLang="en-US" sz="1000" b="1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존부가</a:t>
              </a:r>
              <a:r>
                <a:rPr lang="ko-KR" altLang="en-US" sz="1000" b="1" dirty="0" smtClean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명확하지 않은 경우</a:t>
              </a:r>
              <a:endParaRPr lang="ko-KR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1287456" y="1988840"/>
              <a:ext cx="115212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200" b="1" dirty="0" smtClean="0">
                  <a:solidFill>
                    <a:srgbClr val="063579"/>
                  </a:solidFill>
                </a:rPr>
                <a:t>구 분</a:t>
              </a:r>
              <a:endParaRPr lang="ko-KR" altLang="en-US" sz="1200" b="1" dirty="0">
                <a:solidFill>
                  <a:srgbClr val="063579"/>
                </a:solidFill>
              </a:endParaRP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5237695" y="1988840"/>
              <a:ext cx="164655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200" b="1" dirty="0" smtClean="0">
                  <a:solidFill>
                    <a:srgbClr val="063579"/>
                  </a:solidFill>
                </a:rPr>
                <a:t>송달방법 및 절차</a:t>
              </a:r>
              <a:endParaRPr lang="ko-KR" altLang="en-US" sz="1200" b="1" dirty="0">
                <a:solidFill>
                  <a:srgbClr val="063579"/>
                </a:solidFill>
              </a:endParaRP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3707904" y="2450040"/>
              <a:ext cx="472528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ko-KR" altLang="en-US" sz="1000" spc="-120" dirty="0" smtClean="0">
                  <a:latin typeface="맑은 고딕"/>
                  <a:ea typeface="맑은 고딕"/>
                </a:rPr>
                <a:t>재적등본 및 </a:t>
              </a:r>
              <a:r>
                <a:rPr lang="ko-KR" altLang="en-US" sz="1000" spc="-120" dirty="0" err="1" smtClean="0">
                  <a:latin typeface="맑은 고딕"/>
                  <a:ea typeface="맑은 고딕"/>
                </a:rPr>
                <a:t>가족관계증명원으로</a:t>
              </a:r>
              <a:r>
                <a:rPr lang="ko-KR" altLang="en-US" sz="1000" spc="-120" dirty="0" smtClean="0">
                  <a:latin typeface="맑은 고딕"/>
                  <a:ea typeface="맑은 고딕"/>
                </a:rPr>
                <a:t> 확인</a:t>
              </a:r>
              <a:endParaRPr lang="ko-KR" altLang="en-US" sz="1000" spc="-120" dirty="0"/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3707903" y="3087170"/>
              <a:ext cx="472528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ko-KR" altLang="en-US" sz="1000" spc="-100" dirty="0" smtClean="0"/>
                <a:t>법원에 상속재산관리인</a:t>
              </a:r>
              <a:r>
                <a:rPr lang="en-US" altLang="ko-KR" sz="1000" spc="-100" dirty="0" smtClean="0"/>
                <a:t>(</a:t>
              </a:r>
              <a:r>
                <a:rPr lang="ko-KR" altLang="en-US" sz="1000" spc="-100" dirty="0" smtClean="0"/>
                <a:t>공동상속인 중</a:t>
              </a:r>
              <a:r>
                <a:rPr lang="en-US" altLang="ko-KR" sz="1000" spc="-100" dirty="0" smtClean="0"/>
                <a:t>) </a:t>
              </a:r>
              <a:r>
                <a:rPr lang="ko-KR" altLang="en-US" sz="1000" spc="-100" dirty="0" smtClean="0"/>
                <a:t>선임 후 송달</a:t>
              </a:r>
              <a:endParaRPr lang="ko-KR" altLang="en-US" sz="1000" spc="-100" dirty="0"/>
            </a:p>
          </p:txBody>
        </p:sp>
        <p:cxnSp>
          <p:nvCxnSpPr>
            <p:cNvPr id="38" name="직선 연결선 37"/>
            <p:cNvCxnSpPr/>
            <p:nvPr/>
          </p:nvCxnSpPr>
          <p:spPr>
            <a:xfrm>
              <a:off x="693193" y="3553271"/>
              <a:ext cx="7740000" cy="0"/>
            </a:xfrm>
            <a:prstGeom prst="line">
              <a:avLst/>
            </a:prstGeom>
            <a:ln w="190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직선 연결선 42"/>
            <p:cNvCxnSpPr/>
            <p:nvPr/>
          </p:nvCxnSpPr>
          <p:spPr>
            <a:xfrm>
              <a:off x="3707904" y="4129335"/>
              <a:ext cx="4706143" cy="0"/>
            </a:xfrm>
            <a:prstGeom prst="line">
              <a:avLst/>
            </a:prstGeom>
            <a:ln w="190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TextBox 43"/>
            <p:cNvSpPr txBox="1"/>
            <p:nvPr/>
          </p:nvSpPr>
          <p:spPr>
            <a:xfrm>
              <a:off x="611560" y="3913891"/>
              <a:ext cx="145366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b="1" dirty="0" smtClean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해외이주 및 국적상실 등으로</a:t>
              </a:r>
              <a:r>
                <a:rPr lang="en-US" altLang="ko-KR" sz="1000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ko-KR" altLang="en-US" sz="1000" b="1" dirty="0" smtClean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말소된 경우</a:t>
              </a:r>
              <a:endParaRPr lang="ko-KR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2191462" y="3856505"/>
              <a:ext cx="1377778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b="1" dirty="0" smtClean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외교통상부 앞</a:t>
              </a:r>
              <a:endParaRPr lang="en-US" altLang="ko-KR" sz="1000" b="1" dirty="0" smtClean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  <a:p>
              <a:pPr algn="ctr"/>
              <a:r>
                <a:rPr lang="ko-KR" altLang="en-US" sz="1000" b="1" dirty="0" smtClean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국외이주자 해외주소</a:t>
              </a:r>
              <a:endParaRPr lang="en-US" altLang="ko-KR" sz="1000" b="1" dirty="0" smtClean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  <a:p>
              <a:pPr algn="ctr"/>
              <a:r>
                <a:rPr lang="ko-KR" altLang="en-US" sz="1000" b="1" dirty="0" smtClean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조회 요청 </a:t>
              </a:r>
              <a:endParaRPr lang="ko-KR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cxnSp>
          <p:nvCxnSpPr>
            <p:cNvPr id="51" name="직선 연결선 50"/>
            <p:cNvCxnSpPr/>
            <p:nvPr/>
          </p:nvCxnSpPr>
          <p:spPr>
            <a:xfrm>
              <a:off x="693193" y="5733256"/>
              <a:ext cx="7740000" cy="0"/>
            </a:xfrm>
            <a:prstGeom prst="line">
              <a:avLst/>
            </a:prstGeom>
            <a:ln w="190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TextBox 51"/>
            <p:cNvSpPr txBox="1"/>
            <p:nvPr/>
          </p:nvSpPr>
          <p:spPr>
            <a:xfrm>
              <a:off x="2222746" y="5002867"/>
              <a:ext cx="5661393" cy="6386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50" b="1" dirty="0" smtClean="0">
                  <a:solidFill>
                    <a:schemeClr val="accent1"/>
                  </a:solidFill>
                </a:rPr>
                <a:t>   ※ </a:t>
              </a:r>
              <a:r>
                <a:rPr lang="ko-KR" altLang="en-US" sz="1050" b="1" dirty="0" smtClean="0">
                  <a:solidFill>
                    <a:schemeClr val="accent1"/>
                  </a:solidFill>
                </a:rPr>
                <a:t>공시송달</a:t>
              </a:r>
              <a:endParaRPr lang="en-US" altLang="ko-KR" sz="1050" b="1" dirty="0">
                <a:solidFill>
                  <a:schemeClr val="accent1"/>
                </a:solidFill>
              </a:endParaRPr>
            </a:p>
            <a:p>
              <a:pPr>
                <a:lnSpc>
                  <a:spcPct val="150000"/>
                </a:lnSpc>
              </a:pPr>
              <a:r>
                <a:rPr lang="en-US" altLang="ko-KR" sz="1000" dirty="0" smtClean="0">
                  <a:solidFill>
                    <a:schemeClr val="accent1"/>
                  </a:solidFill>
                </a:rPr>
                <a:t>     - </a:t>
              </a:r>
              <a:r>
                <a:rPr lang="ko-KR" altLang="en-US" sz="1000" dirty="0" smtClean="0">
                  <a:solidFill>
                    <a:schemeClr val="accent1"/>
                  </a:solidFill>
                </a:rPr>
                <a:t>해외이주 및 국적상실 말소 시 최종주소지로 </a:t>
              </a:r>
              <a:r>
                <a:rPr lang="ko-KR" altLang="en-US" sz="1000" dirty="0" err="1" smtClean="0">
                  <a:solidFill>
                    <a:schemeClr val="accent1"/>
                  </a:solidFill>
                </a:rPr>
                <a:t>불거주</a:t>
              </a:r>
              <a:r>
                <a:rPr lang="ko-KR" altLang="en-US" sz="1000" dirty="0" smtClean="0">
                  <a:solidFill>
                    <a:schemeClr val="accent1"/>
                  </a:solidFill>
                </a:rPr>
                <a:t> 확인 후 공시송달 → 효력 없음</a:t>
              </a:r>
              <a:endParaRPr lang="en-US" altLang="ko-KR" sz="1000" dirty="0" smtClean="0">
                <a:solidFill>
                  <a:schemeClr val="accent1"/>
                </a:solidFill>
              </a:endParaRPr>
            </a:p>
            <a:p>
              <a:r>
                <a:rPr lang="en-US" altLang="ko-KR" sz="1000" dirty="0" smtClean="0">
                  <a:solidFill>
                    <a:schemeClr val="accent1"/>
                  </a:solidFill>
                </a:rPr>
                <a:t>     - </a:t>
              </a:r>
              <a:r>
                <a:rPr lang="ko-KR" altLang="en-US" sz="1000" dirty="0" smtClean="0">
                  <a:solidFill>
                    <a:schemeClr val="accent1"/>
                  </a:solidFill>
                </a:rPr>
                <a:t>따라서 위 가항의 조치를 취한 후에 최종적으로 공시송달을 진행하는 것이 타당함</a:t>
              </a:r>
              <a:endParaRPr lang="ko-KR" altLang="en-US" sz="1000" dirty="0">
                <a:solidFill>
                  <a:schemeClr val="accent1"/>
                </a:solidFill>
              </a:endParaRPr>
            </a:p>
          </p:txBody>
        </p:sp>
      </p:grpSp>
      <p:cxnSp>
        <p:nvCxnSpPr>
          <p:cNvPr id="56" name="직선 연결선 55"/>
          <p:cNvCxnSpPr/>
          <p:nvPr/>
        </p:nvCxnSpPr>
        <p:spPr>
          <a:xfrm>
            <a:off x="1863520" y="2931045"/>
            <a:ext cx="6550527" cy="0"/>
          </a:xfrm>
          <a:prstGeom prst="line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3707904" y="3737751"/>
            <a:ext cx="470614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spc="-100" dirty="0" smtClean="0"/>
              <a:t>주소 확인 회신 시 </a:t>
            </a:r>
            <a:r>
              <a:rPr lang="en-US" altLang="ko-KR" sz="1000" spc="-100" dirty="0" smtClean="0"/>
              <a:t>: </a:t>
            </a:r>
            <a:r>
              <a:rPr lang="ko-KR" altLang="en-US" sz="1000" spc="-100" dirty="0" smtClean="0"/>
              <a:t>해외우편송달</a:t>
            </a:r>
            <a:endParaRPr lang="ko-KR" altLang="en-US" sz="1000" spc="-100" dirty="0"/>
          </a:p>
        </p:txBody>
      </p:sp>
      <p:sp>
        <p:nvSpPr>
          <p:cNvPr id="59" name="TextBox 58"/>
          <p:cNvSpPr txBox="1"/>
          <p:nvPr/>
        </p:nvSpPr>
        <p:spPr>
          <a:xfrm>
            <a:off x="3707904" y="4293096"/>
            <a:ext cx="47061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spc="-100" dirty="0" smtClean="0">
                <a:latin typeface="맑은 고딕"/>
                <a:ea typeface="맑은 고딕"/>
              </a:rPr>
              <a:t>주소 확인 불가 회신 시 </a:t>
            </a:r>
            <a:r>
              <a:rPr lang="en-US" altLang="ko-KR" sz="1000" spc="-100" dirty="0" smtClean="0">
                <a:latin typeface="맑은 고딕"/>
                <a:ea typeface="맑은 고딕"/>
              </a:rPr>
              <a:t>:</a:t>
            </a:r>
          </a:p>
          <a:p>
            <a:pPr>
              <a:lnSpc>
                <a:spcPct val="120000"/>
              </a:lnSpc>
            </a:pPr>
            <a:r>
              <a:rPr lang="ko-KR" altLang="en-US" sz="1000" spc="-100" dirty="0" smtClean="0">
                <a:latin typeface="맑은 고딕"/>
                <a:ea typeface="맑은 고딕"/>
              </a:rPr>
              <a:t>∙  행정망을 통한 </a:t>
            </a:r>
            <a:r>
              <a:rPr lang="ko-KR" altLang="en-US" sz="1000" spc="-100" dirty="0" err="1" smtClean="0">
                <a:latin typeface="맑은 고딕"/>
                <a:ea typeface="맑은 고딕"/>
              </a:rPr>
              <a:t>입출국자료</a:t>
            </a:r>
            <a:r>
              <a:rPr lang="ko-KR" altLang="en-US" sz="1000" spc="-100" dirty="0" smtClean="0">
                <a:latin typeface="맑은 고딕"/>
                <a:ea typeface="맑은 고딕"/>
              </a:rPr>
              <a:t> 조회</a:t>
            </a:r>
            <a:endParaRPr lang="en-US" altLang="ko-KR" sz="1000" spc="-100" dirty="0" smtClean="0">
              <a:latin typeface="맑은 고딕"/>
              <a:ea typeface="맑은 고딕"/>
            </a:endParaRPr>
          </a:p>
          <a:p>
            <a:pPr>
              <a:lnSpc>
                <a:spcPct val="120000"/>
              </a:lnSpc>
            </a:pPr>
            <a:r>
              <a:rPr lang="ko-KR" altLang="ko-KR" sz="1000" spc="-100" dirty="0" smtClean="0">
                <a:latin typeface="맑은 고딕"/>
                <a:ea typeface="맑은 고딕"/>
              </a:rPr>
              <a:t>∙</a:t>
            </a:r>
            <a:r>
              <a:rPr lang="en-US" altLang="ko-KR" sz="1000" spc="-100" dirty="0" smtClean="0">
                <a:latin typeface="맑은 고딕"/>
                <a:ea typeface="맑은 고딕"/>
              </a:rPr>
              <a:t>  </a:t>
            </a:r>
            <a:r>
              <a:rPr lang="ko-KR" altLang="en-US" sz="1000" spc="-100" dirty="0" smtClean="0">
                <a:latin typeface="맑은 고딕"/>
                <a:ea typeface="맑은 고딕"/>
              </a:rPr>
              <a:t>출입국관리사무소에 국내거소신고사실 조회</a:t>
            </a:r>
            <a:endParaRPr lang="ko-KR" altLang="en-US" sz="1000" spc="-100" dirty="0"/>
          </a:p>
        </p:txBody>
      </p:sp>
      <p:cxnSp>
        <p:nvCxnSpPr>
          <p:cNvPr id="18" name="직선 화살표 연결선 17"/>
          <p:cNvCxnSpPr/>
          <p:nvPr/>
        </p:nvCxnSpPr>
        <p:spPr>
          <a:xfrm>
            <a:off x="1907703" y="4149079"/>
            <a:ext cx="315043" cy="0"/>
          </a:xfrm>
          <a:prstGeom prst="straightConnector1">
            <a:avLst/>
          </a:prstGeom>
          <a:ln w="25400">
            <a:solidFill>
              <a:schemeClr val="bg1">
                <a:lumMod val="7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18788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16164" y="537582"/>
            <a:ext cx="1168910" cy="477054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altLang="ko-KR" sz="2500" b="1" spc="-150" dirty="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063A7A"/>
                </a:solidFill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Ⅱ. </a:t>
            </a:r>
            <a:r>
              <a:rPr lang="ko-KR" altLang="en-US" sz="2500" b="1" spc="-150" dirty="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063A7A"/>
                </a:solidFill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송달</a:t>
            </a:r>
            <a:endParaRPr lang="ko-KR" altLang="en-US" sz="2500" b="1" spc="-15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rgbClr val="063A7A"/>
              </a:solidFill>
              <a:latin typeface="08서울남산체 B" panose="02020603020101020101" pitchFamily="18" charset="-127"/>
              <a:ea typeface="08서울남산체 B" panose="02020603020101020101" pitchFamily="18" charset="-127"/>
            </a:endParaRPr>
          </a:p>
        </p:txBody>
      </p:sp>
      <p:cxnSp>
        <p:nvCxnSpPr>
          <p:cNvPr id="21" name="직선 연결선 20"/>
          <p:cNvCxnSpPr/>
          <p:nvPr/>
        </p:nvCxnSpPr>
        <p:spPr>
          <a:xfrm>
            <a:off x="539552" y="1079631"/>
            <a:ext cx="8064000" cy="0"/>
          </a:xfrm>
          <a:prstGeom prst="line">
            <a:avLst/>
          </a:prstGeom>
          <a:ln w="38100">
            <a:solidFill>
              <a:srgbClr val="6982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연결선 21"/>
          <p:cNvCxnSpPr/>
          <p:nvPr/>
        </p:nvCxnSpPr>
        <p:spPr>
          <a:xfrm>
            <a:off x="530587" y="6192487"/>
            <a:ext cx="8064896" cy="0"/>
          </a:xfrm>
          <a:prstGeom prst="line">
            <a:avLst/>
          </a:prstGeom>
          <a:ln w="12700">
            <a:solidFill>
              <a:srgbClr val="AEADB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4" name="그림 23" descr="캠코 배경없음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5886073" y="6303415"/>
            <a:ext cx="2718000" cy="195034"/>
          </a:xfrm>
          <a:prstGeom prst="rect">
            <a:avLst/>
          </a:prstGeom>
        </p:spPr>
      </p:pic>
      <p:pic>
        <p:nvPicPr>
          <p:cNvPr id="26" name="그림 25" descr="kamco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7913248" y="755739"/>
            <a:ext cx="691200" cy="196766"/>
          </a:xfrm>
          <a:prstGeom prst="rect">
            <a:avLst/>
          </a:prstGeom>
        </p:spPr>
      </p:pic>
      <p:sp>
        <p:nvSpPr>
          <p:cNvPr id="23" name="직사각형 22"/>
          <p:cNvSpPr/>
          <p:nvPr/>
        </p:nvSpPr>
        <p:spPr>
          <a:xfrm>
            <a:off x="549689" y="1364251"/>
            <a:ext cx="8054384" cy="33861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TextBox 24"/>
          <p:cNvSpPr txBox="1"/>
          <p:nvPr/>
        </p:nvSpPr>
        <p:spPr>
          <a:xfrm>
            <a:off x="760645" y="1340768"/>
            <a:ext cx="784169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400"/>
              </a:lnSpc>
            </a:pPr>
            <a:r>
              <a:rPr lang="ko-KR" altLang="en-US" dirty="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0D0D0D"/>
                </a:solidFill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법인</a:t>
            </a:r>
            <a:r>
              <a:rPr lang="en-US" altLang="ko-KR" dirty="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0D0D0D"/>
                </a:solidFill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(</a:t>
            </a:r>
            <a:r>
              <a:rPr lang="ko-KR" altLang="en-US" dirty="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0D0D0D"/>
                </a:solidFill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주식회사 중심</a:t>
            </a:r>
            <a:r>
              <a:rPr lang="en-US" altLang="ko-KR" dirty="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0D0D0D"/>
                </a:solidFill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) / </a:t>
            </a:r>
            <a:r>
              <a:rPr lang="ko-KR" altLang="en-US" dirty="0" err="1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0D0D0D"/>
                </a:solidFill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종중</a:t>
            </a:r>
            <a:r>
              <a:rPr lang="en-US" altLang="ko-KR" dirty="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0D0D0D"/>
                </a:solidFill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(</a:t>
            </a:r>
            <a:r>
              <a:rPr lang="ko-KR" altLang="en-US" dirty="0" err="1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0D0D0D"/>
                </a:solidFill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문중회</a:t>
            </a:r>
            <a:r>
              <a:rPr lang="en-US" altLang="ko-KR" dirty="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0D0D0D"/>
                </a:solidFill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)</a:t>
            </a:r>
            <a:endParaRPr lang="ko-KR" altLang="en-US" dirty="0">
              <a:latin typeface="08서울남산체 B" panose="02020603020101020101" pitchFamily="18" charset="-127"/>
              <a:ea typeface="08서울남산체 B" panose="02020603020101020101" pitchFamily="18" charset="-127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548480" y="1388058"/>
            <a:ext cx="42191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200" b="1" spc="-200" dirty="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698299"/>
                </a:solidFill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▶ </a:t>
            </a:r>
            <a:endParaRPr lang="ko-KR" altLang="en-US" sz="1200" dirty="0">
              <a:latin typeface="08서울남산체 B" panose="02020603020101020101" pitchFamily="18" charset="-127"/>
              <a:ea typeface="08서울남산체 B" panose="02020603020101020101" pitchFamily="18" charset="-127"/>
            </a:endParaRPr>
          </a:p>
        </p:txBody>
      </p:sp>
      <p:grpSp>
        <p:nvGrpSpPr>
          <p:cNvPr id="12" name="그룹 11"/>
          <p:cNvGrpSpPr/>
          <p:nvPr/>
        </p:nvGrpSpPr>
        <p:grpSpPr>
          <a:xfrm>
            <a:off x="693192" y="2060848"/>
            <a:ext cx="7748360" cy="3744416"/>
            <a:chOff x="693192" y="1988840"/>
            <a:chExt cx="7748360" cy="3744416"/>
          </a:xfrm>
        </p:grpSpPr>
        <p:cxnSp>
          <p:nvCxnSpPr>
            <p:cNvPr id="13" name="직선 연결선 12"/>
            <p:cNvCxnSpPr/>
            <p:nvPr/>
          </p:nvCxnSpPr>
          <p:spPr>
            <a:xfrm>
              <a:off x="693193" y="1988840"/>
              <a:ext cx="7740000" cy="0"/>
            </a:xfrm>
            <a:prstGeom prst="line">
              <a:avLst/>
            </a:prstGeom>
            <a:ln w="19050">
              <a:solidFill>
                <a:srgbClr val="06357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/>
            <p:cNvCxnSpPr/>
            <p:nvPr/>
          </p:nvCxnSpPr>
          <p:spPr>
            <a:xfrm>
              <a:off x="693193" y="2291489"/>
              <a:ext cx="7740000" cy="0"/>
            </a:xfrm>
            <a:prstGeom prst="line">
              <a:avLst/>
            </a:prstGeom>
            <a:ln w="31750">
              <a:solidFill>
                <a:srgbClr val="A6AFB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TextBox 18"/>
            <p:cNvSpPr txBox="1"/>
            <p:nvPr/>
          </p:nvSpPr>
          <p:spPr>
            <a:xfrm>
              <a:off x="701552" y="3140968"/>
              <a:ext cx="120615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200" b="1" dirty="0" smtClean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법인</a:t>
              </a:r>
              <a:endParaRPr lang="en-US" altLang="ko-KR" sz="1200" b="1" dirty="0" smtClean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1863519" y="2662502"/>
              <a:ext cx="173318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200" b="1" dirty="0" smtClean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해산 및 청산간주 법인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1863520" y="3615407"/>
              <a:ext cx="180519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200" b="1" dirty="0" smtClean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법인 대표이사 사망 시</a:t>
              </a:r>
              <a:endParaRPr lang="en-US" altLang="ko-KR" sz="1200" b="1" dirty="0" smtClean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  <a:p>
              <a:pPr algn="ctr"/>
              <a:r>
                <a:rPr lang="en-US" altLang="ko-KR" sz="1200" b="1" dirty="0" smtClean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(</a:t>
              </a:r>
              <a:r>
                <a:rPr lang="ko-KR" altLang="en-US" sz="1200" b="1" dirty="0" smtClean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상속불가</a:t>
              </a:r>
              <a:r>
                <a:rPr lang="en-US" altLang="ko-KR" sz="1200" b="1" dirty="0" smtClean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)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1287456" y="1988840"/>
              <a:ext cx="115212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200" b="1" dirty="0" smtClean="0">
                  <a:solidFill>
                    <a:srgbClr val="063579"/>
                  </a:solidFill>
                </a:rPr>
                <a:t>구 분</a:t>
              </a:r>
              <a:endParaRPr lang="ko-KR" altLang="en-US" sz="1200" b="1" dirty="0">
                <a:solidFill>
                  <a:srgbClr val="063579"/>
                </a:solidFill>
              </a:endParaRP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5237695" y="1988840"/>
              <a:ext cx="164655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200" b="1" dirty="0" smtClean="0">
                  <a:solidFill>
                    <a:srgbClr val="063579"/>
                  </a:solidFill>
                </a:rPr>
                <a:t>송달방법 및 절차</a:t>
              </a:r>
              <a:endParaRPr lang="ko-KR" altLang="en-US" sz="1200" b="1" dirty="0">
                <a:solidFill>
                  <a:srgbClr val="063579"/>
                </a:solidFill>
              </a:endParaRP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3707903" y="2417054"/>
              <a:ext cx="4725289" cy="8679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>
                <a:lnSpc>
                  <a:spcPct val="120000"/>
                </a:lnSpc>
                <a:buFont typeface="Arial" charset="0"/>
                <a:buChar char="•"/>
              </a:pPr>
              <a:r>
                <a:rPr lang="ko-KR" altLang="en-US" sz="1200" spc="-120" dirty="0" smtClean="0">
                  <a:latin typeface="맑은 고딕"/>
                  <a:ea typeface="맑은 고딕"/>
                </a:rPr>
                <a:t>해산 시점의 법인등기부 상 대표이사에게 통지</a:t>
              </a:r>
              <a:endParaRPr lang="en-US" altLang="ko-KR" sz="1200" spc="-120" dirty="0" smtClean="0">
                <a:latin typeface="맑은 고딕"/>
                <a:ea typeface="맑은 고딕"/>
              </a:endParaRPr>
            </a:p>
            <a:p>
              <a:pPr marL="171450" indent="-171450">
                <a:lnSpc>
                  <a:spcPct val="150000"/>
                </a:lnSpc>
                <a:buFont typeface="Arial" charset="0"/>
                <a:buChar char="•"/>
              </a:pPr>
              <a:r>
                <a:rPr lang="ko-KR" altLang="en-US" sz="1200" spc="-120" dirty="0" smtClean="0">
                  <a:latin typeface="맑은 고딕"/>
                  <a:ea typeface="맑은 고딕"/>
                </a:rPr>
                <a:t>청산인 또는 파산관재인 선임 되어있을 경우 </a:t>
              </a:r>
              <a:r>
                <a:rPr lang="en-US" altLang="ko-KR" sz="1200" spc="-120" dirty="0" smtClean="0">
                  <a:latin typeface="맑은 고딕"/>
                  <a:ea typeface="맑은 고딕"/>
                </a:rPr>
                <a:t>: </a:t>
              </a:r>
            </a:p>
            <a:p>
              <a:pPr>
                <a:lnSpc>
                  <a:spcPct val="150000"/>
                </a:lnSpc>
              </a:pPr>
              <a:r>
                <a:rPr lang="en-US" altLang="ko-KR" sz="1200" spc="-120" dirty="0" smtClean="0">
                  <a:latin typeface="맑은 고딕"/>
                  <a:ea typeface="맑은 고딕"/>
                </a:rPr>
                <a:t>                                                                </a:t>
              </a:r>
              <a:r>
                <a:rPr lang="ko-KR" altLang="en-US" sz="1200" spc="-120" dirty="0" smtClean="0">
                  <a:latin typeface="맑은 고딕"/>
                  <a:ea typeface="맑은 고딕"/>
                </a:rPr>
                <a:t>청산인 또는 파산관재인에게 통지</a:t>
              </a:r>
              <a:endParaRPr lang="ko-KR" altLang="en-US" sz="1200" spc="-120" dirty="0"/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3707903" y="3439974"/>
              <a:ext cx="4725289" cy="8125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>
                <a:lnSpc>
                  <a:spcPct val="120000"/>
                </a:lnSpc>
                <a:buFont typeface="Arial" charset="0"/>
                <a:buChar char="•"/>
              </a:pPr>
              <a:r>
                <a:rPr lang="ko-KR" altLang="en-US" sz="1200" spc="-100" dirty="0" smtClean="0"/>
                <a:t>이사 有  </a:t>
              </a:r>
              <a:r>
                <a:rPr lang="en-US" altLang="ko-KR" sz="1200" spc="-100" dirty="0" smtClean="0"/>
                <a:t>:  </a:t>
              </a:r>
              <a:r>
                <a:rPr lang="ko-KR" altLang="en-US" sz="1200" spc="-100" dirty="0" smtClean="0"/>
                <a:t>이사 전원 통지 </a:t>
              </a:r>
              <a:r>
                <a:rPr lang="en-US" altLang="ko-KR" sz="1200" spc="-100" dirty="0" smtClean="0"/>
                <a:t>(</a:t>
              </a:r>
              <a:r>
                <a:rPr lang="ko-KR" altLang="en-US" sz="1200" spc="-100" dirty="0" smtClean="0"/>
                <a:t>전원 송달 완료 시 효력 발생</a:t>
              </a:r>
              <a:r>
                <a:rPr lang="en-US" altLang="ko-KR" sz="1200" spc="-100" dirty="0" smtClean="0"/>
                <a:t>)</a:t>
              </a:r>
            </a:p>
            <a:p>
              <a:pPr marL="171450" indent="-171450">
                <a:lnSpc>
                  <a:spcPct val="150000"/>
                </a:lnSpc>
                <a:buFont typeface="Arial" charset="0"/>
                <a:buChar char="•"/>
              </a:pPr>
              <a:r>
                <a:rPr lang="ko-KR" altLang="en-US" sz="1200" spc="-100" dirty="0" smtClean="0"/>
                <a:t>이사 無  </a:t>
              </a:r>
              <a:r>
                <a:rPr lang="en-US" altLang="ko-KR" sz="1200" spc="-100" dirty="0" smtClean="0"/>
                <a:t>:  </a:t>
              </a:r>
              <a:r>
                <a:rPr lang="ko-KR" altLang="en-US" sz="1200" spc="-100" dirty="0" smtClean="0"/>
                <a:t>법원에 특별대리인 또는 청산인 선임 신청 후 진행</a:t>
              </a:r>
              <a:endParaRPr lang="en-US" altLang="ko-KR" sz="1200" spc="-100" dirty="0" smtClean="0"/>
            </a:p>
            <a:p>
              <a:pPr>
                <a:lnSpc>
                  <a:spcPct val="120000"/>
                </a:lnSpc>
              </a:pPr>
              <a:r>
                <a:rPr lang="en-US" altLang="ko-KR" sz="1000" spc="-100" dirty="0" smtClean="0"/>
                <a:t>                      </a:t>
              </a:r>
              <a:r>
                <a:rPr lang="en-US" altLang="ko-KR" sz="1200" spc="-100" dirty="0" smtClean="0"/>
                <a:t>- </a:t>
              </a:r>
              <a:r>
                <a:rPr lang="ko-KR" altLang="en-US" sz="1200" spc="-100" dirty="0" smtClean="0"/>
                <a:t>보편적으로 감사로 지정</a:t>
              </a:r>
              <a:endParaRPr lang="en-US" altLang="ko-KR" sz="1200" spc="-100" dirty="0" smtClean="0"/>
            </a:p>
          </p:txBody>
        </p:sp>
        <p:cxnSp>
          <p:nvCxnSpPr>
            <p:cNvPr id="38" name="직선 연결선 37"/>
            <p:cNvCxnSpPr/>
            <p:nvPr/>
          </p:nvCxnSpPr>
          <p:spPr>
            <a:xfrm>
              <a:off x="701552" y="4419969"/>
              <a:ext cx="7740000" cy="0"/>
            </a:xfrm>
            <a:prstGeom prst="line">
              <a:avLst/>
            </a:prstGeom>
            <a:ln w="190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TextBox 43"/>
            <p:cNvSpPr txBox="1"/>
            <p:nvPr/>
          </p:nvSpPr>
          <p:spPr>
            <a:xfrm>
              <a:off x="693192" y="4886145"/>
              <a:ext cx="1214511" cy="2923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300" b="1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종중</a:t>
              </a:r>
              <a:endParaRPr lang="en-US" altLang="ko-KR" sz="1300" b="1" dirty="0" smtClean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cxnSp>
          <p:nvCxnSpPr>
            <p:cNvPr id="51" name="직선 연결선 50"/>
            <p:cNvCxnSpPr/>
            <p:nvPr/>
          </p:nvCxnSpPr>
          <p:spPr>
            <a:xfrm>
              <a:off x="693193" y="5733256"/>
              <a:ext cx="7740000" cy="0"/>
            </a:xfrm>
            <a:prstGeom prst="line">
              <a:avLst/>
            </a:prstGeom>
            <a:ln w="190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6" name="직선 연결선 55"/>
          <p:cNvCxnSpPr/>
          <p:nvPr/>
        </p:nvCxnSpPr>
        <p:spPr>
          <a:xfrm>
            <a:off x="1907703" y="3356992"/>
            <a:ext cx="6506344" cy="0"/>
          </a:xfrm>
          <a:prstGeom prst="line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1907703" y="4688849"/>
            <a:ext cx="650634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200000"/>
              </a:lnSpc>
              <a:buFont typeface="Arial" charset="0"/>
              <a:buChar char="•"/>
            </a:pPr>
            <a:r>
              <a:rPr lang="ko-KR" altLang="en-US" sz="1200" spc="-100" dirty="0" smtClean="0"/>
              <a:t>기본자료  </a:t>
            </a:r>
            <a:r>
              <a:rPr lang="en-US" altLang="ko-KR" sz="1200" spc="-100" dirty="0" smtClean="0"/>
              <a:t>:  </a:t>
            </a:r>
            <a:r>
              <a:rPr lang="ko-KR" altLang="en-US" sz="1200" spc="-100" dirty="0" smtClean="0"/>
              <a:t>시</a:t>
            </a:r>
            <a:r>
              <a:rPr lang="en-US" altLang="ko-KR" sz="1200" spc="-100" dirty="0" smtClean="0"/>
              <a:t>, </a:t>
            </a:r>
            <a:r>
              <a:rPr lang="ko-KR" altLang="en-US" sz="1200" spc="-100" dirty="0" smtClean="0"/>
              <a:t>군</a:t>
            </a:r>
            <a:r>
              <a:rPr lang="en-US" altLang="ko-KR" sz="1200" spc="-100" dirty="0" smtClean="0"/>
              <a:t>, </a:t>
            </a:r>
            <a:r>
              <a:rPr lang="ko-KR" altLang="en-US" sz="1200" spc="-100" dirty="0" smtClean="0"/>
              <a:t>구청 발급 부동산등기용등록번호증명서 및 </a:t>
            </a:r>
            <a:r>
              <a:rPr lang="ko-KR" altLang="en-US" sz="1200" spc="-100" dirty="0" err="1" smtClean="0"/>
              <a:t>종중대표자</a:t>
            </a:r>
            <a:r>
              <a:rPr lang="ko-KR" altLang="en-US" sz="1200" spc="-100" dirty="0" smtClean="0"/>
              <a:t> </a:t>
            </a:r>
            <a:r>
              <a:rPr lang="ko-KR" altLang="en-US" sz="1200" spc="-100" dirty="0" err="1" smtClean="0"/>
              <a:t>인적사항</a:t>
            </a:r>
            <a:endParaRPr lang="en-US" altLang="ko-KR" sz="1200" spc="-100" dirty="0"/>
          </a:p>
          <a:p>
            <a:pPr marL="171450" indent="-171450">
              <a:lnSpc>
                <a:spcPct val="200000"/>
              </a:lnSpc>
              <a:buFont typeface="Arial" charset="0"/>
              <a:buChar char="•"/>
            </a:pPr>
            <a:r>
              <a:rPr lang="ko-KR" altLang="en-US" sz="1200" spc="-100" dirty="0" smtClean="0"/>
              <a:t>대표 </a:t>
            </a:r>
            <a:r>
              <a:rPr lang="ko-KR" altLang="en-US" sz="1200" spc="-100" dirty="0"/>
              <a:t>사망 시 </a:t>
            </a:r>
            <a:r>
              <a:rPr lang="en-US" altLang="ko-KR" sz="1200" spc="-100" dirty="0"/>
              <a:t> </a:t>
            </a:r>
            <a:r>
              <a:rPr lang="en-US" altLang="ko-KR" sz="1200" spc="-100" dirty="0" smtClean="0"/>
              <a:t>:  </a:t>
            </a:r>
            <a:r>
              <a:rPr lang="ko-KR" altLang="en-US" sz="1200" spc="-100" dirty="0" smtClean="0"/>
              <a:t>상속 </a:t>
            </a:r>
            <a:r>
              <a:rPr lang="ko-KR" altLang="en-US" sz="1200" spc="-100" dirty="0"/>
              <a:t>불가 종친회 총회를 통한 대표자 </a:t>
            </a:r>
            <a:r>
              <a:rPr lang="ko-KR" altLang="en-US" sz="1200" spc="-100" dirty="0" err="1"/>
              <a:t>재선출</a:t>
            </a:r>
            <a:r>
              <a:rPr lang="ko-KR" altLang="en-US" sz="1200" spc="-100" dirty="0"/>
              <a:t> 필요 </a:t>
            </a:r>
            <a:r>
              <a:rPr lang="en-US" altLang="ko-KR" sz="1200" spc="-100" dirty="0"/>
              <a:t>(</a:t>
            </a:r>
            <a:r>
              <a:rPr lang="ko-KR" altLang="en-US" sz="1200" spc="-100" dirty="0"/>
              <a:t>총회의사록사본 </a:t>
            </a:r>
            <a:r>
              <a:rPr lang="ko-KR" altLang="en-US" sz="1200" spc="-100" dirty="0" err="1" smtClean="0"/>
              <a:t>징구</a:t>
            </a:r>
            <a:r>
              <a:rPr lang="en-US" altLang="ko-KR" sz="1200" spc="-100" dirty="0" smtClean="0"/>
              <a:t>)</a:t>
            </a:r>
            <a:endParaRPr lang="ko-KR" altLang="en-US" sz="1200" spc="-100" dirty="0"/>
          </a:p>
        </p:txBody>
      </p:sp>
    </p:spTree>
    <p:extLst>
      <p:ext uri="{BB962C8B-B14F-4D97-AF65-F5344CB8AC3E}">
        <p14:creationId xmlns:p14="http://schemas.microsoft.com/office/powerpoint/2010/main" val="31382937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모서리가 둥근 직사각형 31"/>
          <p:cNvSpPr/>
          <p:nvPr/>
        </p:nvSpPr>
        <p:spPr>
          <a:xfrm>
            <a:off x="516164" y="1757045"/>
            <a:ext cx="8064896" cy="144016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08서울남산체 B" panose="02020603020101020101" pitchFamily="18" charset="-127"/>
              <a:ea typeface="08서울남산체 B" panose="02020603020101020101" pitchFamily="18" charset="-127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516164" y="537582"/>
            <a:ext cx="1168910" cy="477054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altLang="ko-KR" sz="2500" b="1" spc="-150" dirty="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063A7A"/>
                </a:solidFill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Ⅱ. </a:t>
            </a:r>
            <a:r>
              <a:rPr lang="ko-KR" altLang="en-US" sz="2500" b="1" spc="-150" dirty="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063A7A"/>
                </a:solidFill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송달</a:t>
            </a:r>
            <a:endParaRPr lang="ko-KR" altLang="en-US" sz="2500" b="1" spc="-15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rgbClr val="063A7A"/>
              </a:solidFill>
              <a:latin typeface="08서울남산체 B" panose="02020603020101020101" pitchFamily="18" charset="-127"/>
              <a:ea typeface="08서울남산체 B" panose="02020603020101020101" pitchFamily="18" charset="-127"/>
            </a:endParaRPr>
          </a:p>
        </p:txBody>
      </p:sp>
      <p:cxnSp>
        <p:nvCxnSpPr>
          <p:cNvPr id="21" name="직선 연결선 20"/>
          <p:cNvCxnSpPr/>
          <p:nvPr/>
        </p:nvCxnSpPr>
        <p:spPr>
          <a:xfrm>
            <a:off x="539552" y="1079631"/>
            <a:ext cx="8064000" cy="0"/>
          </a:xfrm>
          <a:prstGeom prst="line">
            <a:avLst/>
          </a:prstGeom>
          <a:ln w="38100">
            <a:solidFill>
              <a:srgbClr val="6982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연결선 21"/>
          <p:cNvCxnSpPr/>
          <p:nvPr/>
        </p:nvCxnSpPr>
        <p:spPr>
          <a:xfrm>
            <a:off x="530587" y="6192487"/>
            <a:ext cx="8064896" cy="0"/>
          </a:xfrm>
          <a:prstGeom prst="line">
            <a:avLst/>
          </a:prstGeom>
          <a:ln w="12700">
            <a:solidFill>
              <a:srgbClr val="AEADB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4" name="그림 23" descr="캠코 배경없음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5886073" y="6303415"/>
            <a:ext cx="2718000" cy="195034"/>
          </a:xfrm>
          <a:prstGeom prst="rect">
            <a:avLst/>
          </a:prstGeom>
        </p:spPr>
      </p:pic>
      <p:pic>
        <p:nvPicPr>
          <p:cNvPr id="26" name="그림 25" descr="kamco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7913248" y="755739"/>
            <a:ext cx="691200" cy="196766"/>
          </a:xfrm>
          <a:prstGeom prst="rect">
            <a:avLst/>
          </a:prstGeom>
        </p:spPr>
      </p:pic>
      <p:sp>
        <p:nvSpPr>
          <p:cNvPr id="23" name="직사각형 22"/>
          <p:cNvSpPr/>
          <p:nvPr/>
        </p:nvSpPr>
        <p:spPr>
          <a:xfrm>
            <a:off x="549689" y="1252172"/>
            <a:ext cx="8054384" cy="33861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TextBox 24"/>
          <p:cNvSpPr txBox="1"/>
          <p:nvPr/>
        </p:nvSpPr>
        <p:spPr>
          <a:xfrm>
            <a:off x="760645" y="1228689"/>
            <a:ext cx="784169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400"/>
              </a:lnSpc>
            </a:pPr>
            <a:r>
              <a:rPr lang="ko-KR" altLang="en-US" dirty="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0D0D0D"/>
                </a:solidFill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지방세기본법시행령 제</a:t>
            </a:r>
            <a:r>
              <a:rPr lang="en-US" altLang="ko-KR" dirty="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0D0D0D"/>
                </a:solidFill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18</a:t>
            </a:r>
            <a:r>
              <a:rPr lang="ko-KR" altLang="en-US" dirty="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0D0D0D"/>
                </a:solidFill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조에 따른 공시송달</a:t>
            </a:r>
            <a:endParaRPr lang="ko-KR" altLang="en-US" dirty="0">
              <a:latin typeface="08서울남산체 B" panose="02020603020101020101" pitchFamily="18" charset="-127"/>
              <a:ea typeface="08서울남산체 B" panose="02020603020101020101" pitchFamily="18" charset="-127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548480" y="1275979"/>
            <a:ext cx="42191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200" b="1" spc="-200" dirty="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698299"/>
                </a:solidFill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▶ </a:t>
            </a:r>
            <a:endParaRPr lang="ko-KR" altLang="en-US" sz="1200" dirty="0">
              <a:latin typeface="08서울남산체 B" panose="02020603020101020101" pitchFamily="18" charset="-127"/>
              <a:ea typeface="08서울남산체 B" panose="02020603020101020101" pitchFamily="18" charset="-127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522025" y="1783266"/>
            <a:ext cx="8053173" cy="13529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dirty="0"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 </a:t>
            </a:r>
            <a:r>
              <a:rPr lang="ko-KR" altLang="en-US" sz="1200" dirty="0" smtClean="0"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  </a:t>
            </a:r>
            <a:r>
              <a:rPr lang="en-US" altLang="ko-KR" sz="1200" dirty="0" smtClean="0"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1</a:t>
            </a:r>
            <a:r>
              <a:rPr lang="ko-KR" altLang="en-US" sz="1200" dirty="0" smtClean="0"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항</a:t>
            </a:r>
            <a:r>
              <a:rPr lang="en-US" altLang="ko-KR" sz="1200" dirty="0"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 </a:t>
            </a:r>
            <a:r>
              <a:rPr lang="en-US" altLang="ko-KR" sz="1200" dirty="0" smtClean="0"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- </a:t>
            </a:r>
            <a:r>
              <a:rPr lang="ko-KR" altLang="en-US" sz="1200" dirty="0" smtClean="0"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서류를 우편으로 송달하였으나 받을 사람이 없는 것으로 확인되어 반송됨으로써</a:t>
            </a:r>
            <a:endParaRPr lang="en-US" altLang="ko-KR" sz="1200" dirty="0" smtClean="0">
              <a:latin typeface="08서울남산체 B" panose="02020603020101020101" pitchFamily="18" charset="-127"/>
              <a:ea typeface="08서울남산체 B" panose="02020603020101020101" pitchFamily="18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200" dirty="0"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 </a:t>
            </a:r>
            <a:r>
              <a:rPr lang="en-US" altLang="ko-KR" sz="1200" dirty="0" smtClean="0"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         </a:t>
            </a:r>
            <a:r>
              <a:rPr lang="ko-KR" altLang="en-US" sz="1200" dirty="0" smtClean="0"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납부기한 내에 송달하기 곤란하다고 인정되는 경우</a:t>
            </a:r>
            <a:endParaRPr lang="en-US" altLang="ko-KR" sz="1200" dirty="0" smtClean="0">
              <a:latin typeface="08서울남산체 B" panose="02020603020101020101" pitchFamily="18" charset="-127"/>
              <a:ea typeface="08서울남산체 B" panose="02020603020101020101" pitchFamily="18" charset="-127"/>
            </a:endParaRPr>
          </a:p>
          <a:p>
            <a:pPr>
              <a:lnSpc>
                <a:spcPct val="250000"/>
              </a:lnSpc>
            </a:pPr>
            <a:r>
              <a:rPr lang="en-US" altLang="ko-KR" sz="1200" dirty="0"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 </a:t>
            </a:r>
            <a:r>
              <a:rPr lang="en-US" altLang="ko-KR" sz="1200" dirty="0" smtClean="0"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  2</a:t>
            </a:r>
            <a:r>
              <a:rPr lang="ko-KR" altLang="en-US" sz="1200" dirty="0" smtClean="0"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항 </a:t>
            </a:r>
            <a:r>
              <a:rPr lang="en-US" altLang="ko-KR" sz="1200" dirty="0" smtClean="0"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- </a:t>
            </a:r>
            <a:r>
              <a:rPr lang="ko-KR" altLang="en-US" sz="1200" dirty="0" smtClean="0"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세무공무원이 </a:t>
            </a:r>
            <a:r>
              <a:rPr lang="en-US" altLang="ko-KR" sz="1200" dirty="0" smtClean="0"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2</a:t>
            </a:r>
            <a:r>
              <a:rPr lang="ko-KR" altLang="en-US" sz="1200" dirty="0" smtClean="0"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회 이상 납세자를 방문하여 서류를 교부하려고 하였으나</a:t>
            </a:r>
            <a:endParaRPr lang="en-US" altLang="ko-KR" sz="1200" dirty="0" smtClean="0">
              <a:latin typeface="08서울남산체 B" panose="02020603020101020101" pitchFamily="18" charset="-127"/>
              <a:ea typeface="08서울남산체 B" panose="02020603020101020101" pitchFamily="18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200" dirty="0"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 </a:t>
            </a:r>
            <a:r>
              <a:rPr lang="en-US" altLang="ko-KR" sz="1200" dirty="0" smtClean="0"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         </a:t>
            </a:r>
            <a:r>
              <a:rPr lang="ko-KR" altLang="en-US" sz="1200" dirty="0" smtClean="0"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받을 사람이 없는 것으로 확인되어 납부기한 내에 송달하기 곤란하다고 인정되는 경우</a:t>
            </a:r>
            <a:endParaRPr lang="en-US" altLang="ko-KR" sz="1200" dirty="0" smtClean="0">
              <a:latin typeface="08서울남산체 B" panose="02020603020101020101" pitchFamily="18" charset="-127"/>
              <a:ea typeface="08서울남산체 B" panose="02020603020101020101" pitchFamily="18" charset="-127"/>
            </a:endParaRPr>
          </a:p>
        </p:txBody>
      </p:sp>
      <p:sp>
        <p:nvSpPr>
          <p:cNvPr id="34" name="모서리가 둥근 직사각형 33"/>
          <p:cNvSpPr/>
          <p:nvPr/>
        </p:nvSpPr>
        <p:spPr>
          <a:xfrm>
            <a:off x="522025" y="3341221"/>
            <a:ext cx="8064896" cy="1368151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08서울남산체 B" panose="02020603020101020101" pitchFamily="18" charset="-127"/>
              <a:ea typeface="08서울남산체 B" panose="02020603020101020101" pitchFamily="18" charset="-127"/>
            </a:endParaRPr>
          </a:p>
        </p:txBody>
      </p:sp>
      <p:sp>
        <p:nvSpPr>
          <p:cNvPr id="40" name="직사각형 39"/>
          <p:cNvSpPr/>
          <p:nvPr/>
        </p:nvSpPr>
        <p:spPr>
          <a:xfrm>
            <a:off x="683568" y="3413229"/>
            <a:ext cx="42191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200" b="1" spc="-200" dirty="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698299"/>
                </a:solidFill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▶ </a:t>
            </a:r>
            <a:endParaRPr lang="ko-KR" altLang="en-US" sz="1200" dirty="0">
              <a:latin typeface="08서울남산체 B" panose="02020603020101020101" pitchFamily="18" charset="-127"/>
              <a:ea typeface="08서울남산체 B" panose="02020603020101020101" pitchFamily="18" charset="-127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899592" y="3413228"/>
            <a:ext cx="760480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 smtClean="0"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관련 판례 </a:t>
            </a:r>
            <a:r>
              <a:rPr lang="en-US" altLang="ko-KR" sz="1200" dirty="0" smtClean="0"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(</a:t>
            </a:r>
            <a:r>
              <a:rPr lang="ko-KR" altLang="en-US" sz="1200" dirty="0" smtClean="0"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대법원 </a:t>
            </a:r>
            <a:r>
              <a:rPr lang="en-US" altLang="ko-KR" sz="1200" dirty="0" smtClean="0"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2014.11.27. </a:t>
            </a:r>
            <a:r>
              <a:rPr lang="ko-KR" altLang="en-US" sz="1200" dirty="0" smtClean="0"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선고 </a:t>
            </a:r>
            <a:r>
              <a:rPr lang="en-US" altLang="ko-KR" sz="1200" dirty="0" smtClean="0"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2014</a:t>
            </a:r>
            <a:r>
              <a:rPr lang="ko-KR" altLang="en-US" sz="1200" dirty="0" smtClean="0"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두 </a:t>
            </a:r>
            <a:r>
              <a:rPr lang="en-US" altLang="ko-KR" sz="1200" dirty="0" smtClean="0"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9745 </a:t>
            </a:r>
            <a:r>
              <a:rPr lang="ko-KR" altLang="en-US" sz="1200" dirty="0" smtClean="0"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판결</a:t>
            </a:r>
            <a:r>
              <a:rPr lang="en-US" altLang="ko-KR" sz="1200" dirty="0" smtClean="0"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30587" y="3648438"/>
            <a:ext cx="8064897" cy="9889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000" dirty="0" smtClean="0"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   ‘</a:t>
            </a:r>
            <a:r>
              <a:rPr lang="ko-KR" altLang="en-US" sz="1000" dirty="0" smtClean="0"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수취인 부재</a:t>
            </a:r>
            <a:r>
              <a:rPr lang="en-US" altLang="ko-KR" sz="1000" dirty="0" smtClean="0"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’(</a:t>
            </a:r>
            <a:r>
              <a:rPr lang="ko-KR" altLang="en-US" sz="1000" dirty="0" smtClean="0"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받을 사람이 없는 것</a:t>
            </a:r>
            <a:r>
              <a:rPr lang="en-US" altLang="ko-KR" sz="1000" dirty="0" smtClean="0"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)</a:t>
            </a:r>
            <a:r>
              <a:rPr lang="ko-KR" altLang="en-US" sz="1000" dirty="0" smtClean="0"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는 납세의무자가 기존의 송달할 장소로부터 장기간 이탈한 경우로서</a:t>
            </a:r>
            <a:endParaRPr lang="en-US" altLang="ko-KR" sz="1000" dirty="0" smtClean="0">
              <a:latin typeface="08서울남산체 B" panose="02020603020101020101" pitchFamily="18" charset="-127"/>
              <a:ea typeface="08서울남산체 B" panose="02020603020101020101" pitchFamily="18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000" dirty="0" smtClean="0"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   과세권 행사에 장애가 있는 경우로 한정하여 해석함이 상당</a:t>
            </a:r>
            <a:endParaRPr lang="en-US" altLang="ko-KR" sz="1000" dirty="0" smtClean="0">
              <a:latin typeface="08서울남산체 B" panose="02020603020101020101" pitchFamily="18" charset="-127"/>
              <a:ea typeface="08서울남산체 B" panose="02020603020101020101" pitchFamily="18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000" dirty="0" smtClean="0"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   ※ </a:t>
            </a:r>
            <a:r>
              <a:rPr lang="ko-KR" altLang="en-US" sz="1000" dirty="0" smtClean="0"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검토 </a:t>
            </a:r>
            <a:r>
              <a:rPr lang="en-US" altLang="ko-KR" sz="1000" dirty="0" smtClean="0"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: </a:t>
            </a:r>
            <a:r>
              <a:rPr lang="ko-KR" altLang="en-US" sz="1000" dirty="0" smtClean="0"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집합건물임에도 동</a:t>
            </a:r>
            <a:r>
              <a:rPr lang="en-US" altLang="ko-KR" sz="1000" dirty="0" smtClean="0"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·</a:t>
            </a:r>
            <a:r>
              <a:rPr lang="ko-KR" altLang="en-US" sz="1000" dirty="0" smtClean="0"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호수 기재 없이 송달</a:t>
            </a:r>
            <a:r>
              <a:rPr lang="en-US" altLang="ko-KR" sz="1000" dirty="0" smtClean="0"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(</a:t>
            </a:r>
            <a:r>
              <a:rPr lang="ko-KR" altLang="en-US" sz="1000" dirty="0" smtClean="0"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특정되지 않음</a:t>
            </a:r>
            <a:r>
              <a:rPr lang="en-US" altLang="ko-KR" sz="1000" dirty="0" smtClean="0"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altLang="ko-KR" sz="1000" dirty="0"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 </a:t>
            </a:r>
            <a:r>
              <a:rPr lang="en-US" altLang="ko-KR" sz="1000" dirty="0" smtClean="0"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              </a:t>
            </a:r>
            <a:r>
              <a:rPr lang="ko-KR" altLang="en-US" sz="1000" dirty="0" smtClean="0"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장기간 이탈을 어떻게 볼 것인지</a:t>
            </a:r>
            <a:r>
              <a:rPr lang="en-US" altLang="ko-KR" sz="1000" dirty="0"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 </a:t>
            </a:r>
            <a:r>
              <a:rPr lang="en-US" altLang="ko-KR" sz="1000" dirty="0" smtClean="0"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- 1</a:t>
            </a:r>
            <a:r>
              <a:rPr lang="ko-KR" altLang="en-US" sz="1000" dirty="0" smtClean="0"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회 납부기한 또는 공매 연기 동일 주소 시 </a:t>
            </a:r>
            <a:r>
              <a:rPr lang="en-US" altLang="ko-KR" sz="1000" dirty="0" smtClean="0"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2</a:t>
            </a:r>
            <a:r>
              <a:rPr lang="ko-KR" altLang="en-US" sz="1000" dirty="0" smtClean="0"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회 때 공시</a:t>
            </a:r>
            <a:endParaRPr lang="en-US" altLang="ko-KR" sz="1000" dirty="0" smtClean="0">
              <a:latin typeface="08서울남산체 B" panose="02020603020101020101" pitchFamily="18" charset="-127"/>
              <a:ea typeface="08서울남산체 B" panose="02020603020101020101" pitchFamily="18" charset="-127"/>
            </a:endParaRPr>
          </a:p>
        </p:txBody>
      </p:sp>
      <p:sp>
        <p:nvSpPr>
          <p:cNvPr id="17" name="모서리가 둥근 직사각형 16"/>
          <p:cNvSpPr/>
          <p:nvPr/>
        </p:nvSpPr>
        <p:spPr>
          <a:xfrm>
            <a:off x="522025" y="4853389"/>
            <a:ext cx="8064896" cy="1095891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08서울남산체 B" panose="02020603020101020101" pitchFamily="18" charset="-127"/>
              <a:ea typeface="08서울남산체 B" panose="02020603020101020101" pitchFamily="18" charset="-127"/>
            </a:endParaRPr>
          </a:p>
        </p:txBody>
      </p:sp>
      <p:sp>
        <p:nvSpPr>
          <p:cNvPr id="18" name="직사각형 17"/>
          <p:cNvSpPr/>
          <p:nvPr/>
        </p:nvSpPr>
        <p:spPr>
          <a:xfrm>
            <a:off x="692532" y="4929241"/>
            <a:ext cx="42191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200" b="1" spc="-200" dirty="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698299"/>
                </a:solidFill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▶ </a:t>
            </a:r>
            <a:endParaRPr lang="ko-KR" altLang="en-US" sz="1200" dirty="0">
              <a:latin typeface="08서울남산체 B" panose="02020603020101020101" pitchFamily="18" charset="-127"/>
              <a:ea typeface="08서울남산체 B" panose="02020603020101020101" pitchFamily="18" charset="-127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908556" y="4929240"/>
            <a:ext cx="760480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 smtClean="0"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국세기본법 기본 통칙 </a:t>
            </a:r>
            <a:r>
              <a:rPr lang="en-US" altLang="ko-KR" sz="1200" dirty="0" smtClean="0"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11-7-1 [</a:t>
            </a:r>
            <a:r>
              <a:rPr lang="ko-KR" altLang="en-US" sz="1200" dirty="0" smtClean="0"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주소 또는 영업소가 분명하지 아니한 때</a:t>
            </a:r>
            <a:r>
              <a:rPr lang="en-US" altLang="ko-KR" sz="1200" dirty="0" smtClean="0"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9551" y="5164450"/>
            <a:ext cx="8064897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000" dirty="0" smtClean="0"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  </a:t>
            </a:r>
            <a:r>
              <a:rPr lang="ko-KR" altLang="en-US" sz="1000" dirty="0" smtClean="0"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법 제</a:t>
            </a:r>
            <a:r>
              <a:rPr lang="en-US" altLang="ko-KR" sz="1000" dirty="0" smtClean="0"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11</a:t>
            </a:r>
            <a:r>
              <a:rPr lang="ko-KR" altLang="en-US" sz="1000" dirty="0" smtClean="0"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조 제</a:t>
            </a:r>
            <a:r>
              <a:rPr lang="en-US" altLang="ko-KR" sz="1000" dirty="0" smtClean="0"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1</a:t>
            </a:r>
            <a:r>
              <a:rPr lang="ko-KR" altLang="en-US" sz="1000" dirty="0" smtClean="0"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항 제</a:t>
            </a:r>
            <a:r>
              <a:rPr lang="en-US" altLang="ko-KR" sz="1000" dirty="0" smtClean="0"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2</a:t>
            </a:r>
            <a:r>
              <a:rPr lang="ko-KR" altLang="en-US" sz="1000" dirty="0" err="1" smtClean="0"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호에서</a:t>
            </a:r>
            <a:r>
              <a:rPr lang="ko-KR" altLang="en-US" sz="1000" dirty="0" smtClean="0"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 </a:t>
            </a:r>
            <a:r>
              <a:rPr lang="en-US" altLang="ko-KR" sz="1000" dirty="0" smtClean="0"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“</a:t>
            </a:r>
            <a:r>
              <a:rPr lang="ko-KR" altLang="en-US" sz="1000" dirty="0" smtClean="0"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주소 또는 영업소가 분명하지 아니한 때</a:t>
            </a:r>
            <a:r>
              <a:rPr lang="en-US" altLang="ko-KR" sz="1000" dirty="0" smtClean="0"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”</a:t>
            </a:r>
            <a:r>
              <a:rPr lang="ko-KR" altLang="en-US" sz="1000" dirty="0" smtClean="0"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라 함은</a:t>
            </a:r>
            <a:endParaRPr lang="en-US" altLang="ko-KR" sz="1000" dirty="0" smtClean="0">
              <a:latin typeface="08서울남산체 B" panose="02020603020101020101" pitchFamily="18" charset="-127"/>
              <a:ea typeface="08서울남산체 B" panose="02020603020101020101" pitchFamily="18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000" dirty="0" smtClean="0"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  선량한 관리자의 주의로 송달을 받아야 할 자의 주소 또는 영업소를 조사</a:t>
            </a:r>
            <a:r>
              <a:rPr lang="en-US" altLang="ko-KR" sz="1000" dirty="0" smtClean="0"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(</a:t>
            </a:r>
            <a:r>
              <a:rPr lang="ko-KR" altLang="en-US" sz="1000" dirty="0" smtClean="0"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시</a:t>
            </a:r>
            <a:r>
              <a:rPr lang="en-US" altLang="ko-KR" sz="1000" dirty="0" smtClean="0"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·</a:t>
            </a:r>
            <a:r>
              <a:rPr lang="ko-KR" altLang="en-US" sz="1000" dirty="0" smtClean="0"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읍</a:t>
            </a:r>
            <a:r>
              <a:rPr lang="en-US" altLang="ko-KR" sz="1000" dirty="0" smtClean="0"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·</a:t>
            </a:r>
            <a:r>
              <a:rPr lang="ko-KR" altLang="en-US" sz="1000" dirty="0" smtClean="0"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면</a:t>
            </a:r>
            <a:r>
              <a:rPr lang="en-US" altLang="ko-KR" sz="1000" dirty="0" smtClean="0"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·</a:t>
            </a:r>
            <a:r>
              <a:rPr lang="ko-KR" altLang="en-US" sz="1000" dirty="0" smtClean="0"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동의 주민등록사항</a:t>
            </a:r>
            <a:r>
              <a:rPr lang="en-US" altLang="ko-KR" sz="1000" dirty="0" smtClean="0"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, </a:t>
            </a:r>
            <a:r>
              <a:rPr lang="ko-KR" altLang="en-US" sz="1000" dirty="0" err="1" smtClean="0"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인근자</a:t>
            </a:r>
            <a:r>
              <a:rPr lang="en-US" altLang="ko-KR" sz="1000" dirty="0" smtClean="0"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, </a:t>
            </a:r>
            <a:r>
              <a:rPr lang="ko-KR" altLang="en-US" sz="1000" dirty="0" smtClean="0"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거래처 및 관계자 탐문</a:t>
            </a:r>
            <a:r>
              <a:rPr lang="en-US" altLang="ko-KR" sz="1000" dirty="0" smtClean="0"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, </a:t>
            </a:r>
            <a:r>
              <a:rPr lang="ko-KR" altLang="en-US" sz="1000" dirty="0" smtClean="0"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등기부 등의 조사</a:t>
            </a:r>
            <a:r>
              <a:rPr lang="en-US" altLang="ko-KR" sz="1000" dirty="0" smtClean="0"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altLang="ko-KR" sz="1000" dirty="0"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 </a:t>
            </a:r>
            <a:r>
              <a:rPr lang="en-US" altLang="ko-KR" sz="1000" dirty="0" smtClean="0"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 </a:t>
            </a:r>
            <a:r>
              <a:rPr lang="ko-KR" altLang="en-US" sz="1000" dirty="0" smtClean="0"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하였으나 그 주소 또는 영업소를 알 수 없는 경우를 말한다</a:t>
            </a:r>
            <a:r>
              <a:rPr lang="en-US" altLang="ko-KR" sz="1000" dirty="0" smtClean="0"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511088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직사각형 29"/>
          <p:cNvSpPr/>
          <p:nvPr/>
        </p:nvSpPr>
        <p:spPr>
          <a:xfrm>
            <a:off x="549689" y="3419154"/>
            <a:ext cx="8054384" cy="33861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직사각형 17"/>
          <p:cNvSpPr/>
          <p:nvPr/>
        </p:nvSpPr>
        <p:spPr>
          <a:xfrm>
            <a:off x="549689" y="1364251"/>
            <a:ext cx="8054384" cy="33861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extBox 1"/>
          <p:cNvSpPr txBox="1"/>
          <p:nvPr/>
        </p:nvSpPr>
        <p:spPr>
          <a:xfrm>
            <a:off x="516164" y="537582"/>
            <a:ext cx="3801041" cy="477054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altLang="ko-KR" sz="2500" b="1" spc="-150" dirty="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063A7A"/>
                </a:solidFill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Ⅲ. </a:t>
            </a:r>
            <a:r>
              <a:rPr lang="ko-KR" altLang="en-US" sz="2500" b="1" spc="-150" dirty="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063A7A"/>
                </a:solidFill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공매 의뢰 전 말소검토대상</a:t>
            </a:r>
            <a:endParaRPr lang="ko-KR" altLang="en-US" sz="2500" b="1" spc="-15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rgbClr val="063A7A"/>
              </a:solidFill>
              <a:latin typeface="08서울남산체 B" panose="02020603020101020101" pitchFamily="18" charset="-127"/>
              <a:ea typeface="08서울남산체 B" panose="02020603020101020101" pitchFamily="18" charset="-127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60645" y="1340768"/>
            <a:ext cx="784169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400"/>
              </a:lnSpc>
            </a:pPr>
            <a:r>
              <a:rPr lang="ko-KR" altLang="en-US" dirty="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0D0D0D"/>
                </a:solidFill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전 소유자 가압류</a:t>
            </a:r>
            <a:endParaRPr lang="ko-KR" altLang="en-US" dirty="0">
              <a:latin typeface="08서울남산체 B" panose="02020603020101020101" pitchFamily="18" charset="-127"/>
              <a:ea typeface="08서울남산체 B" panose="02020603020101020101" pitchFamily="18" charset="-127"/>
            </a:endParaRPr>
          </a:p>
        </p:txBody>
      </p:sp>
      <p:cxnSp>
        <p:nvCxnSpPr>
          <p:cNvPr id="21" name="직선 연결선 20"/>
          <p:cNvCxnSpPr/>
          <p:nvPr/>
        </p:nvCxnSpPr>
        <p:spPr>
          <a:xfrm>
            <a:off x="539552" y="1079631"/>
            <a:ext cx="8064000" cy="0"/>
          </a:xfrm>
          <a:prstGeom prst="line">
            <a:avLst/>
          </a:prstGeom>
          <a:ln w="38100">
            <a:solidFill>
              <a:srgbClr val="6982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연결선 21"/>
          <p:cNvCxnSpPr/>
          <p:nvPr/>
        </p:nvCxnSpPr>
        <p:spPr>
          <a:xfrm>
            <a:off x="530587" y="6021288"/>
            <a:ext cx="8064896" cy="0"/>
          </a:xfrm>
          <a:prstGeom prst="line">
            <a:avLst/>
          </a:prstGeom>
          <a:ln w="12700">
            <a:solidFill>
              <a:srgbClr val="AEADB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4" name="그림 23" descr="캠코 배경없음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5886073" y="6303415"/>
            <a:ext cx="2718000" cy="195034"/>
          </a:xfrm>
          <a:prstGeom prst="rect">
            <a:avLst/>
          </a:prstGeom>
        </p:spPr>
      </p:pic>
      <p:pic>
        <p:nvPicPr>
          <p:cNvPr id="26" name="그림 25" descr="kamco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7913248" y="755739"/>
            <a:ext cx="691200" cy="196766"/>
          </a:xfrm>
          <a:prstGeom prst="rect">
            <a:avLst/>
          </a:prstGeom>
        </p:spPr>
      </p:pic>
      <p:sp>
        <p:nvSpPr>
          <p:cNvPr id="89" name="직사각형 88"/>
          <p:cNvSpPr/>
          <p:nvPr/>
        </p:nvSpPr>
        <p:spPr>
          <a:xfrm>
            <a:off x="548480" y="1388058"/>
            <a:ext cx="42191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200" b="1" spc="-200" dirty="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698299"/>
                </a:solidFill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▶ </a:t>
            </a:r>
            <a:endParaRPr lang="ko-KR" altLang="en-US" sz="1200" dirty="0">
              <a:latin typeface="08서울남산체 B" panose="02020603020101020101" pitchFamily="18" charset="-127"/>
              <a:ea typeface="08서울남산체 B" panose="02020603020101020101" pitchFamily="18" charset="-127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9689" y="1798679"/>
            <a:ext cx="805317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 dirty="0" smtClean="0">
                <a:latin typeface="+mn-ea"/>
              </a:rPr>
              <a:t>   </a:t>
            </a:r>
            <a:r>
              <a:rPr lang="ko-KR" altLang="en-US" sz="1200" dirty="0" smtClean="0">
                <a:latin typeface="+mn-ea"/>
              </a:rPr>
              <a:t>가</a:t>
            </a:r>
            <a:r>
              <a:rPr lang="en-US" altLang="ko-KR" sz="1200" dirty="0" smtClean="0">
                <a:latin typeface="+mn-ea"/>
              </a:rPr>
              <a:t>. </a:t>
            </a:r>
            <a:r>
              <a:rPr lang="ko-KR" altLang="en-US" sz="1200" dirty="0" smtClean="0">
                <a:latin typeface="+mn-ea"/>
              </a:rPr>
              <a:t>말소 사유 </a:t>
            </a:r>
            <a:r>
              <a:rPr lang="en-US" altLang="ko-KR" sz="1200" dirty="0" smtClean="0">
                <a:latin typeface="+mn-ea"/>
              </a:rPr>
              <a:t>: </a:t>
            </a:r>
            <a:r>
              <a:rPr lang="ko-KR" altLang="en-US" sz="1200" dirty="0" smtClean="0">
                <a:latin typeface="+mn-ea"/>
              </a:rPr>
              <a:t>전 소유자 가압류는 현 소유자 </a:t>
            </a:r>
            <a:r>
              <a:rPr lang="ko-KR" altLang="en-US" sz="1200" dirty="0" err="1" smtClean="0">
                <a:latin typeface="+mn-ea"/>
              </a:rPr>
              <a:t>압류권자</a:t>
            </a:r>
            <a:r>
              <a:rPr lang="en-US" altLang="ko-KR" sz="1200" dirty="0" smtClean="0">
                <a:latin typeface="+mn-ea"/>
              </a:rPr>
              <a:t>(</a:t>
            </a:r>
            <a:r>
              <a:rPr lang="ko-KR" altLang="en-US" sz="1200" dirty="0" smtClean="0">
                <a:latin typeface="+mn-ea"/>
              </a:rPr>
              <a:t>조세</a:t>
            </a:r>
            <a:r>
              <a:rPr lang="en-US" altLang="ko-KR" sz="1200" dirty="0" smtClean="0">
                <a:latin typeface="+mn-ea"/>
              </a:rPr>
              <a:t>)</a:t>
            </a:r>
            <a:r>
              <a:rPr lang="ko-KR" altLang="en-US" sz="1200" dirty="0" smtClean="0">
                <a:latin typeface="+mn-ea"/>
              </a:rPr>
              <a:t>보다 </a:t>
            </a:r>
            <a:r>
              <a:rPr lang="ko-KR" altLang="en-US" sz="1200" dirty="0" err="1" smtClean="0">
                <a:latin typeface="+mn-ea"/>
              </a:rPr>
              <a:t>우선배분되므로</a:t>
            </a:r>
            <a:endParaRPr lang="en-US" altLang="ko-KR" sz="1200" dirty="0" smtClean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200" dirty="0" smtClean="0">
                <a:latin typeface="+mn-ea"/>
              </a:rPr>
              <a:t>                      </a:t>
            </a:r>
            <a:r>
              <a:rPr lang="ko-KR" altLang="en-US" sz="1200" dirty="0" smtClean="0">
                <a:latin typeface="+mn-ea"/>
              </a:rPr>
              <a:t>공매 진행 실익이 없는 경우가 많음</a:t>
            </a:r>
            <a:endParaRPr lang="en-US" altLang="ko-KR" sz="1200" dirty="0" smtClean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1200" dirty="0" smtClean="0">
                <a:latin typeface="+mn-ea"/>
              </a:rPr>
              <a:t>   나</a:t>
            </a:r>
            <a:r>
              <a:rPr lang="en-US" altLang="ko-KR" sz="1200" dirty="0" smtClean="0">
                <a:latin typeface="+mn-ea"/>
              </a:rPr>
              <a:t>. </a:t>
            </a:r>
            <a:r>
              <a:rPr lang="ko-KR" altLang="en-US" sz="1200" dirty="0" smtClean="0">
                <a:latin typeface="+mn-ea"/>
              </a:rPr>
              <a:t>말소 방법 </a:t>
            </a:r>
            <a:r>
              <a:rPr lang="en-US" altLang="ko-KR" sz="1200" dirty="0" smtClean="0">
                <a:latin typeface="+mn-ea"/>
              </a:rPr>
              <a:t>: </a:t>
            </a:r>
            <a:r>
              <a:rPr lang="ko-KR" altLang="en-US" sz="1200" dirty="0" smtClean="0">
                <a:latin typeface="+mn-ea"/>
              </a:rPr>
              <a:t>가압류 집행 후 </a:t>
            </a:r>
            <a:r>
              <a:rPr lang="en-US" altLang="ko-KR" sz="1200" dirty="0" smtClean="0">
                <a:latin typeface="+mn-ea"/>
              </a:rPr>
              <a:t>3</a:t>
            </a:r>
            <a:r>
              <a:rPr lang="ko-KR" altLang="en-US" sz="1200" dirty="0" smtClean="0">
                <a:latin typeface="+mn-ea"/>
              </a:rPr>
              <a:t>년이 경과하여도 </a:t>
            </a:r>
            <a:r>
              <a:rPr lang="ko-KR" altLang="en-US" sz="1200" dirty="0" err="1" smtClean="0">
                <a:latin typeface="+mn-ea"/>
              </a:rPr>
              <a:t>본안의</a:t>
            </a:r>
            <a:r>
              <a:rPr lang="ko-KR" altLang="en-US" sz="1200" dirty="0" smtClean="0">
                <a:latin typeface="+mn-ea"/>
              </a:rPr>
              <a:t> 소를 제기하지 않을 경우</a:t>
            </a:r>
            <a:endParaRPr lang="en-US" altLang="ko-KR" sz="1200" dirty="0" smtClean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200" dirty="0" smtClean="0">
                <a:latin typeface="+mn-ea"/>
              </a:rPr>
              <a:t>                      </a:t>
            </a:r>
            <a:r>
              <a:rPr lang="ko-KR" altLang="en-US" sz="1200" dirty="0" smtClean="0">
                <a:latin typeface="+mn-ea"/>
              </a:rPr>
              <a:t>채권자대위권으로 사정변경에 의한 가압류 취소신청을 하여 법원 결정을 득한 후</a:t>
            </a:r>
            <a:endParaRPr lang="en-US" altLang="ko-KR" sz="1200" dirty="0" smtClean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200" dirty="0" smtClean="0">
                <a:latin typeface="+mn-ea"/>
              </a:rPr>
              <a:t>                      </a:t>
            </a:r>
            <a:r>
              <a:rPr lang="ko-KR" altLang="en-US" sz="1200" dirty="0" smtClean="0">
                <a:latin typeface="+mn-ea"/>
              </a:rPr>
              <a:t>가압류 말소조치 후에 공매 진행함이 타당</a:t>
            </a:r>
            <a:endParaRPr lang="en-US" altLang="ko-KR" sz="1200" dirty="0" smtClean="0">
              <a:latin typeface="+mn-ea"/>
            </a:endParaRPr>
          </a:p>
        </p:txBody>
      </p:sp>
      <p:sp>
        <p:nvSpPr>
          <p:cNvPr id="94" name="TextBox 93"/>
          <p:cNvSpPr txBox="1"/>
          <p:nvPr/>
        </p:nvSpPr>
        <p:spPr>
          <a:xfrm>
            <a:off x="760645" y="3388406"/>
            <a:ext cx="769978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400"/>
              </a:lnSpc>
            </a:pPr>
            <a:r>
              <a:rPr lang="ko-KR" altLang="en-US" dirty="0" err="1" smtClean="0"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선순위</a:t>
            </a:r>
            <a:r>
              <a:rPr lang="ko-KR" altLang="en-US" dirty="0" smtClean="0"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 가처분 </a:t>
            </a:r>
            <a:r>
              <a:rPr lang="en-US" altLang="ko-KR" dirty="0" smtClean="0"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/ </a:t>
            </a:r>
            <a:r>
              <a:rPr lang="ko-KR" altLang="en-US" dirty="0" err="1" smtClean="0"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선순위</a:t>
            </a:r>
            <a:r>
              <a:rPr lang="ko-KR" altLang="en-US" dirty="0" smtClean="0"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 가등기</a:t>
            </a:r>
            <a:endParaRPr lang="ko-KR" altLang="en-US" dirty="0">
              <a:latin typeface="08서울남산체 B" panose="02020603020101020101" pitchFamily="18" charset="-127"/>
              <a:ea typeface="08서울남산체 B" panose="02020603020101020101" pitchFamily="18" charset="-127"/>
            </a:endParaRPr>
          </a:p>
        </p:txBody>
      </p:sp>
      <p:sp>
        <p:nvSpPr>
          <p:cNvPr id="95" name="직사각형 94"/>
          <p:cNvSpPr/>
          <p:nvPr/>
        </p:nvSpPr>
        <p:spPr>
          <a:xfrm>
            <a:off x="548480" y="3436657"/>
            <a:ext cx="42191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200" b="1" spc="-200" dirty="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698299"/>
                </a:solidFill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▶ </a:t>
            </a:r>
            <a:endParaRPr lang="ko-KR" altLang="en-US" sz="1200" dirty="0">
              <a:latin typeface="08서울남산체 B" panose="02020603020101020101" pitchFamily="18" charset="-127"/>
              <a:ea typeface="08서울남산체 B" panose="02020603020101020101" pitchFamily="18" charset="-127"/>
            </a:endParaRPr>
          </a:p>
        </p:txBody>
      </p:sp>
      <p:grpSp>
        <p:nvGrpSpPr>
          <p:cNvPr id="19" name="그룹 18"/>
          <p:cNvGrpSpPr/>
          <p:nvPr/>
        </p:nvGrpSpPr>
        <p:grpSpPr>
          <a:xfrm>
            <a:off x="549689" y="4175849"/>
            <a:ext cx="1718056" cy="1413391"/>
            <a:chOff x="1863519" y="2728115"/>
            <a:chExt cx="1402853" cy="1413391"/>
          </a:xfrm>
        </p:grpSpPr>
        <p:sp>
          <p:nvSpPr>
            <p:cNvPr id="29" name="TextBox 28"/>
            <p:cNvSpPr txBox="1"/>
            <p:nvPr/>
          </p:nvSpPr>
          <p:spPr>
            <a:xfrm>
              <a:off x="1863519" y="2728115"/>
              <a:ext cx="140285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200" b="1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선순위</a:t>
              </a:r>
              <a:r>
                <a:rPr lang="ko-KR" altLang="en-US" sz="1200" b="1" dirty="0" smtClean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가처분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1863521" y="3864507"/>
              <a:ext cx="140285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200" b="1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선순위</a:t>
              </a:r>
              <a:r>
                <a:rPr lang="ko-KR" altLang="en-US" sz="1200" b="1" dirty="0" smtClean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가등기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cxnSp>
        <p:nvCxnSpPr>
          <p:cNvPr id="41" name="직선 연결선 40"/>
          <p:cNvCxnSpPr/>
          <p:nvPr/>
        </p:nvCxnSpPr>
        <p:spPr>
          <a:xfrm>
            <a:off x="611560" y="4869160"/>
            <a:ext cx="7937538" cy="0"/>
          </a:xfrm>
          <a:prstGeom prst="line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2195736" y="4005064"/>
            <a:ext cx="6399747" cy="6901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50" spc="-100" dirty="0" smtClean="0"/>
              <a:t>가</a:t>
            </a:r>
            <a:r>
              <a:rPr lang="en-US" altLang="ko-KR" sz="1050" spc="-100" dirty="0" smtClean="0"/>
              <a:t>. </a:t>
            </a:r>
            <a:r>
              <a:rPr lang="ko-KR" altLang="en-US" sz="1050" spc="-100" dirty="0" smtClean="0"/>
              <a:t>말소 사유 </a:t>
            </a:r>
            <a:r>
              <a:rPr lang="en-US" altLang="ko-KR" sz="1050" spc="-100" dirty="0" smtClean="0"/>
              <a:t>: </a:t>
            </a:r>
            <a:r>
              <a:rPr lang="ko-KR" altLang="en-US" sz="1050" spc="-100" dirty="0" smtClean="0"/>
              <a:t>승소한 경우 가처분 후 등기 완료된 제</a:t>
            </a:r>
            <a:r>
              <a:rPr lang="en-US" altLang="ko-KR" sz="1050" spc="-100" dirty="0" smtClean="0"/>
              <a:t>3</a:t>
            </a:r>
            <a:r>
              <a:rPr lang="ko-KR" altLang="en-US" sz="1050" spc="-100" dirty="0" smtClean="0"/>
              <a:t>자 명의의 등기는</a:t>
            </a:r>
            <a:r>
              <a:rPr lang="en-US" altLang="ko-KR" sz="1050" spc="-100" dirty="0"/>
              <a:t> </a:t>
            </a:r>
            <a:r>
              <a:rPr lang="ko-KR" altLang="en-US" sz="1050" spc="-100" dirty="0" smtClean="0"/>
              <a:t>말소대상이므로 공매 진행 불가</a:t>
            </a:r>
            <a:endParaRPr lang="en-US" altLang="ko-KR" sz="1050" spc="-100" dirty="0" smtClean="0"/>
          </a:p>
          <a:p>
            <a:pPr>
              <a:lnSpc>
                <a:spcPct val="250000"/>
              </a:lnSpc>
            </a:pPr>
            <a:r>
              <a:rPr lang="ko-KR" altLang="en-US" sz="1050" spc="-100" dirty="0" smtClean="0"/>
              <a:t>나</a:t>
            </a:r>
            <a:r>
              <a:rPr lang="en-US" altLang="ko-KR" sz="1050" spc="-100" dirty="0" smtClean="0"/>
              <a:t>. </a:t>
            </a:r>
            <a:r>
              <a:rPr lang="ko-KR" altLang="en-US" sz="1050" spc="-100" dirty="0" smtClean="0"/>
              <a:t>말소 방법</a:t>
            </a:r>
            <a:r>
              <a:rPr lang="en-US" altLang="ko-KR" sz="1050" spc="-100" dirty="0"/>
              <a:t> </a:t>
            </a:r>
            <a:r>
              <a:rPr lang="en-US" altLang="ko-KR" sz="1050" spc="-100" dirty="0" smtClean="0"/>
              <a:t>: </a:t>
            </a:r>
            <a:r>
              <a:rPr lang="ko-KR" altLang="en-US" sz="1050" spc="-100" dirty="0" smtClean="0"/>
              <a:t>위 가압류와 같은 절차를 거쳐 말소조치 후 공매 진행함이 타당함</a:t>
            </a:r>
            <a:endParaRPr lang="en-US" altLang="ko-KR" sz="1050" spc="-100" dirty="0"/>
          </a:p>
        </p:txBody>
      </p:sp>
      <p:sp>
        <p:nvSpPr>
          <p:cNvPr id="45" name="TextBox 44"/>
          <p:cNvSpPr txBox="1"/>
          <p:nvPr/>
        </p:nvSpPr>
        <p:spPr>
          <a:xfrm>
            <a:off x="2195735" y="5115075"/>
            <a:ext cx="6399747" cy="6901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50" spc="-100" dirty="0" smtClean="0"/>
              <a:t>가</a:t>
            </a:r>
            <a:r>
              <a:rPr lang="en-US" altLang="ko-KR" sz="1050" spc="-100" dirty="0" smtClean="0"/>
              <a:t>. </a:t>
            </a:r>
            <a:r>
              <a:rPr lang="ko-KR" altLang="en-US" sz="1050" spc="-100" dirty="0" smtClean="0"/>
              <a:t>말소 사유 </a:t>
            </a:r>
            <a:r>
              <a:rPr lang="en-US" altLang="ko-KR" sz="1050" spc="-100" dirty="0" smtClean="0"/>
              <a:t>: </a:t>
            </a:r>
            <a:r>
              <a:rPr lang="ko-KR" altLang="en-US" sz="1050" spc="-100" dirty="0" err="1" smtClean="0"/>
              <a:t>가등기권자가</a:t>
            </a:r>
            <a:r>
              <a:rPr lang="ko-KR" altLang="en-US" sz="1050" spc="-100" dirty="0" smtClean="0"/>
              <a:t> 가등기에 의한 본등기를 한 경우</a:t>
            </a:r>
            <a:r>
              <a:rPr lang="en-US" altLang="ko-KR" sz="1050" spc="-100" dirty="0" smtClean="0"/>
              <a:t>, </a:t>
            </a:r>
            <a:r>
              <a:rPr lang="ko-KR" altLang="en-US" sz="1050" spc="-100" dirty="0" smtClean="0"/>
              <a:t>가등기 후 등기는 말소대상이므로 공매 진행 불가</a:t>
            </a:r>
            <a:endParaRPr lang="en-US" altLang="ko-KR" sz="1050" spc="-100" dirty="0" smtClean="0"/>
          </a:p>
          <a:p>
            <a:pPr>
              <a:lnSpc>
                <a:spcPct val="250000"/>
              </a:lnSpc>
            </a:pPr>
            <a:r>
              <a:rPr lang="ko-KR" altLang="en-US" sz="1050" spc="-100" dirty="0" smtClean="0"/>
              <a:t>나</a:t>
            </a:r>
            <a:r>
              <a:rPr lang="en-US" altLang="ko-KR" sz="1050" spc="-100" dirty="0" smtClean="0"/>
              <a:t>. </a:t>
            </a:r>
            <a:r>
              <a:rPr lang="ko-KR" altLang="en-US" sz="1050" spc="-100" dirty="0" smtClean="0"/>
              <a:t>말소 방법</a:t>
            </a:r>
            <a:r>
              <a:rPr lang="en-US" altLang="ko-KR" sz="1050" spc="-100" dirty="0"/>
              <a:t> </a:t>
            </a:r>
            <a:r>
              <a:rPr lang="en-US" altLang="ko-KR" sz="1050" spc="-100" dirty="0" smtClean="0"/>
              <a:t>: </a:t>
            </a:r>
            <a:r>
              <a:rPr lang="ko-KR" altLang="en-US" sz="1050" spc="-100" dirty="0" smtClean="0"/>
              <a:t>본등기 청구기간</a:t>
            </a:r>
            <a:r>
              <a:rPr lang="en-US" altLang="ko-KR" sz="1050" spc="-100" dirty="0" smtClean="0"/>
              <a:t>(10</a:t>
            </a:r>
            <a:r>
              <a:rPr lang="ko-KR" altLang="en-US" sz="1050" spc="-100" dirty="0" smtClean="0"/>
              <a:t>년</a:t>
            </a:r>
            <a:r>
              <a:rPr lang="en-US" altLang="ko-KR" sz="1050" spc="-100" dirty="0" smtClean="0"/>
              <a:t>)</a:t>
            </a:r>
            <a:r>
              <a:rPr lang="ko-KR" altLang="en-US" sz="1050" spc="-100" dirty="0" smtClean="0"/>
              <a:t>이 경과하였다면</a:t>
            </a:r>
            <a:r>
              <a:rPr lang="en-US" altLang="ko-KR" sz="1050" spc="-100" dirty="0"/>
              <a:t> </a:t>
            </a:r>
            <a:r>
              <a:rPr lang="ko-KR" altLang="en-US" sz="1050" spc="-100" dirty="0" smtClean="0"/>
              <a:t>소멸시효완성을 주장하여 말소시키고</a:t>
            </a:r>
            <a:r>
              <a:rPr lang="en-US" altLang="ko-KR" sz="1050" spc="-100" dirty="0"/>
              <a:t> </a:t>
            </a:r>
            <a:r>
              <a:rPr lang="ko-KR" altLang="en-US" sz="1050" spc="-100" dirty="0" smtClean="0"/>
              <a:t>공매 진행함이 타당함</a:t>
            </a:r>
            <a:endParaRPr lang="en-US" altLang="ko-KR" sz="1050" spc="-100" dirty="0"/>
          </a:p>
        </p:txBody>
      </p:sp>
    </p:spTree>
    <p:extLst>
      <p:ext uri="{BB962C8B-B14F-4D97-AF65-F5344CB8AC3E}">
        <p14:creationId xmlns:p14="http://schemas.microsoft.com/office/powerpoint/2010/main" val="29077905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모서리가 둥근 직사각형 121"/>
          <p:cNvSpPr/>
          <p:nvPr/>
        </p:nvSpPr>
        <p:spPr>
          <a:xfrm>
            <a:off x="755576" y="5111133"/>
            <a:ext cx="7560840" cy="679902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1" name="직사각형 120"/>
          <p:cNvSpPr/>
          <p:nvPr/>
        </p:nvSpPr>
        <p:spPr>
          <a:xfrm>
            <a:off x="755573" y="4533978"/>
            <a:ext cx="1836593" cy="111279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0" name="모서리가 둥근 직사각형 119"/>
          <p:cNvSpPr/>
          <p:nvPr/>
        </p:nvSpPr>
        <p:spPr>
          <a:xfrm>
            <a:off x="755576" y="4187348"/>
            <a:ext cx="7560840" cy="679902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9" name="직사각형 118"/>
          <p:cNvSpPr/>
          <p:nvPr/>
        </p:nvSpPr>
        <p:spPr>
          <a:xfrm>
            <a:off x="6479823" y="3754451"/>
            <a:ext cx="1836593" cy="111279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8" name="모서리가 둥근 직사각형 117"/>
          <p:cNvSpPr/>
          <p:nvPr/>
        </p:nvSpPr>
        <p:spPr>
          <a:xfrm>
            <a:off x="755576" y="3217181"/>
            <a:ext cx="7560840" cy="679902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직사각형 30"/>
          <p:cNvSpPr/>
          <p:nvPr/>
        </p:nvSpPr>
        <p:spPr>
          <a:xfrm>
            <a:off x="755575" y="2741904"/>
            <a:ext cx="1836593" cy="114969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7" name="모서리가 둥근 직사각형 116"/>
          <p:cNvSpPr/>
          <p:nvPr/>
        </p:nvSpPr>
        <p:spPr>
          <a:xfrm>
            <a:off x="755576" y="2281642"/>
            <a:ext cx="7560840" cy="679902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직사각형 27"/>
          <p:cNvSpPr/>
          <p:nvPr/>
        </p:nvSpPr>
        <p:spPr>
          <a:xfrm>
            <a:off x="6475284" y="1881336"/>
            <a:ext cx="1841132" cy="108020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모서리가 둥근 직사각형 22"/>
          <p:cNvSpPr/>
          <p:nvPr/>
        </p:nvSpPr>
        <p:spPr>
          <a:xfrm>
            <a:off x="755576" y="1340768"/>
            <a:ext cx="7560840" cy="679902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extBox 1"/>
          <p:cNvSpPr txBox="1"/>
          <p:nvPr/>
        </p:nvSpPr>
        <p:spPr>
          <a:xfrm>
            <a:off x="516164" y="537582"/>
            <a:ext cx="4030270" cy="477054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altLang="ko-KR" sz="2500" b="1" spc="-1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063A7A"/>
                </a:solidFill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Ⅳ</a:t>
            </a:r>
            <a:r>
              <a:rPr lang="en-US" altLang="ko-KR" sz="2500" b="1" spc="-150" dirty="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063A7A"/>
                </a:solidFill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. </a:t>
            </a:r>
            <a:r>
              <a:rPr lang="ko-KR" altLang="en-US" sz="2500" b="1" spc="-150" dirty="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063A7A"/>
                </a:solidFill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공매흐름도 </a:t>
            </a:r>
            <a:r>
              <a:rPr lang="en-US" altLang="ko-KR" sz="2500" b="1" spc="-150" dirty="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063A7A"/>
                </a:solidFill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(One-stop </a:t>
            </a:r>
            <a:r>
              <a:rPr lang="ko-KR" altLang="en-US" sz="2500" b="1" spc="-150" dirty="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063A7A"/>
                </a:solidFill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기준</a:t>
            </a:r>
            <a:r>
              <a:rPr lang="en-US" altLang="ko-KR" sz="2500" b="1" spc="-150" dirty="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063A7A"/>
                </a:solidFill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)</a:t>
            </a:r>
            <a:endParaRPr lang="ko-KR" altLang="en-US" sz="2500" b="1" spc="-15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rgbClr val="063A7A"/>
              </a:solidFill>
              <a:latin typeface="08서울남산체 B" panose="02020603020101020101" pitchFamily="18" charset="-127"/>
              <a:ea typeface="08서울남산체 B" panose="02020603020101020101" pitchFamily="18" charset="-127"/>
            </a:endParaRPr>
          </a:p>
        </p:txBody>
      </p:sp>
      <p:cxnSp>
        <p:nvCxnSpPr>
          <p:cNvPr id="21" name="직선 연결선 20"/>
          <p:cNvCxnSpPr/>
          <p:nvPr/>
        </p:nvCxnSpPr>
        <p:spPr>
          <a:xfrm>
            <a:off x="539552" y="1079631"/>
            <a:ext cx="8064000" cy="0"/>
          </a:xfrm>
          <a:prstGeom prst="line">
            <a:avLst/>
          </a:prstGeom>
          <a:ln w="38100">
            <a:solidFill>
              <a:srgbClr val="6982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연결선 21"/>
          <p:cNvCxnSpPr/>
          <p:nvPr/>
        </p:nvCxnSpPr>
        <p:spPr>
          <a:xfrm>
            <a:off x="530587" y="6192487"/>
            <a:ext cx="8064896" cy="0"/>
          </a:xfrm>
          <a:prstGeom prst="line">
            <a:avLst/>
          </a:prstGeom>
          <a:ln w="12700">
            <a:solidFill>
              <a:srgbClr val="AEADB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4" name="그림 23" descr="캠코 배경없음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5886073" y="6303415"/>
            <a:ext cx="2718000" cy="195034"/>
          </a:xfrm>
          <a:prstGeom prst="rect">
            <a:avLst/>
          </a:prstGeom>
        </p:spPr>
      </p:pic>
      <p:pic>
        <p:nvPicPr>
          <p:cNvPr id="26" name="그림 25" descr="kamco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7913248" y="755739"/>
            <a:ext cx="691200" cy="196766"/>
          </a:xfrm>
          <a:prstGeom prst="rect">
            <a:avLst/>
          </a:prstGeom>
        </p:spPr>
      </p:pic>
      <p:sp>
        <p:nvSpPr>
          <p:cNvPr id="9" name="오른쪽 화살표 8"/>
          <p:cNvSpPr/>
          <p:nvPr/>
        </p:nvSpPr>
        <p:spPr>
          <a:xfrm>
            <a:off x="2447584" y="1538768"/>
            <a:ext cx="315080" cy="288032"/>
          </a:xfrm>
          <a:prstGeom prst="rightArrow">
            <a:avLst/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08서울남산체 B" panose="02020603020101020101" pitchFamily="18" charset="-127"/>
              <a:ea typeface="08서울남산체 B" panose="02020603020101020101" pitchFamily="18" charset="-127"/>
            </a:endParaRPr>
          </a:p>
        </p:txBody>
      </p:sp>
      <p:sp>
        <p:nvSpPr>
          <p:cNvPr id="53" name="오른쪽 화살표 52"/>
          <p:cNvSpPr/>
          <p:nvPr/>
        </p:nvSpPr>
        <p:spPr>
          <a:xfrm>
            <a:off x="4382664" y="1538768"/>
            <a:ext cx="315080" cy="288032"/>
          </a:xfrm>
          <a:prstGeom prst="rightArrow">
            <a:avLst/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08서울남산체 B" panose="02020603020101020101" pitchFamily="18" charset="-127"/>
              <a:ea typeface="08서울남산체 B" panose="02020603020101020101" pitchFamily="18" charset="-127"/>
            </a:endParaRPr>
          </a:p>
        </p:txBody>
      </p:sp>
      <p:sp>
        <p:nvSpPr>
          <p:cNvPr id="54" name="오른쪽 화살표 53"/>
          <p:cNvSpPr/>
          <p:nvPr/>
        </p:nvSpPr>
        <p:spPr>
          <a:xfrm>
            <a:off x="6317744" y="1539320"/>
            <a:ext cx="315080" cy="288032"/>
          </a:xfrm>
          <a:prstGeom prst="rightArrow">
            <a:avLst/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08서울남산체 B" panose="02020603020101020101" pitchFamily="18" charset="-127"/>
              <a:ea typeface="08서울남산체 B" panose="02020603020101020101" pitchFamily="18" charset="-127"/>
            </a:endParaRPr>
          </a:p>
        </p:txBody>
      </p:sp>
      <p:sp>
        <p:nvSpPr>
          <p:cNvPr id="55" name="TextBox 54"/>
          <p:cNvSpPr txBox="1">
            <a:spLocks/>
          </p:cNvSpPr>
          <p:nvPr/>
        </p:nvSpPr>
        <p:spPr>
          <a:xfrm>
            <a:off x="827584" y="1485336"/>
            <a:ext cx="1620000" cy="39600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1200" dirty="0" smtClean="0"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약식감정</a:t>
            </a:r>
            <a:endParaRPr lang="en-US" altLang="ko-KR" sz="1200" dirty="0" smtClean="0">
              <a:latin typeface="08서울남산체 B" panose="02020603020101020101" pitchFamily="18" charset="-127"/>
              <a:ea typeface="08서울남산체 B" panose="02020603020101020101" pitchFamily="18" charset="-127"/>
            </a:endParaRPr>
          </a:p>
        </p:txBody>
      </p:sp>
      <p:sp>
        <p:nvSpPr>
          <p:cNvPr id="62" name="TextBox 61"/>
          <p:cNvSpPr txBox="1">
            <a:spLocks/>
          </p:cNvSpPr>
          <p:nvPr/>
        </p:nvSpPr>
        <p:spPr>
          <a:xfrm>
            <a:off x="2762664" y="1485336"/>
            <a:ext cx="1620000" cy="369332"/>
          </a:xfrm>
          <a:prstGeom prst="rect">
            <a:avLst/>
          </a:prstGeom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1200" dirty="0" smtClean="0"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공매대행의뢰서 접수</a:t>
            </a:r>
            <a:endParaRPr lang="en-US" altLang="ko-KR" sz="1200" dirty="0" smtClean="0">
              <a:latin typeface="08서울남산체 B" panose="02020603020101020101" pitchFamily="18" charset="-127"/>
              <a:ea typeface="08서울남산체 B" panose="02020603020101020101" pitchFamily="18" charset="-127"/>
            </a:endParaRPr>
          </a:p>
        </p:txBody>
      </p:sp>
      <p:sp>
        <p:nvSpPr>
          <p:cNvPr id="63" name="TextBox 62"/>
          <p:cNvSpPr txBox="1">
            <a:spLocks/>
          </p:cNvSpPr>
          <p:nvPr/>
        </p:nvSpPr>
        <p:spPr>
          <a:xfrm>
            <a:off x="4697744" y="1484784"/>
            <a:ext cx="1620000" cy="39600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1200" dirty="0" smtClean="0"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공매대행통지서 발송</a:t>
            </a:r>
            <a:endParaRPr lang="en-US" altLang="ko-KR" sz="1200" dirty="0" smtClean="0">
              <a:latin typeface="08서울남산체 B" panose="02020603020101020101" pitchFamily="18" charset="-127"/>
              <a:ea typeface="08서울남산체 B" panose="02020603020101020101" pitchFamily="18" charset="-127"/>
            </a:endParaRPr>
          </a:p>
        </p:txBody>
      </p:sp>
      <p:sp>
        <p:nvSpPr>
          <p:cNvPr id="64" name="TextBox 63"/>
          <p:cNvSpPr txBox="1">
            <a:spLocks/>
          </p:cNvSpPr>
          <p:nvPr/>
        </p:nvSpPr>
        <p:spPr>
          <a:xfrm>
            <a:off x="6632824" y="1485336"/>
            <a:ext cx="1620000" cy="396000"/>
          </a:xfrm>
          <a:prstGeom prst="rect">
            <a:avLst/>
          </a:prstGeom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1200" dirty="0" smtClean="0"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공매가능여부 분석</a:t>
            </a:r>
            <a:endParaRPr lang="en-US" altLang="ko-KR" sz="1200" dirty="0" smtClean="0">
              <a:latin typeface="08서울남산체 B" panose="02020603020101020101" pitchFamily="18" charset="-127"/>
              <a:ea typeface="08서울남산체 B" panose="02020603020101020101" pitchFamily="18" charset="-127"/>
            </a:endParaRPr>
          </a:p>
        </p:txBody>
      </p:sp>
      <p:sp>
        <p:nvSpPr>
          <p:cNvPr id="66" name="TextBox 65"/>
          <p:cNvSpPr txBox="1">
            <a:spLocks/>
          </p:cNvSpPr>
          <p:nvPr/>
        </p:nvSpPr>
        <p:spPr>
          <a:xfrm>
            <a:off x="6632824" y="2420888"/>
            <a:ext cx="1620000" cy="396000"/>
          </a:xfrm>
          <a:prstGeom prst="rect">
            <a:avLst/>
          </a:prstGeom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1200" dirty="0" smtClean="0"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감정평</a:t>
            </a:r>
            <a:r>
              <a:rPr lang="ko-KR" altLang="en-US" sz="1200" dirty="0"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가</a:t>
            </a:r>
            <a:endParaRPr lang="en-US" altLang="ko-KR" sz="1200" dirty="0" smtClean="0">
              <a:latin typeface="08서울남산체 B" panose="02020603020101020101" pitchFamily="18" charset="-127"/>
              <a:ea typeface="08서울남산체 B" panose="02020603020101020101" pitchFamily="18" charset="-127"/>
            </a:endParaRPr>
          </a:p>
        </p:txBody>
      </p:sp>
      <p:sp>
        <p:nvSpPr>
          <p:cNvPr id="67" name="오른쪽 화살표 66"/>
          <p:cNvSpPr/>
          <p:nvPr/>
        </p:nvSpPr>
        <p:spPr>
          <a:xfrm flipH="1">
            <a:off x="6317744" y="2474872"/>
            <a:ext cx="315080" cy="288032"/>
          </a:xfrm>
          <a:prstGeom prst="rightArrow">
            <a:avLst/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08서울남산체 B" panose="02020603020101020101" pitchFamily="18" charset="-127"/>
              <a:ea typeface="08서울남산체 B" panose="02020603020101020101" pitchFamily="18" charset="-127"/>
            </a:endParaRPr>
          </a:p>
        </p:txBody>
      </p:sp>
      <p:sp>
        <p:nvSpPr>
          <p:cNvPr id="68" name="TextBox 67"/>
          <p:cNvSpPr txBox="1">
            <a:spLocks/>
          </p:cNvSpPr>
          <p:nvPr/>
        </p:nvSpPr>
        <p:spPr>
          <a:xfrm>
            <a:off x="4697744" y="2421285"/>
            <a:ext cx="1620000" cy="396000"/>
          </a:xfrm>
          <a:prstGeom prst="rect">
            <a:avLst/>
          </a:prstGeom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1200" dirty="0" smtClean="0"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현황조사</a:t>
            </a:r>
            <a:endParaRPr lang="en-US" altLang="ko-KR" sz="1200" dirty="0" smtClean="0">
              <a:latin typeface="08서울남산체 B" panose="02020603020101020101" pitchFamily="18" charset="-127"/>
              <a:ea typeface="08서울남산체 B" panose="02020603020101020101" pitchFamily="18" charset="-127"/>
            </a:endParaRPr>
          </a:p>
        </p:txBody>
      </p:sp>
      <p:sp>
        <p:nvSpPr>
          <p:cNvPr id="72" name="오른쪽 화살표 71"/>
          <p:cNvSpPr/>
          <p:nvPr/>
        </p:nvSpPr>
        <p:spPr>
          <a:xfrm flipH="1">
            <a:off x="4382664" y="2475269"/>
            <a:ext cx="315080" cy="288032"/>
          </a:xfrm>
          <a:prstGeom prst="rightArrow">
            <a:avLst/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08서울남산체 B" panose="02020603020101020101" pitchFamily="18" charset="-127"/>
              <a:ea typeface="08서울남산체 B" panose="02020603020101020101" pitchFamily="18" charset="-127"/>
            </a:endParaRPr>
          </a:p>
        </p:txBody>
      </p:sp>
      <p:sp>
        <p:nvSpPr>
          <p:cNvPr id="73" name="TextBox 72"/>
          <p:cNvSpPr txBox="1">
            <a:spLocks/>
          </p:cNvSpPr>
          <p:nvPr/>
        </p:nvSpPr>
        <p:spPr>
          <a:xfrm>
            <a:off x="2762664" y="2421285"/>
            <a:ext cx="1620000" cy="39600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1200" dirty="0" smtClean="0"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매각예정가격 결정</a:t>
            </a:r>
            <a:endParaRPr lang="en-US" altLang="ko-KR" sz="1200" dirty="0" smtClean="0">
              <a:latin typeface="08서울남산체 B" panose="02020603020101020101" pitchFamily="18" charset="-127"/>
              <a:ea typeface="08서울남산체 B" panose="02020603020101020101" pitchFamily="18" charset="-127"/>
            </a:endParaRPr>
          </a:p>
        </p:txBody>
      </p:sp>
      <p:sp>
        <p:nvSpPr>
          <p:cNvPr id="74" name="오른쪽 화살표 73"/>
          <p:cNvSpPr/>
          <p:nvPr/>
        </p:nvSpPr>
        <p:spPr>
          <a:xfrm flipH="1">
            <a:off x="2447584" y="2475269"/>
            <a:ext cx="315080" cy="288032"/>
          </a:xfrm>
          <a:prstGeom prst="rightArrow">
            <a:avLst/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08서울남산체 B" panose="02020603020101020101" pitchFamily="18" charset="-127"/>
              <a:ea typeface="08서울남산체 B" panose="02020603020101020101" pitchFamily="18" charset="-127"/>
            </a:endParaRPr>
          </a:p>
        </p:txBody>
      </p:sp>
      <p:sp>
        <p:nvSpPr>
          <p:cNvPr id="75" name="TextBox 74"/>
          <p:cNvSpPr txBox="1">
            <a:spLocks/>
          </p:cNvSpPr>
          <p:nvPr/>
        </p:nvSpPr>
        <p:spPr>
          <a:xfrm>
            <a:off x="827584" y="2421285"/>
            <a:ext cx="1620000" cy="396000"/>
          </a:xfrm>
          <a:prstGeom prst="rect">
            <a:avLst/>
          </a:prstGeom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1200" dirty="0" smtClean="0"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공매공</a:t>
            </a:r>
            <a:r>
              <a:rPr lang="ko-KR" altLang="en-US" sz="1200" dirty="0"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고</a:t>
            </a:r>
            <a:endParaRPr lang="en-US" altLang="ko-KR" sz="1200" dirty="0" smtClean="0">
              <a:latin typeface="08서울남산체 B" panose="02020603020101020101" pitchFamily="18" charset="-127"/>
              <a:ea typeface="08서울남산체 B" panose="02020603020101020101" pitchFamily="18" charset="-127"/>
            </a:endParaRPr>
          </a:p>
        </p:txBody>
      </p:sp>
      <p:sp>
        <p:nvSpPr>
          <p:cNvPr id="76" name="오른쪽 화살표 75"/>
          <p:cNvSpPr/>
          <p:nvPr/>
        </p:nvSpPr>
        <p:spPr>
          <a:xfrm rot="5400000">
            <a:off x="7285284" y="2034194"/>
            <a:ext cx="315080" cy="288032"/>
          </a:xfrm>
          <a:prstGeom prst="rightArrow">
            <a:avLst/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08서울남산체 B" panose="02020603020101020101" pitchFamily="18" charset="-127"/>
              <a:ea typeface="08서울남산체 B" panose="02020603020101020101" pitchFamily="18" charset="-127"/>
            </a:endParaRPr>
          </a:p>
        </p:txBody>
      </p:sp>
      <p:sp>
        <p:nvSpPr>
          <p:cNvPr id="77" name="오른쪽 화살표 76"/>
          <p:cNvSpPr/>
          <p:nvPr/>
        </p:nvSpPr>
        <p:spPr>
          <a:xfrm rot="5400000">
            <a:off x="1480044" y="2975068"/>
            <a:ext cx="315080" cy="288032"/>
          </a:xfrm>
          <a:prstGeom prst="rightArrow">
            <a:avLst/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08서울남산체 B" panose="02020603020101020101" pitchFamily="18" charset="-127"/>
              <a:ea typeface="08서울남산체 B" panose="02020603020101020101" pitchFamily="18" charset="-127"/>
            </a:endParaRPr>
          </a:p>
        </p:txBody>
      </p:sp>
      <p:sp>
        <p:nvSpPr>
          <p:cNvPr id="78" name="오른쪽 화살표 77"/>
          <p:cNvSpPr/>
          <p:nvPr/>
        </p:nvSpPr>
        <p:spPr>
          <a:xfrm>
            <a:off x="2439168" y="3413116"/>
            <a:ext cx="315080" cy="288032"/>
          </a:xfrm>
          <a:prstGeom prst="rightArrow">
            <a:avLst/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08서울남산체 B" panose="02020603020101020101" pitchFamily="18" charset="-127"/>
              <a:ea typeface="08서울남산체 B" panose="02020603020101020101" pitchFamily="18" charset="-127"/>
            </a:endParaRPr>
          </a:p>
        </p:txBody>
      </p:sp>
      <p:sp>
        <p:nvSpPr>
          <p:cNvPr id="79" name="오른쪽 화살표 78"/>
          <p:cNvSpPr/>
          <p:nvPr/>
        </p:nvSpPr>
        <p:spPr>
          <a:xfrm>
            <a:off x="4374248" y="3413116"/>
            <a:ext cx="315080" cy="288032"/>
          </a:xfrm>
          <a:prstGeom prst="rightArrow">
            <a:avLst/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08서울남산체 B" panose="02020603020101020101" pitchFamily="18" charset="-127"/>
              <a:ea typeface="08서울남산체 B" panose="02020603020101020101" pitchFamily="18" charset="-127"/>
            </a:endParaRPr>
          </a:p>
        </p:txBody>
      </p:sp>
      <p:sp>
        <p:nvSpPr>
          <p:cNvPr id="80" name="오른쪽 화살표 79"/>
          <p:cNvSpPr/>
          <p:nvPr/>
        </p:nvSpPr>
        <p:spPr>
          <a:xfrm>
            <a:off x="6309328" y="3413668"/>
            <a:ext cx="315080" cy="288032"/>
          </a:xfrm>
          <a:prstGeom prst="rightArrow">
            <a:avLst/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08서울남산체 B" panose="02020603020101020101" pitchFamily="18" charset="-127"/>
              <a:ea typeface="08서울남산체 B" panose="02020603020101020101" pitchFamily="18" charset="-127"/>
            </a:endParaRPr>
          </a:p>
        </p:txBody>
      </p:sp>
      <p:sp>
        <p:nvSpPr>
          <p:cNvPr id="81" name="TextBox 80"/>
          <p:cNvSpPr txBox="1">
            <a:spLocks/>
          </p:cNvSpPr>
          <p:nvPr/>
        </p:nvSpPr>
        <p:spPr>
          <a:xfrm>
            <a:off x="819168" y="3359684"/>
            <a:ext cx="1620000" cy="39600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1200" dirty="0" smtClean="0"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공매통지서 우편 송달</a:t>
            </a:r>
            <a:endParaRPr lang="en-US" altLang="ko-KR" sz="1200" dirty="0" smtClean="0">
              <a:latin typeface="08서울남산체 B" panose="02020603020101020101" pitchFamily="18" charset="-127"/>
              <a:ea typeface="08서울남산체 B" panose="02020603020101020101" pitchFamily="18" charset="-127"/>
            </a:endParaRPr>
          </a:p>
        </p:txBody>
      </p:sp>
      <p:sp>
        <p:nvSpPr>
          <p:cNvPr id="82" name="TextBox 81"/>
          <p:cNvSpPr txBox="1">
            <a:spLocks/>
          </p:cNvSpPr>
          <p:nvPr/>
        </p:nvSpPr>
        <p:spPr>
          <a:xfrm>
            <a:off x="2754248" y="3359684"/>
            <a:ext cx="1620000" cy="396000"/>
          </a:xfrm>
          <a:prstGeom prst="rect">
            <a:avLst/>
          </a:prstGeom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1200" dirty="0" smtClean="0"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공매공고등기 촉탁</a:t>
            </a:r>
            <a:endParaRPr lang="en-US" altLang="ko-KR" sz="1200" dirty="0" smtClean="0">
              <a:latin typeface="08서울남산체 B" panose="02020603020101020101" pitchFamily="18" charset="-127"/>
              <a:ea typeface="08서울남산체 B" panose="02020603020101020101" pitchFamily="18" charset="-127"/>
            </a:endParaRPr>
          </a:p>
        </p:txBody>
      </p:sp>
      <p:sp>
        <p:nvSpPr>
          <p:cNvPr id="83" name="TextBox 82"/>
          <p:cNvSpPr txBox="1">
            <a:spLocks/>
          </p:cNvSpPr>
          <p:nvPr/>
        </p:nvSpPr>
        <p:spPr>
          <a:xfrm>
            <a:off x="4689328" y="3359132"/>
            <a:ext cx="1620000" cy="396000"/>
          </a:xfrm>
          <a:prstGeom prst="rect">
            <a:avLst/>
          </a:prstGeom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1200" dirty="0" smtClean="0"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교부송달 및 공시송달</a:t>
            </a:r>
            <a:endParaRPr lang="en-US" altLang="ko-KR" sz="1200" dirty="0" smtClean="0">
              <a:latin typeface="08서울남산체 B" panose="02020603020101020101" pitchFamily="18" charset="-127"/>
              <a:ea typeface="08서울남산체 B" panose="02020603020101020101" pitchFamily="18" charset="-127"/>
            </a:endParaRPr>
          </a:p>
        </p:txBody>
      </p:sp>
      <p:sp>
        <p:nvSpPr>
          <p:cNvPr id="84" name="TextBox 83"/>
          <p:cNvSpPr txBox="1">
            <a:spLocks/>
          </p:cNvSpPr>
          <p:nvPr/>
        </p:nvSpPr>
        <p:spPr>
          <a:xfrm>
            <a:off x="6624408" y="3271765"/>
            <a:ext cx="1620000" cy="570734"/>
          </a:xfrm>
          <a:prstGeom prst="rect">
            <a:avLst/>
          </a:prstGeom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1100" dirty="0" smtClean="0"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공매재산명세서</a:t>
            </a:r>
            <a:endParaRPr lang="en-US" altLang="ko-KR" sz="1100" dirty="0" smtClean="0">
              <a:latin typeface="08서울남산체 B" panose="02020603020101020101" pitchFamily="18" charset="-127"/>
              <a:ea typeface="08서울남산체 B" panose="02020603020101020101" pitchFamily="18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en-US" sz="1100" dirty="0" smtClean="0"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작성 및 비치</a:t>
            </a:r>
            <a:endParaRPr lang="en-US" altLang="ko-KR" sz="1100" dirty="0" smtClean="0">
              <a:latin typeface="08서울남산체 B" panose="02020603020101020101" pitchFamily="18" charset="-127"/>
              <a:ea typeface="08서울남산체 B" panose="02020603020101020101" pitchFamily="18" charset="-127"/>
            </a:endParaRPr>
          </a:p>
        </p:txBody>
      </p:sp>
      <p:sp>
        <p:nvSpPr>
          <p:cNvPr id="85" name="TextBox 84"/>
          <p:cNvSpPr txBox="1">
            <a:spLocks/>
          </p:cNvSpPr>
          <p:nvPr/>
        </p:nvSpPr>
        <p:spPr>
          <a:xfrm>
            <a:off x="6632824" y="4329299"/>
            <a:ext cx="1620000" cy="396000"/>
          </a:xfrm>
          <a:prstGeom prst="rect">
            <a:avLst/>
          </a:prstGeom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1200" dirty="0" smtClean="0"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인터넷 입찰</a:t>
            </a:r>
            <a:endParaRPr lang="en-US" altLang="ko-KR" sz="1200" dirty="0" smtClean="0">
              <a:latin typeface="08서울남산체 B" panose="02020603020101020101" pitchFamily="18" charset="-127"/>
              <a:ea typeface="08서울남산체 B" panose="02020603020101020101" pitchFamily="18" charset="-127"/>
            </a:endParaRPr>
          </a:p>
        </p:txBody>
      </p:sp>
      <p:sp>
        <p:nvSpPr>
          <p:cNvPr id="86" name="오른쪽 화살표 85"/>
          <p:cNvSpPr/>
          <p:nvPr/>
        </p:nvSpPr>
        <p:spPr>
          <a:xfrm flipH="1">
            <a:off x="6317744" y="4383283"/>
            <a:ext cx="315080" cy="288032"/>
          </a:xfrm>
          <a:prstGeom prst="rightArrow">
            <a:avLst/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08서울남산체 B" panose="02020603020101020101" pitchFamily="18" charset="-127"/>
              <a:ea typeface="08서울남산체 B" panose="02020603020101020101" pitchFamily="18" charset="-127"/>
            </a:endParaRPr>
          </a:p>
        </p:txBody>
      </p:sp>
      <p:sp>
        <p:nvSpPr>
          <p:cNvPr id="87" name="TextBox 86"/>
          <p:cNvSpPr txBox="1">
            <a:spLocks/>
          </p:cNvSpPr>
          <p:nvPr/>
        </p:nvSpPr>
        <p:spPr>
          <a:xfrm>
            <a:off x="4697744" y="4329696"/>
            <a:ext cx="1620000" cy="396000"/>
          </a:xfrm>
          <a:prstGeom prst="rect">
            <a:avLst/>
          </a:prstGeom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1200" dirty="0" smtClean="0"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개</a:t>
            </a:r>
            <a:r>
              <a:rPr lang="ko-KR" altLang="en-US" sz="1200" dirty="0"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찰</a:t>
            </a:r>
            <a:endParaRPr lang="en-US" altLang="ko-KR" sz="1200" dirty="0" smtClean="0">
              <a:latin typeface="08서울남산체 B" panose="02020603020101020101" pitchFamily="18" charset="-127"/>
              <a:ea typeface="08서울남산체 B" panose="02020603020101020101" pitchFamily="18" charset="-127"/>
            </a:endParaRPr>
          </a:p>
        </p:txBody>
      </p:sp>
      <p:sp>
        <p:nvSpPr>
          <p:cNvPr id="88" name="오른쪽 화살표 87"/>
          <p:cNvSpPr/>
          <p:nvPr/>
        </p:nvSpPr>
        <p:spPr>
          <a:xfrm flipH="1">
            <a:off x="4382664" y="4383680"/>
            <a:ext cx="315080" cy="288032"/>
          </a:xfrm>
          <a:prstGeom prst="rightArrow">
            <a:avLst/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08서울남산체 B" panose="02020603020101020101" pitchFamily="18" charset="-127"/>
              <a:ea typeface="08서울남산체 B" panose="02020603020101020101" pitchFamily="18" charset="-127"/>
            </a:endParaRPr>
          </a:p>
        </p:txBody>
      </p:sp>
      <p:sp>
        <p:nvSpPr>
          <p:cNvPr id="89" name="TextBox 88"/>
          <p:cNvSpPr txBox="1">
            <a:spLocks/>
          </p:cNvSpPr>
          <p:nvPr/>
        </p:nvSpPr>
        <p:spPr>
          <a:xfrm>
            <a:off x="2762664" y="4329696"/>
            <a:ext cx="1620000" cy="39600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1200" dirty="0" smtClean="0"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매각결정</a:t>
            </a:r>
            <a:endParaRPr lang="en-US" altLang="ko-KR" sz="1200" dirty="0" smtClean="0">
              <a:latin typeface="08서울남산체 B" panose="02020603020101020101" pitchFamily="18" charset="-127"/>
              <a:ea typeface="08서울남산체 B" panose="02020603020101020101" pitchFamily="18" charset="-127"/>
            </a:endParaRPr>
          </a:p>
        </p:txBody>
      </p:sp>
      <p:sp>
        <p:nvSpPr>
          <p:cNvPr id="90" name="오른쪽 화살표 89"/>
          <p:cNvSpPr/>
          <p:nvPr/>
        </p:nvSpPr>
        <p:spPr>
          <a:xfrm flipH="1">
            <a:off x="2447584" y="4383680"/>
            <a:ext cx="315080" cy="288032"/>
          </a:xfrm>
          <a:prstGeom prst="rightArrow">
            <a:avLst/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08서울남산체 B" panose="02020603020101020101" pitchFamily="18" charset="-127"/>
              <a:ea typeface="08서울남산체 B" panose="02020603020101020101" pitchFamily="18" charset="-127"/>
            </a:endParaRPr>
          </a:p>
        </p:txBody>
      </p:sp>
      <p:sp>
        <p:nvSpPr>
          <p:cNvPr id="91" name="TextBox 90"/>
          <p:cNvSpPr txBox="1">
            <a:spLocks/>
          </p:cNvSpPr>
          <p:nvPr/>
        </p:nvSpPr>
        <p:spPr>
          <a:xfrm>
            <a:off x="827584" y="4329696"/>
            <a:ext cx="1620000" cy="396000"/>
          </a:xfrm>
          <a:prstGeom prst="rect">
            <a:avLst/>
          </a:prstGeom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1200" dirty="0" smtClean="0"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대금납부</a:t>
            </a:r>
            <a:endParaRPr lang="en-US" altLang="ko-KR" sz="1200" dirty="0" smtClean="0">
              <a:latin typeface="08서울남산체 B" panose="02020603020101020101" pitchFamily="18" charset="-127"/>
              <a:ea typeface="08서울남산체 B" panose="02020603020101020101" pitchFamily="18" charset="-127"/>
            </a:endParaRPr>
          </a:p>
        </p:txBody>
      </p:sp>
      <p:sp>
        <p:nvSpPr>
          <p:cNvPr id="92" name="오른쪽 화살표 91"/>
          <p:cNvSpPr/>
          <p:nvPr/>
        </p:nvSpPr>
        <p:spPr>
          <a:xfrm rot="5400000">
            <a:off x="7285284" y="3945083"/>
            <a:ext cx="315080" cy="288032"/>
          </a:xfrm>
          <a:prstGeom prst="rightArrow">
            <a:avLst/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08서울남산체 B" panose="02020603020101020101" pitchFamily="18" charset="-127"/>
              <a:ea typeface="08서울남산체 B" panose="02020603020101020101" pitchFamily="18" charset="-127"/>
            </a:endParaRPr>
          </a:p>
        </p:txBody>
      </p:sp>
      <p:sp>
        <p:nvSpPr>
          <p:cNvPr id="96" name="오른쪽 화살표 95"/>
          <p:cNvSpPr/>
          <p:nvPr/>
        </p:nvSpPr>
        <p:spPr>
          <a:xfrm rot="5400000">
            <a:off x="1480044" y="4882684"/>
            <a:ext cx="315080" cy="288032"/>
          </a:xfrm>
          <a:prstGeom prst="rightArrow">
            <a:avLst/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08서울남산체 B" panose="02020603020101020101" pitchFamily="18" charset="-127"/>
              <a:ea typeface="08서울남산체 B" panose="02020603020101020101" pitchFamily="18" charset="-127"/>
            </a:endParaRPr>
          </a:p>
        </p:txBody>
      </p:sp>
      <p:sp>
        <p:nvSpPr>
          <p:cNvPr id="99" name="오른쪽 화살표 98"/>
          <p:cNvSpPr/>
          <p:nvPr/>
        </p:nvSpPr>
        <p:spPr>
          <a:xfrm>
            <a:off x="2434629" y="5307068"/>
            <a:ext cx="315080" cy="288032"/>
          </a:xfrm>
          <a:prstGeom prst="rightArrow">
            <a:avLst/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08서울남산체 B" panose="02020603020101020101" pitchFamily="18" charset="-127"/>
              <a:ea typeface="08서울남산체 B" panose="02020603020101020101" pitchFamily="18" charset="-127"/>
            </a:endParaRPr>
          </a:p>
        </p:txBody>
      </p:sp>
      <p:sp>
        <p:nvSpPr>
          <p:cNvPr id="100" name="오른쪽 화살표 99"/>
          <p:cNvSpPr/>
          <p:nvPr/>
        </p:nvSpPr>
        <p:spPr>
          <a:xfrm>
            <a:off x="4369709" y="5307068"/>
            <a:ext cx="315080" cy="288032"/>
          </a:xfrm>
          <a:prstGeom prst="rightArrow">
            <a:avLst/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08서울남산체 B" panose="02020603020101020101" pitchFamily="18" charset="-127"/>
              <a:ea typeface="08서울남산체 B" panose="02020603020101020101" pitchFamily="18" charset="-127"/>
            </a:endParaRPr>
          </a:p>
        </p:txBody>
      </p:sp>
      <p:sp>
        <p:nvSpPr>
          <p:cNvPr id="104" name="오른쪽 화살표 103"/>
          <p:cNvSpPr/>
          <p:nvPr/>
        </p:nvSpPr>
        <p:spPr>
          <a:xfrm>
            <a:off x="6304789" y="5307620"/>
            <a:ext cx="315080" cy="288032"/>
          </a:xfrm>
          <a:prstGeom prst="rightArrow">
            <a:avLst/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08서울남산체 B" panose="02020603020101020101" pitchFamily="18" charset="-127"/>
              <a:ea typeface="08서울남산체 B" panose="02020603020101020101" pitchFamily="18" charset="-127"/>
            </a:endParaRPr>
          </a:p>
        </p:txBody>
      </p:sp>
      <p:sp>
        <p:nvSpPr>
          <p:cNvPr id="106" name="TextBox 105"/>
          <p:cNvSpPr txBox="1">
            <a:spLocks/>
          </p:cNvSpPr>
          <p:nvPr/>
        </p:nvSpPr>
        <p:spPr>
          <a:xfrm>
            <a:off x="814629" y="5253084"/>
            <a:ext cx="1620000" cy="39600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1200" dirty="0" smtClean="0"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배분기일 지정 통지</a:t>
            </a:r>
            <a:endParaRPr lang="en-US" altLang="ko-KR" sz="1200" dirty="0" smtClean="0">
              <a:latin typeface="08서울남산체 B" panose="02020603020101020101" pitchFamily="18" charset="-127"/>
              <a:ea typeface="08서울남산체 B" panose="02020603020101020101" pitchFamily="18" charset="-127"/>
            </a:endParaRPr>
          </a:p>
        </p:txBody>
      </p:sp>
      <p:sp>
        <p:nvSpPr>
          <p:cNvPr id="109" name="TextBox 108"/>
          <p:cNvSpPr txBox="1">
            <a:spLocks/>
          </p:cNvSpPr>
          <p:nvPr/>
        </p:nvSpPr>
        <p:spPr>
          <a:xfrm>
            <a:off x="2749709" y="5253084"/>
            <a:ext cx="1620000" cy="396000"/>
          </a:xfrm>
          <a:prstGeom prst="rect">
            <a:avLst/>
          </a:prstGeom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1200" dirty="0" smtClean="0"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매각재산권리 이전</a:t>
            </a:r>
            <a:endParaRPr lang="en-US" altLang="ko-KR" sz="1200" dirty="0" smtClean="0">
              <a:latin typeface="08서울남산체 B" panose="02020603020101020101" pitchFamily="18" charset="-127"/>
              <a:ea typeface="08서울남산체 B" panose="02020603020101020101" pitchFamily="18" charset="-127"/>
            </a:endParaRPr>
          </a:p>
        </p:txBody>
      </p:sp>
      <p:sp>
        <p:nvSpPr>
          <p:cNvPr id="112" name="TextBox 111"/>
          <p:cNvSpPr txBox="1">
            <a:spLocks/>
          </p:cNvSpPr>
          <p:nvPr/>
        </p:nvSpPr>
        <p:spPr>
          <a:xfrm>
            <a:off x="4684789" y="5253084"/>
            <a:ext cx="1620000" cy="39600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1200" dirty="0" smtClean="0"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배분계산서 작성</a:t>
            </a:r>
            <a:endParaRPr lang="en-US" altLang="ko-KR" sz="1200" dirty="0" smtClean="0">
              <a:latin typeface="08서울남산체 B" panose="02020603020101020101" pitchFamily="18" charset="-127"/>
              <a:ea typeface="08서울남산체 B" panose="02020603020101020101" pitchFamily="18" charset="-127"/>
            </a:endParaRPr>
          </a:p>
        </p:txBody>
      </p:sp>
      <p:sp>
        <p:nvSpPr>
          <p:cNvPr id="116" name="TextBox 115"/>
          <p:cNvSpPr txBox="1">
            <a:spLocks/>
          </p:cNvSpPr>
          <p:nvPr/>
        </p:nvSpPr>
        <p:spPr>
          <a:xfrm>
            <a:off x="6619869" y="5253084"/>
            <a:ext cx="1620000" cy="39600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1200" dirty="0" smtClean="0"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매각대금 배분</a:t>
            </a:r>
            <a:endParaRPr lang="en-US" altLang="ko-KR" sz="1200" dirty="0" smtClean="0">
              <a:latin typeface="08서울남산체 B" panose="02020603020101020101" pitchFamily="18" charset="-127"/>
              <a:ea typeface="08서울남산체 B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229883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모서리가 둥근 직사각형 3"/>
          <p:cNvSpPr/>
          <p:nvPr/>
        </p:nvSpPr>
        <p:spPr>
          <a:xfrm>
            <a:off x="683568" y="1898291"/>
            <a:ext cx="7704856" cy="1257507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모서리가 둥근 직사각형 33"/>
          <p:cNvSpPr/>
          <p:nvPr/>
        </p:nvSpPr>
        <p:spPr>
          <a:xfrm>
            <a:off x="683568" y="4448791"/>
            <a:ext cx="7704856" cy="1272762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모서리가 둥근 직사각형 32"/>
          <p:cNvSpPr/>
          <p:nvPr/>
        </p:nvSpPr>
        <p:spPr>
          <a:xfrm>
            <a:off x="683568" y="3313149"/>
            <a:ext cx="7704856" cy="979948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직사각형 17"/>
          <p:cNvSpPr/>
          <p:nvPr/>
        </p:nvSpPr>
        <p:spPr>
          <a:xfrm>
            <a:off x="549689" y="1364251"/>
            <a:ext cx="8054384" cy="33861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extBox 1"/>
          <p:cNvSpPr txBox="1"/>
          <p:nvPr/>
        </p:nvSpPr>
        <p:spPr>
          <a:xfrm>
            <a:off x="516164" y="537582"/>
            <a:ext cx="2419252" cy="477054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altLang="ko-KR" sz="2500" b="1" spc="-1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063A7A"/>
                </a:solidFill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Ⅴ</a:t>
            </a:r>
            <a:r>
              <a:rPr lang="en-US" altLang="ko-KR" sz="2500" b="1" spc="-150" dirty="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063A7A"/>
                </a:solidFill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. </a:t>
            </a:r>
            <a:r>
              <a:rPr lang="ko-KR" altLang="en-US" sz="2500" b="1" spc="-150" dirty="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063A7A"/>
                </a:solidFill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공매 주요 내용</a:t>
            </a:r>
            <a:endParaRPr lang="ko-KR" altLang="en-US" sz="2500" b="1" spc="-15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rgbClr val="063A7A"/>
              </a:solidFill>
              <a:latin typeface="08서울남산체 B" panose="02020603020101020101" pitchFamily="18" charset="-127"/>
              <a:ea typeface="08서울남산체 B" panose="02020603020101020101" pitchFamily="18" charset="-127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60645" y="1340768"/>
            <a:ext cx="784169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400"/>
              </a:lnSpc>
            </a:pPr>
            <a:r>
              <a:rPr lang="ko-KR" altLang="en-US" dirty="0" smtClean="0"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공매 진행 단계</a:t>
            </a:r>
            <a:endParaRPr lang="ko-KR" altLang="en-US" dirty="0">
              <a:latin typeface="08서울남산체 B" panose="02020603020101020101" pitchFamily="18" charset="-127"/>
              <a:ea typeface="08서울남산체 B" panose="02020603020101020101" pitchFamily="18" charset="-127"/>
            </a:endParaRPr>
          </a:p>
        </p:txBody>
      </p:sp>
      <p:cxnSp>
        <p:nvCxnSpPr>
          <p:cNvPr id="21" name="직선 연결선 20"/>
          <p:cNvCxnSpPr/>
          <p:nvPr/>
        </p:nvCxnSpPr>
        <p:spPr>
          <a:xfrm>
            <a:off x="539552" y="1079631"/>
            <a:ext cx="8064000" cy="0"/>
          </a:xfrm>
          <a:prstGeom prst="line">
            <a:avLst/>
          </a:prstGeom>
          <a:ln w="38100">
            <a:solidFill>
              <a:srgbClr val="6982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연결선 21"/>
          <p:cNvCxnSpPr/>
          <p:nvPr/>
        </p:nvCxnSpPr>
        <p:spPr>
          <a:xfrm>
            <a:off x="530587" y="6021288"/>
            <a:ext cx="8064896" cy="0"/>
          </a:xfrm>
          <a:prstGeom prst="line">
            <a:avLst/>
          </a:prstGeom>
          <a:ln w="12700">
            <a:solidFill>
              <a:srgbClr val="AEADB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4" name="그림 23" descr="캠코 배경없음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5886073" y="6303415"/>
            <a:ext cx="2718000" cy="195034"/>
          </a:xfrm>
          <a:prstGeom prst="rect">
            <a:avLst/>
          </a:prstGeom>
        </p:spPr>
      </p:pic>
      <p:pic>
        <p:nvPicPr>
          <p:cNvPr id="26" name="그림 25" descr="kamco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7913248" y="755739"/>
            <a:ext cx="691200" cy="196766"/>
          </a:xfrm>
          <a:prstGeom prst="rect">
            <a:avLst/>
          </a:prstGeom>
        </p:spPr>
      </p:pic>
      <p:sp>
        <p:nvSpPr>
          <p:cNvPr id="89" name="직사각형 88"/>
          <p:cNvSpPr/>
          <p:nvPr/>
        </p:nvSpPr>
        <p:spPr>
          <a:xfrm>
            <a:off x="548480" y="1388058"/>
            <a:ext cx="42191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200" b="1" spc="-200" dirty="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698299"/>
                </a:solidFill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▶ </a:t>
            </a:r>
            <a:endParaRPr lang="ko-KR" altLang="en-US" sz="1200" dirty="0">
              <a:latin typeface="08서울남산체 B" panose="02020603020101020101" pitchFamily="18" charset="-127"/>
              <a:ea typeface="08서울남산체 B" panose="02020603020101020101" pitchFamily="18" charset="-127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9690" y="1898291"/>
            <a:ext cx="80457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dirty="0" smtClean="0">
                <a:latin typeface="+mn-ea"/>
              </a:rPr>
              <a:t>   </a:t>
            </a:r>
            <a:r>
              <a:rPr lang="ko-KR" altLang="en-US" sz="1200" b="1" dirty="0" smtClean="0">
                <a:latin typeface="+mn-ea"/>
              </a:rPr>
              <a:t>가</a:t>
            </a:r>
            <a:r>
              <a:rPr lang="en-US" altLang="ko-KR" sz="1200" b="1" dirty="0" smtClean="0">
                <a:latin typeface="+mn-ea"/>
              </a:rPr>
              <a:t>. </a:t>
            </a:r>
            <a:r>
              <a:rPr lang="ko-KR" altLang="en-US" sz="1200" b="1" dirty="0" smtClean="0">
                <a:latin typeface="+mn-ea"/>
              </a:rPr>
              <a:t>추가 압류 및 의뢰 요청 </a:t>
            </a:r>
            <a:r>
              <a:rPr lang="en-US" altLang="ko-KR" sz="1200" b="1" dirty="0" smtClean="0">
                <a:latin typeface="+mn-ea"/>
              </a:rPr>
              <a:t>: </a:t>
            </a:r>
            <a:r>
              <a:rPr lang="ko-KR" altLang="en-US" sz="1200" b="1" dirty="0" smtClean="0">
                <a:latin typeface="+mn-ea"/>
              </a:rPr>
              <a:t>체납자 지분</a:t>
            </a:r>
            <a:r>
              <a:rPr lang="en-US" altLang="ko-KR" sz="1200" b="1" dirty="0" smtClean="0">
                <a:latin typeface="+mn-ea"/>
              </a:rPr>
              <a:t>, </a:t>
            </a:r>
            <a:r>
              <a:rPr lang="ko-KR" altLang="en-US" sz="1200" b="1" dirty="0" smtClean="0">
                <a:latin typeface="+mn-ea"/>
              </a:rPr>
              <a:t>지상건물</a:t>
            </a:r>
            <a:r>
              <a:rPr lang="en-US" altLang="ko-KR" sz="1200" b="1" dirty="0" smtClean="0">
                <a:latin typeface="+mn-ea"/>
              </a:rPr>
              <a:t>, </a:t>
            </a:r>
            <a:r>
              <a:rPr lang="ko-KR" altLang="en-US" sz="1200" b="1" dirty="0" smtClean="0">
                <a:latin typeface="+mn-ea"/>
              </a:rPr>
              <a:t>공동담보물건 등</a:t>
            </a:r>
            <a:endParaRPr lang="en-US" altLang="ko-KR" sz="1200" b="1" dirty="0" smtClean="0">
              <a:latin typeface="+mn-ea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752758" y="2204864"/>
            <a:ext cx="784272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charset="0"/>
              <a:buChar char="•"/>
            </a:pPr>
            <a:r>
              <a:rPr lang="ko-KR" altLang="en-US" sz="1200" dirty="0" smtClean="0">
                <a:latin typeface="+mn-ea"/>
              </a:rPr>
              <a:t>등기부상 체납자 소유권 추가 존재 여부 확인</a:t>
            </a:r>
            <a:endParaRPr lang="en-US" altLang="ko-KR" sz="1200" dirty="0" smtClean="0">
              <a:latin typeface="+mn-ea"/>
            </a:endParaRPr>
          </a:p>
          <a:p>
            <a:pPr marL="171450" indent="-171450">
              <a:lnSpc>
                <a:spcPct val="150000"/>
              </a:lnSpc>
              <a:buFont typeface="Arial" charset="0"/>
              <a:buChar char="•"/>
            </a:pPr>
            <a:r>
              <a:rPr lang="ko-KR" altLang="en-US" sz="1200" dirty="0" smtClean="0">
                <a:latin typeface="+mn-ea"/>
              </a:rPr>
              <a:t>항공사진 등을 통한 지상건물 소재 여부 확인</a:t>
            </a:r>
            <a:endParaRPr lang="en-US" altLang="ko-KR" sz="1200" dirty="0" smtClean="0">
              <a:latin typeface="+mn-ea"/>
            </a:endParaRPr>
          </a:p>
          <a:p>
            <a:pPr marL="171450" indent="-171450">
              <a:lnSpc>
                <a:spcPct val="150000"/>
              </a:lnSpc>
              <a:buFont typeface="Arial" charset="0"/>
              <a:buChar char="•"/>
            </a:pPr>
            <a:r>
              <a:rPr lang="ko-KR" altLang="en-US" sz="1200" dirty="0" err="1" smtClean="0">
                <a:latin typeface="+mn-ea"/>
              </a:rPr>
              <a:t>담보권자</a:t>
            </a:r>
            <a:r>
              <a:rPr lang="ko-KR" altLang="en-US" sz="1200" dirty="0" smtClean="0">
                <a:latin typeface="+mn-ea"/>
              </a:rPr>
              <a:t> 공동담보목록 확인 후 체납자 소유재산 여부 확인</a:t>
            </a:r>
            <a:endParaRPr lang="en-US" altLang="ko-KR" sz="1200" dirty="0" smtClean="0">
              <a:latin typeface="+mn-ea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49169" y="3313148"/>
            <a:ext cx="8053173" cy="3336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b="1" dirty="0" smtClean="0">
                <a:latin typeface="+mn-ea"/>
              </a:rPr>
              <a:t>   나</a:t>
            </a:r>
            <a:r>
              <a:rPr lang="en-US" altLang="ko-KR" sz="1200" b="1" dirty="0" smtClean="0">
                <a:latin typeface="+mn-ea"/>
              </a:rPr>
              <a:t>. </a:t>
            </a:r>
            <a:r>
              <a:rPr lang="ko-KR" altLang="en-US" sz="1200" b="1" dirty="0" smtClean="0">
                <a:latin typeface="+mn-ea"/>
              </a:rPr>
              <a:t>자료 추가 요청</a:t>
            </a:r>
            <a:endParaRPr lang="en-US" altLang="ko-KR" sz="1200" b="1" dirty="0" smtClean="0">
              <a:latin typeface="+mn-ea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752758" y="3609806"/>
            <a:ext cx="78427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charset="0"/>
              <a:buChar char="•"/>
            </a:pPr>
            <a:r>
              <a:rPr lang="ko-KR" altLang="en-US" sz="1200" dirty="0" smtClean="0">
                <a:latin typeface="+mn-ea"/>
              </a:rPr>
              <a:t>출자증권</a:t>
            </a:r>
            <a:r>
              <a:rPr lang="en-US" altLang="ko-KR" sz="1200" dirty="0" smtClean="0">
                <a:latin typeface="+mn-ea"/>
              </a:rPr>
              <a:t>(</a:t>
            </a:r>
            <a:r>
              <a:rPr lang="ko-KR" altLang="en-US" sz="1200" dirty="0" smtClean="0">
                <a:latin typeface="+mn-ea"/>
              </a:rPr>
              <a:t>인수증</a:t>
            </a:r>
            <a:r>
              <a:rPr lang="en-US" altLang="ko-KR" sz="1200" dirty="0" smtClean="0">
                <a:latin typeface="+mn-ea"/>
              </a:rPr>
              <a:t>, </a:t>
            </a:r>
            <a:r>
              <a:rPr lang="ko-KR" altLang="en-US" sz="1200" dirty="0" smtClean="0">
                <a:latin typeface="+mn-ea"/>
              </a:rPr>
              <a:t>보관증권 사본</a:t>
            </a:r>
            <a:r>
              <a:rPr lang="en-US" altLang="ko-KR" sz="1200" dirty="0" smtClean="0">
                <a:latin typeface="+mn-ea"/>
              </a:rPr>
              <a:t>) / </a:t>
            </a:r>
            <a:r>
              <a:rPr lang="ko-KR" altLang="en-US" sz="1200" dirty="0" smtClean="0">
                <a:latin typeface="+mn-ea"/>
              </a:rPr>
              <a:t>비상장증권</a:t>
            </a:r>
            <a:r>
              <a:rPr lang="en-US" altLang="ko-KR" sz="1200" dirty="0" smtClean="0">
                <a:latin typeface="+mn-ea"/>
              </a:rPr>
              <a:t>(</a:t>
            </a:r>
            <a:r>
              <a:rPr lang="ko-KR" altLang="en-US" sz="1200" dirty="0" smtClean="0">
                <a:latin typeface="+mn-ea"/>
              </a:rPr>
              <a:t>점유실물</a:t>
            </a:r>
            <a:r>
              <a:rPr lang="en-US" altLang="ko-KR" sz="1200" dirty="0" smtClean="0">
                <a:latin typeface="+mn-ea"/>
              </a:rPr>
              <a:t>, </a:t>
            </a:r>
            <a:r>
              <a:rPr lang="ko-KR" altLang="en-US" sz="1200" dirty="0" err="1" smtClean="0">
                <a:latin typeface="+mn-ea"/>
              </a:rPr>
              <a:t>미발행확인서</a:t>
            </a:r>
            <a:r>
              <a:rPr lang="en-US" altLang="ko-KR" sz="1200" dirty="0" smtClean="0">
                <a:latin typeface="+mn-ea"/>
              </a:rPr>
              <a:t>)</a:t>
            </a:r>
          </a:p>
          <a:p>
            <a:pPr marL="171450" indent="-171450">
              <a:lnSpc>
                <a:spcPct val="150000"/>
              </a:lnSpc>
              <a:buFont typeface="Arial" charset="0"/>
              <a:buChar char="•"/>
            </a:pPr>
            <a:r>
              <a:rPr lang="ko-KR" altLang="en-US" sz="1200" dirty="0" smtClean="0">
                <a:latin typeface="+mn-ea"/>
              </a:rPr>
              <a:t>실명번호 확인 불가한 이해관계인 실명번호 확인 요청</a:t>
            </a:r>
            <a:endParaRPr lang="en-US" altLang="ko-KR" sz="1200" dirty="0" smtClean="0">
              <a:latin typeface="+mn-ea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549169" y="4448790"/>
            <a:ext cx="80531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b="1" dirty="0" smtClean="0">
                <a:latin typeface="+mn-ea"/>
              </a:rPr>
              <a:t>   다</a:t>
            </a:r>
            <a:r>
              <a:rPr lang="en-US" altLang="ko-KR" sz="1200" b="1" dirty="0" smtClean="0">
                <a:latin typeface="+mn-ea"/>
              </a:rPr>
              <a:t>. </a:t>
            </a:r>
            <a:r>
              <a:rPr lang="ko-KR" altLang="en-US" sz="1200" b="1" dirty="0" smtClean="0">
                <a:latin typeface="+mn-ea"/>
              </a:rPr>
              <a:t>공매 해제 협의</a:t>
            </a:r>
            <a:endParaRPr lang="en-US" altLang="ko-KR" sz="1200" b="1" dirty="0" smtClean="0">
              <a:latin typeface="+mn-ea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752758" y="4737918"/>
            <a:ext cx="784220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charset="0"/>
              <a:buChar char="•"/>
            </a:pPr>
            <a:r>
              <a:rPr lang="ko-KR" altLang="en-US" sz="1200" dirty="0" smtClean="0">
                <a:latin typeface="+mn-ea"/>
              </a:rPr>
              <a:t>예고등기</a:t>
            </a:r>
            <a:r>
              <a:rPr lang="en-US" altLang="ko-KR" sz="1200" dirty="0" smtClean="0">
                <a:latin typeface="+mn-ea"/>
              </a:rPr>
              <a:t>, </a:t>
            </a:r>
            <a:r>
              <a:rPr lang="ko-KR" altLang="en-US" sz="1200" dirty="0" err="1" smtClean="0">
                <a:latin typeface="+mn-ea"/>
              </a:rPr>
              <a:t>선순위</a:t>
            </a:r>
            <a:r>
              <a:rPr lang="ko-KR" altLang="en-US" sz="1200" dirty="0" smtClean="0">
                <a:latin typeface="+mn-ea"/>
              </a:rPr>
              <a:t> 가등기</a:t>
            </a:r>
            <a:r>
              <a:rPr lang="en-US" altLang="ko-KR" sz="1200" dirty="0" smtClean="0">
                <a:latin typeface="+mn-ea"/>
              </a:rPr>
              <a:t>·</a:t>
            </a:r>
            <a:r>
              <a:rPr lang="ko-KR" altLang="en-US" sz="1200" dirty="0" smtClean="0">
                <a:latin typeface="+mn-ea"/>
              </a:rPr>
              <a:t>가처분 등기</a:t>
            </a:r>
            <a:endParaRPr lang="en-US" altLang="ko-KR" sz="1200" dirty="0" smtClean="0">
              <a:latin typeface="+mn-ea"/>
            </a:endParaRPr>
          </a:p>
          <a:p>
            <a:pPr marL="171450" indent="-171450">
              <a:lnSpc>
                <a:spcPct val="150000"/>
              </a:lnSpc>
              <a:buFont typeface="Arial" charset="0"/>
              <a:buChar char="•"/>
            </a:pPr>
            <a:r>
              <a:rPr lang="ko-KR" altLang="en-US" sz="1200" dirty="0" smtClean="0">
                <a:latin typeface="+mn-ea"/>
              </a:rPr>
              <a:t>하천</a:t>
            </a:r>
            <a:r>
              <a:rPr lang="en-US" altLang="ko-KR" sz="1200" dirty="0" smtClean="0">
                <a:latin typeface="+mn-ea"/>
              </a:rPr>
              <a:t>, </a:t>
            </a:r>
            <a:r>
              <a:rPr lang="ko-KR" altLang="en-US" sz="1200" dirty="0" smtClean="0">
                <a:latin typeface="+mn-ea"/>
              </a:rPr>
              <a:t>도로</a:t>
            </a:r>
            <a:r>
              <a:rPr lang="en-US" altLang="ko-KR" sz="1200" dirty="0" smtClean="0">
                <a:latin typeface="+mn-ea"/>
              </a:rPr>
              <a:t>, </a:t>
            </a:r>
            <a:r>
              <a:rPr lang="ko-KR" altLang="en-US" sz="1200" dirty="0" err="1" smtClean="0">
                <a:latin typeface="+mn-ea"/>
              </a:rPr>
              <a:t>추정가</a:t>
            </a:r>
            <a:r>
              <a:rPr lang="ko-KR" altLang="en-US" sz="1200" dirty="0" smtClean="0">
                <a:latin typeface="+mn-ea"/>
              </a:rPr>
              <a:t> 소액</a:t>
            </a:r>
            <a:r>
              <a:rPr lang="en-US" altLang="ko-KR" sz="1200" dirty="0" smtClean="0">
                <a:latin typeface="+mn-ea"/>
              </a:rPr>
              <a:t>, </a:t>
            </a:r>
            <a:r>
              <a:rPr lang="ko-KR" altLang="en-US" sz="1200" dirty="0" smtClean="0">
                <a:latin typeface="+mn-ea"/>
              </a:rPr>
              <a:t>공유자 및 </a:t>
            </a:r>
            <a:r>
              <a:rPr lang="ko-KR" altLang="en-US" sz="1200" dirty="0" err="1" smtClean="0">
                <a:latin typeface="+mn-ea"/>
              </a:rPr>
              <a:t>선순위</a:t>
            </a:r>
            <a:r>
              <a:rPr lang="ko-KR" altLang="en-US" sz="1200" dirty="0" smtClean="0">
                <a:latin typeface="+mn-ea"/>
              </a:rPr>
              <a:t> 과다</a:t>
            </a:r>
            <a:endParaRPr lang="en-US" altLang="ko-KR" sz="1200" dirty="0" smtClean="0">
              <a:latin typeface="+mn-ea"/>
            </a:endParaRPr>
          </a:p>
          <a:p>
            <a:pPr marL="171450" indent="-171450">
              <a:lnSpc>
                <a:spcPct val="150000"/>
              </a:lnSpc>
              <a:buFont typeface="Arial" charset="0"/>
              <a:buChar char="•"/>
            </a:pPr>
            <a:r>
              <a:rPr lang="ko-KR" altLang="en-US" sz="1200" dirty="0" smtClean="0">
                <a:latin typeface="+mn-ea"/>
              </a:rPr>
              <a:t>그 외 공매를 진행할 수 없는 사유가 있을 경우</a:t>
            </a:r>
            <a:endParaRPr lang="en-US" altLang="ko-KR" sz="1200" dirty="0" smtClean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9244222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직사각형 17"/>
          <p:cNvSpPr/>
          <p:nvPr/>
        </p:nvSpPr>
        <p:spPr>
          <a:xfrm>
            <a:off x="549689" y="1266263"/>
            <a:ext cx="8054384" cy="33861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extBox 1"/>
          <p:cNvSpPr txBox="1"/>
          <p:nvPr/>
        </p:nvSpPr>
        <p:spPr>
          <a:xfrm>
            <a:off x="516164" y="537582"/>
            <a:ext cx="2505814" cy="477054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altLang="ko-KR" sz="2500" b="1" spc="-1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063A7A"/>
                </a:solidFill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Ⅴ</a:t>
            </a:r>
            <a:r>
              <a:rPr lang="en-US" altLang="ko-KR" sz="2500" b="1" spc="-150" dirty="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063A7A"/>
                </a:solidFill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. </a:t>
            </a:r>
            <a:r>
              <a:rPr lang="ko-KR" altLang="en-US" sz="2500" b="1" spc="-150" dirty="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063A7A"/>
                </a:solidFill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공매 주요 내용 </a:t>
            </a:r>
            <a:endParaRPr lang="ko-KR" altLang="en-US" sz="2500" b="1" spc="-15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rgbClr val="063A7A"/>
              </a:solidFill>
              <a:latin typeface="08서울남산체 B" panose="02020603020101020101" pitchFamily="18" charset="-127"/>
              <a:ea typeface="08서울남산체 B" panose="02020603020101020101" pitchFamily="18" charset="-127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60645" y="1242780"/>
            <a:ext cx="7841697" cy="378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400"/>
              </a:lnSpc>
            </a:pPr>
            <a:r>
              <a:rPr lang="ko-KR" altLang="en-US" dirty="0" smtClean="0"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지방세징수법 제</a:t>
            </a:r>
            <a:r>
              <a:rPr lang="en-US" altLang="ko-KR" dirty="0" smtClean="0"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104</a:t>
            </a:r>
            <a:r>
              <a:rPr lang="ko-KR" altLang="en-US" dirty="0" smtClean="0"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조</a:t>
            </a:r>
            <a:r>
              <a:rPr lang="en-US" altLang="ko-KR" dirty="0" smtClean="0"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(</a:t>
            </a:r>
            <a:r>
              <a:rPr lang="ko-KR" altLang="en-US" dirty="0" smtClean="0"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체납처분의 중지와 그 공고</a:t>
            </a:r>
            <a:r>
              <a:rPr lang="en-US" altLang="ko-KR" dirty="0" smtClean="0"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)</a:t>
            </a:r>
            <a:endParaRPr lang="ko-KR" altLang="en-US" dirty="0">
              <a:latin typeface="08서울남산체 B" panose="02020603020101020101" pitchFamily="18" charset="-127"/>
              <a:ea typeface="08서울남산체 B" panose="02020603020101020101" pitchFamily="18" charset="-127"/>
            </a:endParaRPr>
          </a:p>
        </p:txBody>
      </p:sp>
      <p:cxnSp>
        <p:nvCxnSpPr>
          <p:cNvPr id="21" name="직선 연결선 20"/>
          <p:cNvCxnSpPr/>
          <p:nvPr/>
        </p:nvCxnSpPr>
        <p:spPr>
          <a:xfrm>
            <a:off x="539552" y="1079631"/>
            <a:ext cx="8064000" cy="0"/>
          </a:xfrm>
          <a:prstGeom prst="line">
            <a:avLst/>
          </a:prstGeom>
          <a:ln w="38100">
            <a:solidFill>
              <a:srgbClr val="6982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연결선 21"/>
          <p:cNvCxnSpPr/>
          <p:nvPr/>
        </p:nvCxnSpPr>
        <p:spPr>
          <a:xfrm>
            <a:off x="530587" y="6021288"/>
            <a:ext cx="8064896" cy="0"/>
          </a:xfrm>
          <a:prstGeom prst="line">
            <a:avLst/>
          </a:prstGeom>
          <a:ln w="12700">
            <a:solidFill>
              <a:srgbClr val="AEADB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4" name="그림 23" descr="캠코 배경없음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5886073" y="6303415"/>
            <a:ext cx="2718000" cy="195034"/>
          </a:xfrm>
          <a:prstGeom prst="rect">
            <a:avLst/>
          </a:prstGeom>
        </p:spPr>
      </p:pic>
      <p:pic>
        <p:nvPicPr>
          <p:cNvPr id="26" name="그림 25" descr="kamco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7913248" y="755739"/>
            <a:ext cx="691200" cy="196766"/>
          </a:xfrm>
          <a:prstGeom prst="rect">
            <a:avLst/>
          </a:prstGeom>
        </p:spPr>
      </p:pic>
      <p:sp>
        <p:nvSpPr>
          <p:cNvPr id="89" name="직사각형 88"/>
          <p:cNvSpPr/>
          <p:nvPr/>
        </p:nvSpPr>
        <p:spPr>
          <a:xfrm>
            <a:off x="548480" y="1290070"/>
            <a:ext cx="42191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200" b="1" spc="-200" dirty="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698299"/>
                </a:solidFill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▶ </a:t>
            </a:r>
            <a:endParaRPr lang="ko-KR" altLang="en-US" sz="1200" dirty="0">
              <a:latin typeface="08서울남산체 B" panose="02020603020101020101" pitchFamily="18" charset="-127"/>
              <a:ea typeface="08서울남산체 B" panose="02020603020101020101" pitchFamily="18" charset="-127"/>
            </a:endParaRPr>
          </a:p>
        </p:txBody>
      </p:sp>
      <p:sp>
        <p:nvSpPr>
          <p:cNvPr id="19" name="모서리가 둥근 직사각형 18"/>
          <p:cNvSpPr/>
          <p:nvPr/>
        </p:nvSpPr>
        <p:spPr>
          <a:xfrm>
            <a:off x="549689" y="1687522"/>
            <a:ext cx="8045794" cy="1525454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TextBox 29"/>
          <p:cNvSpPr txBox="1"/>
          <p:nvPr/>
        </p:nvSpPr>
        <p:spPr>
          <a:xfrm>
            <a:off x="549689" y="1798147"/>
            <a:ext cx="8045794" cy="13042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1050" dirty="0" smtClean="0">
                <a:latin typeface="+mn-ea"/>
              </a:rPr>
              <a:t>체납처분의 목적물인 총재산의 추산가액이 체납처분비에 충당하고 남을 여지가 없을 때에는 체납처분을 중지하여야 한다</a:t>
            </a:r>
            <a:r>
              <a:rPr lang="en-US" altLang="ko-KR" sz="1050" dirty="0" smtClean="0">
                <a:latin typeface="+mn-ea"/>
              </a:rPr>
              <a:t>.</a:t>
            </a:r>
          </a:p>
          <a:p>
            <a:pPr marL="228600" indent="-228600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1050" dirty="0" smtClean="0">
                <a:latin typeface="+mn-ea"/>
              </a:rPr>
              <a:t>체납처분의 목적물인 재산이 「지방세기본법」 제</a:t>
            </a:r>
            <a:r>
              <a:rPr lang="en-US" altLang="ko-KR" sz="1050" dirty="0" smtClean="0">
                <a:latin typeface="+mn-ea"/>
              </a:rPr>
              <a:t>71</a:t>
            </a:r>
            <a:r>
              <a:rPr lang="ko-KR" altLang="en-US" sz="1050" dirty="0" smtClean="0">
                <a:latin typeface="+mn-ea"/>
              </a:rPr>
              <a:t>조 제</a:t>
            </a:r>
            <a:r>
              <a:rPr lang="en-US" altLang="ko-KR" sz="1050" dirty="0" smtClean="0">
                <a:latin typeface="+mn-ea"/>
              </a:rPr>
              <a:t>1</a:t>
            </a:r>
            <a:r>
              <a:rPr lang="ko-KR" altLang="en-US" sz="1050" dirty="0" smtClean="0">
                <a:latin typeface="+mn-ea"/>
              </a:rPr>
              <a:t>항 제</a:t>
            </a:r>
            <a:r>
              <a:rPr lang="en-US" altLang="ko-KR" sz="1050" dirty="0" smtClean="0">
                <a:latin typeface="+mn-ea"/>
              </a:rPr>
              <a:t>3</a:t>
            </a:r>
            <a:r>
              <a:rPr lang="ko-KR" altLang="en-US" sz="1050" dirty="0" smtClean="0">
                <a:latin typeface="+mn-ea"/>
              </a:rPr>
              <a:t>호에 따른 채권의 담보가 된 재산인 경우에 그 추산가액이</a:t>
            </a:r>
            <a:r>
              <a:rPr lang="en-US" altLang="ko-KR" sz="1050" dirty="0">
                <a:latin typeface="+mn-ea"/>
              </a:rPr>
              <a:t> </a:t>
            </a:r>
            <a:r>
              <a:rPr lang="ko-KR" altLang="en-US" sz="1050" dirty="0" smtClean="0">
                <a:latin typeface="+mn-ea"/>
              </a:rPr>
              <a:t>체납처분비와 해당 채권금액에 충당하고 남을 여지가 없을 때에도 체납처분을 중지하여야 한다</a:t>
            </a:r>
            <a:r>
              <a:rPr lang="en-US" altLang="ko-KR" sz="1050" dirty="0" smtClean="0">
                <a:latin typeface="+mn-ea"/>
              </a:rPr>
              <a:t>. </a:t>
            </a:r>
            <a:r>
              <a:rPr lang="ko-KR" altLang="en-US" sz="1050" dirty="0" smtClean="0">
                <a:latin typeface="+mn-ea"/>
              </a:rPr>
              <a:t>다만</a:t>
            </a:r>
            <a:r>
              <a:rPr lang="en-US" altLang="ko-KR" sz="1050" dirty="0" smtClean="0">
                <a:latin typeface="+mn-ea"/>
              </a:rPr>
              <a:t>, </a:t>
            </a:r>
            <a:r>
              <a:rPr lang="ko-KR" altLang="en-US" sz="1050" dirty="0" smtClean="0">
                <a:latin typeface="+mn-ea"/>
              </a:rPr>
              <a:t>체납처분의 목적물인 재산에 대하여 제</a:t>
            </a:r>
            <a:r>
              <a:rPr lang="en-US" altLang="ko-KR" sz="1050" dirty="0" smtClean="0">
                <a:latin typeface="+mn-ea"/>
              </a:rPr>
              <a:t>66</a:t>
            </a:r>
            <a:r>
              <a:rPr lang="ko-KR" altLang="en-US" sz="1050" dirty="0" smtClean="0">
                <a:latin typeface="+mn-ea"/>
              </a:rPr>
              <a:t>조에 따른 교부청구 또는 제</a:t>
            </a:r>
            <a:r>
              <a:rPr lang="en-US" altLang="ko-KR" sz="1050" dirty="0" smtClean="0">
                <a:latin typeface="+mn-ea"/>
              </a:rPr>
              <a:t>67</a:t>
            </a:r>
            <a:r>
              <a:rPr lang="ko-KR" altLang="en-US" sz="1050" dirty="0" smtClean="0">
                <a:latin typeface="+mn-ea"/>
              </a:rPr>
              <a:t>조에 따른 참가압류가 있는 경우 지방자치단체의 장은 체납처분을 중지하지 아니할</a:t>
            </a:r>
            <a:r>
              <a:rPr lang="en-US" altLang="ko-KR" sz="1050" dirty="0" smtClean="0">
                <a:latin typeface="+mn-ea"/>
              </a:rPr>
              <a:t> </a:t>
            </a:r>
            <a:r>
              <a:rPr lang="ko-KR" altLang="en-US" sz="1050" dirty="0" smtClean="0">
                <a:latin typeface="+mn-ea"/>
              </a:rPr>
              <a:t>수 있다</a:t>
            </a:r>
            <a:r>
              <a:rPr lang="en-US" altLang="ko-KR" sz="1050" dirty="0" smtClean="0">
                <a:latin typeface="+mn-ea"/>
              </a:rPr>
              <a:t>.</a:t>
            </a:r>
          </a:p>
        </p:txBody>
      </p:sp>
      <p:sp>
        <p:nvSpPr>
          <p:cNvPr id="31" name="모서리가 둥근 직사각형 30"/>
          <p:cNvSpPr/>
          <p:nvPr/>
        </p:nvSpPr>
        <p:spPr>
          <a:xfrm>
            <a:off x="550379" y="3789040"/>
            <a:ext cx="8064896" cy="1812362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latin typeface="+mn-ea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550379" y="3831399"/>
            <a:ext cx="8064896" cy="1708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000" dirty="0">
                <a:latin typeface="+mn-ea"/>
              </a:rPr>
              <a:t> </a:t>
            </a:r>
            <a:r>
              <a:rPr lang="en-US" altLang="ko-KR" sz="1000" dirty="0" smtClean="0">
                <a:latin typeface="+mn-ea"/>
              </a:rPr>
              <a:t>  1</a:t>
            </a:r>
            <a:r>
              <a:rPr lang="ko-KR" altLang="en-US" sz="1000" dirty="0" smtClean="0">
                <a:latin typeface="+mn-ea"/>
              </a:rPr>
              <a:t>동의 건물의 일부분이 구분소유권의 객체가 될 수 있으려면 그 부분이 이용상은 물론 구조상으로도 다른 부분과 구분되는 독립성이 있어야 하고</a:t>
            </a:r>
            <a:r>
              <a:rPr lang="en-US" altLang="ko-KR" sz="1000" dirty="0" smtClean="0">
                <a:latin typeface="+mn-ea"/>
              </a:rPr>
              <a:t>, </a:t>
            </a:r>
            <a:r>
              <a:rPr lang="ko-KR" altLang="en-US" sz="1000" dirty="0" smtClean="0">
                <a:latin typeface="+mn-ea"/>
              </a:rPr>
              <a:t>그 이용 상황 내지 이용 형태에 따라 구조상의 독립성 판단의 엄격성에 차이가 있을 수 있으나</a:t>
            </a:r>
            <a:r>
              <a:rPr lang="en-US" altLang="ko-KR" sz="1000" dirty="0" smtClean="0">
                <a:latin typeface="+mn-ea"/>
              </a:rPr>
              <a:t>, </a:t>
            </a:r>
            <a:r>
              <a:rPr lang="ko-KR" altLang="en-US" sz="1000" dirty="0" smtClean="0">
                <a:latin typeface="+mn-ea"/>
              </a:rPr>
              <a:t>구조상의 독립성은 주로 소유권의 목적이 되는 객체에 대한 물적 지배의 범위를 명확히 할 필요성 때문에 요구된다고 할 것이므로</a:t>
            </a:r>
            <a:r>
              <a:rPr lang="en-US" altLang="ko-KR" sz="1000" dirty="0" smtClean="0">
                <a:latin typeface="+mn-ea"/>
              </a:rPr>
              <a:t>, </a:t>
            </a:r>
            <a:r>
              <a:rPr lang="ko-KR" altLang="en-US" sz="1000" dirty="0" smtClean="0">
                <a:latin typeface="+mn-ea"/>
              </a:rPr>
              <a:t>구조상의 구분에 의하여 구분소유권의 객체 범위를 확정할 수 없는 경우에는 구조상의 독립성이 있다고 할 수 없다</a:t>
            </a:r>
            <a:r>
              <a:rPr lang="en-US" altLang="ko-KR" sz="1000" dirty="0" smtClean="0">
                <a:latin typeface="+mn-ea"/>
              </a:rPr>
              <a:t>. </a:t>
            </a:r>
            <a:r>
              <a:rPr lang="ko-KR" altLang="en-US" sz="1000" dirty="0" smtClean="0">
                <a:latin typeface="+mn-ea"/>
              </a:rPr>
              <a:t>그리고 구분소유권의 객체로서 적합한 물리적 요건을 갖추지 못한 건물의 일부는 그에 관한 구분소유권이 성립할 수 없는 것이어서</a:t>
            </a:r>
            <a:r>
              <a:rPr lang="en-US" altLang="ko-KR" sz="1000" dirty="0" smtClean="0">
                <a:latin typeface="+mn-ea"/>
              </a:rPr>
              <a:t>, </a:t>
            </a:r>
            <a:r>
              <a:rPr lang="ko-KR" altLang="en-US" sz="1000" dirty="0" smtClean="0">
                <a:latin typeface="+mn-ea"/>
              </a:rPr>
              <a:t>건축물관리대장상 독립한 별개의 구분건물로 등재되고 등기부상에도 구분소유권의 목적으로 등기되어 있어 이러한 등기에 기초하여 경매절차가 진행되어 매각허가를 받고 매수대금을 납부하였다 하더라도</a:t>
            </a:r>
            <a:r>
              <a:rPr lang="en-US" altLang="ko-KR" sz="1000" dirty="0" smtClean="0">
                <a:latin typeface="+mn-ea"/>
              </a:rPr>
              <a:t>, </a:t>
            </a:r>
            <a:r>
              <a:rPr lang="ko-KR" altLang="en-US" sz="1000" dirty="0" smtClean="0">
                <a:latin typeface="+mn-ea"/>
              </a:rPr>
              <a:t>그 등기는 그 자체로 무효이므로 매수인은 소유권을 취득할 수 없다</a:t>
            </a:r>
            <a:r>
              <a:rPr lang="en-US" altLang="ko-KR" sz="1000" dirty="0" smtClean="0">
                <a:latin typeface="+mn-ea"/>
              </a:rPr>
              <a:t>. ( </a:t>
            </a:r>
            <a:r>
              <a:rPr lang="ko-KR" altLang="en-US" sz="1000" dirty="0" smtClean="0">
                <a:latin typeface="+mn-ea"/>
              </a:rPr>
              <a:t>대법원 </a:t>
            </a:r>
            <a:r>
              <a:rPr lang="en-US" altLang="ko-KR" sz="1000" dirty="0" smtClean="0">
                <a:latin typeface="+mn-ea"/>
              </a:rPr>
              <a:t>2008. 9. 11. </a:t>
            </a:r>
            <a:r>
              <a:rPr lang="ko-KR" altLang="en-US" sz="1000" dirty="0" smtClean="0">
                <a:latin typeface="+mn-ea"/>
              </a:rPr>
              <a:t>자 </a:t>
            </a:r>
            <a:r>
              <a:rPr lang="en-US" altLang="ko-KR" sz="1000" dirty="0" smtClean="0">
                <a:latin typeface="+mn-ea"/>
              </a:rPr>
              <a:t>2008</a:t>
            </a:r>
            <a:r>
              <a:rPr lang="ko-KR" altLang="en-US" sz="1000" dirty="0" smtClean="0">
                <a:latin typeface="+mn-ea"/>
              </a:rPr>
              <a:t>마</a:t>
            </a:r>
            <a:r>
              <a:rPr lang="en-US" altLang="ko-KR" sz="1000" dirty="0" smtClean="0">
                <a:latin typeface="+mn-ea"/>
              </a:rPr>
              <a:t>696 </a:t>
            </a:r>
            <a:r>
              <a:rPr lang="ko-KR" altLang="en-US" sz="1000" dirty="0" smtClean="0">
                <a:latin typeface="+mn-ea"/>
              </a:rPr>
              <a:t>결정 </a:t>
            </a:r>
            <a:r>
              <a:rPr lang="en-US" altLang="ko-KR" sz="1000" dirty="0" smtClean="0">
                <a:latin typeface="+mn-ea"/>
              </a:rPr>
              <a:t>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172554" y="5673409"/>
            <a:ext cx="63113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 smtClean="0">
                <a:solidFill>
                  <a:schemeClr val="accent1"/>
                </a:solidFill>
              </a:rPr>
              <a:t>공매의뢰 전 검토사항 </a:t>
            </a:r>
            <a:r>
              <a:rPr lang="en-US" altLang="ko-KR" sz="1000" dirty="0" smtClean="0">
                <a:solidFill>
                  <a:schemeClr val="accent1"/>
                </a:solidFill>
              </a:rPr>
              <a:t>: </a:t>
            </a:r>
            <a:r>
              <a:rPr lang="ko-KR" altLang="en-US" sz="1000" dirty="0" smtClean="0">
                <a:solidFill>
                  <a:schemeClr val="accent1"/>
                </a:solidFill>
              </a:rPr>
              <a:t>관내 상가건물 공매의뢰검토 시 압류재산 </a:t>
            </a:r>
            <a:r>
              <a:rPr lang="ko-KR" altLang="en-US" sz="1000" dirty="0" err="1" smtClean="0">
                <a:solidFill>
                  <a:schemeClr val="accent1"/>
                </a:solidFill>
              </a:rPr>
              <a:t>현장확인하여</a:t>
            </a:r>
            <a:r>
              <a:rPr lang="ko-KR" altLang="en-US" sz="1000" dirty="0" smtClean="0">
                <a:solidFill>
                  <a:schemeClr val="accent1"/>
                </a:solidFill>
              </a:rPr>
              <a:t> </a:t>
            </a:r>
            <a:r>
              <a:rPr lang="ko-KR" altLang="en-US" sz="1000" dirty="0" err="1" smtClean="0">
                <a:solidFill>
                  <a:schemeClr val="accent1"/>
                </a:solidFill>
              </a:rPr>
              <a:t>오픈상가일</a:t>
            </a:r>
            <a:r>
              <a:rPr lang="ko-KR" altLang="en-US" sz="1000" dirty="0" smtClean="0">
                <a:solidFill>
                  <a:schemeClr val="accent1"/>
                </a:solidFill>
              </a:rPr>
              <a:t> 경우 공매 제외</a:t>
            </a:r>
            <a:r>
              <a:rPr lang="en-US" altLang="ko-KR" sz="1000" dirty="0">
                <a:solidFill>
                  <a:schemeClr val="accent1"/>
                </a:solidFill>
              </a:rPr>
              <a:t>.</a:t>
            </a:r>
            <a:endParaRPr lang="ko-KR" altLang="en-US" sz="1000" dirty="0">
              <a:solidFill>
                <a:schemeClr val="accent1"/>
              </a:solidFill>
            </a:endParaRPr>
          </a:p>
        </p:txBody>
      </p:sp>
      <p:sp>
        <p:nvSpPr>
          <p:cNvPr id="5" name="줄무늬가 있는 오른쪽 화살표 4"/>
          <p:cNvSpPr/>
          <p:nvPr/>
        </p:nvSpPr>
        <p:spPr>
          <a:xfrm>
            <a:off x="2051720" y="5745417"/>
            <a:ext cx="180000" cy="123110"/>
          </a:xfrm>
          <a:prstGeom prst="stripedRightArrow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직사각형 22"/>
          <p:cNvSpPr/>
          <p:nvPr/>
        </p:nvSpPr>
        <p:spPr>
          <a:xfrm>
            <a:off x="551795" y="3380476"/>
            <a:ext cx="8054384" cy="33861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TextBox 24"/>
          <p:cNvSpPr txBox="1"/>
          <p:nvPr/>
        </p:nvSpPr>
        <p:spPr>
          <a:xfrm>
            <a:off x="762751" y="3356993"/>
            <a:ext cx="7841697" cy="378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400"/>
              </a:lnSpc>
            </a:pPr>
            <a:r>
              <a:rPr lang="en-US" altLang="ko-KR" dirty="0" smtClean="0"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Open </a:t>
            </a:r>
            <a:r>
              <a:rPr lang="ko-KR" altLang="en-US" dirty="0" smtClean="0"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상가 관련 판례 </a:t>
            </a:r>
            <a:r>
              <a:rPr lang="en-US" altLang="ko-KR" dirty="0" smtClean="0"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(</a:t>
            </a:r>
            <a:r>
              <a:rPr lang="ko-KR" altLang="en-US" dirty="0" smtClean="0"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대법원 </a:t>
            </a:r>
            <a:r>
              <a:rPr lang="en-US" altLang="ko-KR" dirty="0" smtClean="0"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2010.01.14.</a:t>
            </a:r>
            <a:r>
              <a:rPr lang="ko-KR" altLang="en-US" dirty="0" smtClean="0"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자 </a:t>
            </a:r>
            <a:r>
              <a:rPr lang="en-US" altLang="ko-KR" dirty="0" smtClean="0"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2009</a:t>
            </a:r>
            <a:r>
              <a:rPr lang="ko-KR" altLang="en-US" dirty="0" smtClean="0"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마</a:t>
            </a:r>
            <a:r>
              <a:rPr lang="en-US" altLang="ko-KR" dirty="0" smtClean="0"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1449 </a:t>
            </a:r>
            <a:r>
              <a:rPr lang="ko-KR" altLang="en-US" dirty="0" smtClean="0"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결정</a:t>
            </a:r>
            <a:r>
              <a:rPr lang="en-US" altLang="ko-KR" dirty="0" smtClean="0"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)</a:t>
            </a:r>
            <a:endParaRPr lang="ko-KR" altLang="en-US" dirty="0">
              <a:latin typeface="08서울남산체 B" panose="02020603020101020101" pitchFamily="18" charset="-127"/>
              <a:ea typeface="08서울남산체 B" panose="02020603020101020101" pitchFamily="18" charset="-127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50586" y="3404283"/>
            <a:ext cx="42191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200" b="1" spc="-200" dirty="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698299"/>
                </a:solidFill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▶ </a:t>
            </a:r>
            <a:endParaRPr lang="ko-KR" altLang="en-US" sz="1200" dirty="0">
              <a:latin typeface="08서울남산체 B" panose="02020603020101020101" pitchFamily="18" charset="-127"/>
              <a:ea typeface="08서울남산체 B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216475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모서리가 둥근 직사각형 3"/>
          <p:cNvSpPr/>
          <p:nvPr/>
        </p:nvSpPr>
        <p:spPr>
          <a:xfrm>
            <a:off x="683568" y="1743199"/>
            <a:ext cx="7704856" cy="1580672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직사각형 17"/>
          <p:cNvSpPr/>
          <p:nvPr/>
        </p:nvSpPr>
        <p:spPr>
          <a:xfrm>
            <a:off x="549689" y="1262626"/>
            <a:ext cx="8054384" cy="33861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extBox 1"/>
          <p:cNvSpPr txBox="1"/>
          <p:nvPr/>
        </p:nvSpPr>
        <p:spPr>
          <a:xfrm>
            <a:off x="516164" y="537582"/>
            <a:ext cx="2505814" cy="477054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altLang="ko-KR" sz="2500" b="1" spc="-1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063A7A"/>
                </a:solidFill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Ⅴ</a:t>
            </a:r>
            <a:r>
              <a:rPr lang="en-US" altLang="ko-KR" sz="2500" b="1" spc="-150" dirty="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063A7A"/>
                </a:solidFill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. </a:t>
            </a:r>
            <a:r>
              <a:rPr lang="ko-KR" altLang="en-US" sz="2500" b="1" spc="-150" dirty="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063A7A"/>
                </a:solidFill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공매 주요 내용 </a:t>
            </a:r>
            <a:endParaRPr lang="ko-KR" altLang="en-US" sz="2500" b="1" spc="-15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rgbClr val="063A7A"/>
              </a:solidFill>
              <a:latin typeface="08서울남산체 B" panose="02020603020101020101" pitchFamily="18" charset="-127"/>
              <a:ea typeface="08서울남산체 B" panose="02020603020101020101" pitchFamily="18" charset="-127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60645" y="1239143"/>
            <a:ext cx="7841697" cy="378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400"/>
              </a:lnSpc>
            </a:pPr>
            <a:r>
              <a:rPr lang="ko-KR" altLang="en-US" dirty="0" smtClean="0"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공매공고 후 공매중지</a:t>
            </a:r>
            <a:r>
              <a:rPr lang="en-US" altLang="ko-KR" dirty="0" smtClean="0"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 </a:t>
            </a:r>
            <a:r>
              <a:rPr lang="ko-KR" altLang="en-US" dirty="0" smtClean="0"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사유 및 시점</a:t>
            </a:r>
            <a:endParaRPr lang="ko-KR" altLang="en-US" dirty="0">
              <a:latin typeface="08서울남산체 B" panose="02020603020101020101" pitchFamily="18" charset="-127"/>
              <a:ea typeface="08서울남산체 B" panose="02020603020101020101" pitchFamily="18" charset="-127"/>
            </a:endParaRPr>
          </a:p>
        </p:txBody>
      </p:sp>
      <p:cxnSp>
        <p:nvCxnSpPr>
          <p:cNvPr id="21" name="직선 연결선 20"/>
          <p:cNvCxnSpPr/>
          <p:nvPr/>
        </p:nvCxnSpPr>
        <p:spPr>
          <a:xfrm>
            <a:off x="539552" y="1079631"/>
            <a:ext cx="8064000" cy="0"/>
          </a:xfrm>
          <a:prstGeom prst="line">
            <a:avLst/>
          </a:prstGeom>
          <a:ln w="38100">
            <a:solidFill>
              <a:srgbClr val="6982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연결선 21"/>
          <p:cNvCxnSpPr/>
          <p:nvPr/>
        </p:nvCxnSpPr>
        <p:spPr>
          <a:xfrm>
            <a:off x="530587" y="6021288"/>
            <a:ext cx="8064896" cy="0"/>
          </a:xfrm>
          <a:prstGeom prst="line">
            <a:avLst/>
          </a:prstGeom>
          <a:ln w="12700">
            <a:solidFill>
              <a:srgbClr val="AEADB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4" name="그림 23" descr="캠코 배경없음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5886073" y="6303415"/>
            <a:ext cx="2718000" cy="195034"/>
          </a:xfrm>
          <a:prstGeom prst="rect">
            <a:avLst/>
          </a:prstGeom>
        </p:spPr>
      </p:pic>
      <p:pic>
        <p:nvPicPr>
          <p:cNvPr id="26" name="그림 25" descr="kamco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7913248" y="755739"/>
            <a:ext cx="691200" cy="196766"/>
          </a:xfrm>
          <a:prstGeom prst="rect">
            <a:avLst/>
          </a:prstGeom>
        </p:spPr>
      </p:pic>
      <p:sp>
        <p:nvSpPr>
          <p:cNvPr id="89" name="직사각형 88"/>
          <p:cNvSpPr/>
          <p:nvPr/>
        </p:nvSpPr>
        <p:spPr>
          <a:xfrm>
            <a:off x="548480" y="1286433"/>
            <a:ext cx="42191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200" b="1" spc="-200" dirty="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698299"/>
                </a:solidFill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▶ </a:t>
            </a:r>
            <a:endParaRPr lang="ko-KR" altLang="en-US" sz="1200" dirty="0">
              <a:latin typeface="08서울남산체 B" panose="02020603020101020101" pitchFamily="18" charset="-127"/>
              <a:ea typeface="08서울남산체 B" panose="02020603020101020101" pitchFamily="18" charset="-127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9690" y="1743199"/>
            <a:ext cx="80457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dirty="0" smtClean="0">
                <a:latin typeface="+mn-ea"/>
              </a:rPr>
              <a:t>   </a:t>
            </a:r>
            <a:r>
              <a:rPr lang="ko-KR" altLang="en-US" sz="1200" b="1" dirty="0" smtClean="0">
                <a:latin typeface="+mn-ea"/>
              </a:rPr>
              <a:t>가</a:t>
            </a:r>
            <a:r>
              <a:rPr lang="en-US" altLang="ko-KR" sz="1200" b="1" dirty="0" smtClean="0">
                <a:latin typeface="+mn-ea"/>
              </a:rPr>
              <a:t>. </a:t>
            </a:r>
            <a:r>
              <a:rPr lang="ko-KR" altLang="en-US" sz="1200" b="1" dirty="0" smtClean="0">
                <a:latin typeface="+mn-ea"/>
              </a:rPr>
              <a:t>낙찰자 선정 전</a:t>
            </a:r>
            <a:endParaRPr lang="en-US" altLang="ko-KR" sz="1200" b="1" dirty="0" smtClean="0">
              <a:latin typeface="+mn-ea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760645" y="2031231"/>
            <a:ext cx="7627779" cy="1246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charset="0"/>
              <a:buChar char="•"/>
            </a:pPr>
            <a:r>
              <a:rPr lang="ko-KR" altLang="en-US" sz="1000" dirty="0" smtClean="0">
                <a:latin typeface="+mn-ea"/>
              </a:rPr>
              <a:t>관서의 장으로부터 공매대행 해제 또는 중지 통보를 받을 때</a:t>
            </a:r>
            <a:endParaRPr lang="en-US" altLang="ko-KR" sz="1000" dirty="0" smtClean="0">
              <a:latin typeface="+mn-ea"/>
            </a:endParaRPr>
          </a:p>
          <a:p>
            <a:pPr marL="171450" indent="-171450">
              <a:lnSpc>
                <a:spcPct val="150000"/>
              </a:lnSpc>
              <a:buFont typeface="Arial" charset="0"/>
              <a:buChar char="•"/>
            </a:pPr>
            <a:r>
              <a:rPr lang="ko-KR" altLang="en-US" sz="1000" dirty="0" smtClean="0">
                <a:latin typeface="+mn-ea"/>
              </a:rPr>
              <a:t>관서의 장으로부터 공매대행 </a:t>
            </a:r>
            <a:r>
              <a:rPr lang="ko-KR" altLang="en-US" sz="1000" dirty="0" err="1" smtClean="0">
                <a:latin typeface="+mn-ea"/>
              </a:rPr>
              <a:t>일시중지</a:t>
            </a:r>
            <a:r>
              <a:rPr lang="ko-KR" altLang="en-US" sz="1000" dirty="0" smtClean="0">
                <a:latin typeface="+mn-ea"/>
              </a:rPr>
              <a:t> 통보를 받을 때</a:t>
            </a:r>
            <a:endParaRPr lang="en-US" altLang="ko-KR" sz="1000" dirty="0" smtClean="0">
              <a:latin typeface="+mn-ea"/>
            </a:endParaRPr>
          </a:p>
          <a:p>
            <a:pPr marL="171450" indent="-171450">
              <a:lnSpc>
                <a:spcPct val="150000"/>
              </a:lnSpc>
              <a:buFont typeface="Arial" charset="0"/>
              <a:buChar char="•"/>
            </a:pPr>
            <a:r>
              <a:rPr lang="ko-KR" altLang="en-US" sz="1000" dirty="0" smtClean="0">
                <a:latin typeface="+mn-ea"/>
              </a:rPr>
              <a:t>체납세액 </a:t>
            </a:r>
            <a:r>
              <a:rPr lang="ko-KR" altLang="en-US" sz="1000" dirty="0" err="1" smtClean="0">
                <a:latin typeface="+mn-ea"/>
              </a:rPr>
              <a:t>일부납부</a:t>
            </a:r>
            <a:r>
              <a:rPr lang="en-US" altLang="ko-KR" sz="1000" dirty="0" smtClean="0">
                <a:latin typeface="+mn-ea"/>
              </a:rPr>
              <a:t>, </a:t>
            </a:r>
            <a:r>
              <a:rPr lang="ko-KR" altLang="en-US" sz="1000" dirty="0" smtClean="0">
                <a:latin typeface="+mn-ea"/>
              </a:rPr>
              <a:t>납부약속</a:t>
            </a:r>
            <a:r>
              <a:rPr lang="en-US" altLang="ko-KR" sz="1000" dirty="0" smtClean="0">
                <a:latin typeface="+mn-ea"/>
              </a:rPr>
              <a:t>, </a:t>
            </a:r>
            <a:r>
              <a:rPr lang="ko-KR" altLang="en-US" sz="1000" dirty="0" smtClean="0">
                <a:latin typeface="+mn-ea"/>
              </a:rPr>
              <a:t>유예 등의 결정으로 관서의 장으로부터 공매 </a:t>
            </a:r>
            <a:r>
              <a:rPr lang="ko-KR" altLang="en-US" sz="1000" dirty="0" err="1" smtClean="0">
                <a:latin typeface="+mn-ea"/>
              </a:rPr>
              <a:t>일시중지</a:t>
            </a:r>
            <a:r>
              <a:rPr lang="ko-KR" altLang="en-US" sz="1000" dirty="0" smtClean="0">
                <a:latin typeface="+mn-ea"/>
              </a:rPr>
              <a:t> 요청을 받을 때</a:t>
            </a:r>
            <a:endParaRPr lang="en-US" altLang="ko-KR" sz="1000" dirty="0" smtClean="0">
              <a:latin typeface="+mn-ea"/>
            </a:endParaRPr>
          </a:p>
          <a:p>
            <a:pPr marL="171450" indent="-171450">
              <a:lnSpc>
                <a:spcPct val="150000"/>
              </a:lnSpc>
              <a:buFont typeface="Arial" charset="0"/>
              <a:buChar char="•"/>
            </a:pPr>
            <a:r>
              <a:rPr lang="ko-KR" altLang="en-US" sz="1000" dirty="0" smtClean="0">
                <a:latin typeface="+mn-ea"/>
              </a:rPr>
              <a:t>체납자 또는 이해관계자로부터 국세기본법 및 지방세기본법에 따른 이의신청</a:t>
            </a:r>
            <a:r>
              <a:rPr lang="en-US" altLang="ko-KR" sz="1000" dirty="0" smtClean="0">
                <a:latin typeface="+mn-ea"/>
              </a:rPr>
              <a:t>, </a:t>
            </a:r>
            <a:r>
              <a:rPr lang="ko-KR" altLang="en-US" sz="1000" dirty="0" smtClean="0">
                <a:latin typeface="+mn-ea"/>
              </a:rPr>
              <a:t>심사청구</a:t>
            </a:r>
            <a:r>
              <a:rPr lang="en-US" altLang="ko-KR" sz="1000" dirty="0" smtClean="0">
                <a:latin typeface="+mn-ea"/>
              </a:rPr>
              <a:t>, </a:t>
            </a:r>
            <a:r>
              <a:rPr lang="ko-KR" altLang="en-US" sz="1000" dirty="0" smtClean="0">
                <a:latin typeface="+mn-ea"/>
              </a:rPr>
              <a:t>심판청구 절차가 진행 중이거나</a:t>
            </a:r>
            <a:r>
              <a:rPr lang="en-US" altLang="ko-KR" sz="1000" dirty="0" smtClean="0">
                <a:latin typeface="+mn-ea"/>
              </a:rPr>
              <a:t> </a:t>
            </a:r>
            <a:r>
              <a:rPr lang="ko-KR" altLang="en-US" sz="1000" dirty="0" smtClean="0">
                <a:latin typeface="+mn-ea"/>
              </a:rPr>
              <a:t>행정소송이 계속 중인 때 </a:t>
            </a:r>
            <a:r>
              <a:rPr lang="en-US" altLang="ko-KR" sz="1000" dirty="0" smtClean="0">
                <a:latin typeface="+mn-ea"/>
              </a:rPr>
              <a:t>(</a:t>
            </a:r>
            <a:r>
              <a:rPr lang="ko-KR" altLang="en-US" sz="1000" dirty="0" smtClean="0">
                <a:latin typeface="+mn-ea"/>
              </a:rPr>
              <a:t>국제징수법 제</a:t>
            </a:r>
            <a:r>
              <a:rPr lang="en-US" altLang="ko-KR" sz="1000" dirty="0" smtClean="0">
                <a:latin typeface="+mn-ea"/>
              </a:rPr>
              <a:t>61</a:t>
            </a:r>
            <a:r>
              <a:rPr lang="ko-KR" altLang="en-US" sz="1000" dirty="0" smtClean="0">
                <a:latin typeface="+mn-ea"/>
              </a:rPr>
              <a:t>조 제</a:t>
            </a:r>
            <a:r>
              <a:rPr lang="en-US" altLang="ko-KR" sz="1000" dirty="0" smtClean="0">
                <a:latin typeface="+mn-ea"/>
              </a:rPr>
              <a:t>4</a:t>
            </a:r>
            <a:r>
              <a:rPr lang="ko-KR" altLang="en-US" sz="1000" dirty="0" smtClean="0">
                <a:latin typeface="+mn-ea"/>
              </a:rPr>
              <a:t>항</a:t>
            </a:r>
            <a:r>
              <a:rPr lang="en-US" altLang="ko-KR" sz="1000" dirty="0" smtClean="0">
                <a:latin typeface="+mn-ea"/>
              </a:rPr>
              <a:t>, </a:t>
            </a:r>
            <a:r>
              <a:rPr lang="ko-KR" altLang="en-US" sz="1000" dirty="0" smtClean="0">
                <a:latin typeface="+mn-ea"/>
              </a:rPr>
              <a:t>지방세징수법 제</a:t>
            </a:r>
            <a:r>
              <a:rPr lang="en-US" altLang="ko-KR" sz="1000" dirty="0" smtClean="0">
                <a:latin typeface="+mn-ea"/>
              </a:rPr>
              <a:t>71</a:t>
            </a:r>
            <a:r>
              <a:rPr lang="ko-KR" altLang="en-US" sz="1000" dirty="0" smtClean="0">
                <a:latin typeface="+mn-ea"/>
              </a:rPr>
              <a:t>조 제</a:t>
            </a:r>
            <a:r>
              <a:rPr lang="en-US" altLang="ko-KR" sz="1000" dirty="0" smtClean="0">
                <a:latin typeface="+mn-ea"/>
              </a:rPr>
              <a:t>4</a:t>
            </a:r>
            <a:r>
              <a:rPr lang="ko-KR" altLang="en-US" sz="1000" dirty="0" smtClean="0">
                <a:latin typeface="+mn-ea"/>
              </a:rPr>
              <a:t>항</a:t>
            </a:r>
            <a:r>
              <a:rPr lang="en-US" altLang="ko-KR" sz="1000" dirty="0" smtClean="0">
                <a:latin typeface="+mn-ea"/>
              </a:rPr>
              <a:t>)</a:t>
            </a:r>
          </a:p>
        </p:txBody>
      </p:sp>
      <p:sp>
        <p:nvSpPr>
          <p:cNvPr id="19" name="모서리가 둥근 직사각형 18"/>
          <p:cNvSpPr/>
          <p:nvPr/>
        </p:nvSpPr>
        <p:spPr>
          <a:xfrm>
            <a:off x="683568" y="3483099"/>
            <a:ext cx="7704856" cy="914038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TextBox 28"/>
          <p:cNvSpPr txBox="1"/>
          <p:nvPr/>
        </p:nvSpPr>
        <p:spPr>
          <a:xfrm>
            <a:off x="549690" y="3483099"/>
            <a:ext cx="80457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dirty="0" smtClean="0">
                <a:latin typeface="+mn-ea"/>
              </a:rPr>
              <a:t>   </a:t>
            </a:r>
            <a:r>
              <a:rPr lang="ko-KR" altLang="en-US" sz="1200" b="1" dirty="0">
                <a:latin typeface="+mn-ea"/>
              </a:rPr>
              <a:t>나</a:t>
            </a:r>
            <a:r>
              <a:rPr lang="en-US" altLang="ko-KR" sz="1200" b="1" dirty="0" smtClean="0">
                <a:latin typeface="+mn-ea"/>
              </a:rPr>
              <a:t>. </a:t>
            </a:r>
            <a:r>
              <a:rPr lang="ko-KR" altLang="en-US" sz="1200" b="1" dirty="0" smtClean="0">
                <a:latin typeface="+mn-ea"/>
              </a:rPr>
              <a:t>낙찰자 선정 후 매각결정 전 </a:t>
            </a:r>
            <a:r>
              <a:rPr lang="en-US" altLang="ko-KR" sz="1200" b="1" dirty="0" smtClean="0">
                <a:latin typeface="+mn-ea"/>
              </a:rPr>
              <a:t>(</a:t>
            </a:r>
            <a:r>
              <a:rPr lang="ko-KR" altLang="en-US" sz="1200" b="1" dirty="0" smtClean="0">
                <a:latin typeface="+mn-ea"/>
              </a:rPr>
              <a:t>국세징수법 제</a:t>
            </a:r>
            <a:r>
              <a:rPr lang="en-US" altLang="ko-KR" sz="1200" b="1" dirty="0" smtClean="0">
                <a:latin typeface="+mn-ea"/>
              </a:rPr>
              <a:t>75</a:t>
            </a:r>
            <a:r>
              <a:rPr lang="ko-KR" altLang="en-US" sz="1200" b="1" dirty="0" smtClean="0">
                <a:latin typeface="+mn-ea"/>
              </a:rPr>
              <a:t>조 및 지방세징수법 제</a:t>
            </a:r>
            <a:r>
              <a:rPr lang="en-US" altLang="ko-KR" sz="1200" b="1" dirty="0" smtClean="0">
                <a:latin typeface="+mn-ea"/>
              </a:rPr>
              <a:t>92</a:t>
            </a:r>
            <a:r>
              <a:rPr lang="ko-KR" altLang="en-US" sz="1200" b="1" dirty="0" smtClean="0">
                <a:latin typeface="+mn-ea"/>
              </a:rPr>
              <a:t>조</a:t>
            </a:r>
            <a:r>
              <a:rPr lang="en-US" altLang="ko-KR" sz="1200" b="1" dirty="0" smtClean="0">
                <a:latin typeface="+mn-ea"/>
              </a:rPr>
              <a:t>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0645" y="3771131"/>
            <a:ext cx="762777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000" dirty="0"/>
              <a:t>국세징수법 제</a:t>
            </a:r>
            <a:r>
              <a:rPr lang="en-US" altLang="ko-KR" sz="1000" dirty="0"/>
              <a:t>71</a:t>
            </a:r>
            <a:r>
              <a:rPr lang="ko-KR" altLang="en-US" sz="1000" dirty="0"/>
              <a:t>조 및 지방세징수법 </a:t>
            </a:r>
            <a:r>
              <a:rPr lang="en-US" altLang="ko-KR" sz="1000" dirty="0"/>
              <a:t>85</a:t>
            </a:r>
            <a:r>
              <a:rPr lang="ko-KR" altLang="en-US" sz="1000" dirty="0"/>
              <a:t>조에 따른 공매중지사유가 있는 </a:t>
            </a:r>
            <a:r>
              <a:rPr lang="ko-KR" altLang="en-US" sz="1000" dirty="0" smtClean="0"/>
              <a:t>경우</a:t>
            </a:r>
            <a:endParaRPr lang="en-US" altLang="ko-KR" sz="1000" dirty="0"/>
          </a:p>
          <a:p>
            <a:pPr fontAlgn="base">
              <a:lnSpc>
                <a:spcPct val="150000"/>
              </a:lnSpc>
            </a:pPr>
            <a:r>
              <a:rPr lang="en-US" altLang="ko-KR" sz="1000" dirty="0" smtClean="0"/>
              <a:t>『 </a:t>
            </a:r>
            <a:r>
              <a:rPr lang="ko-KR" altLang="en-US" sz="1000" dirty="0"/>
              <a:t>공매를 집행하는 공무원은 매각결정 기일 전에 체납자 또는 제</a:t>
            </a:r>
            <a:r>
              <a:rPr lang="en-US" altLang="ko-KR" sz="1000" dirty="0"/>
              <a:t>3</a:t>
            </a:r>
            <a:r>
              <a:rPr lang="ko-KR" altLang="en-US" sz="1000" dirty="0"/>
              <a:t>자가 그 체납액을 완납하면 공매를 중지하여야 한다</a:t>
            </a:r>
            <a:r>
              <a:rPr lang="en-US" altLang="ko-KR" sz="1000" dirty="0" smtClean="0"/>
              <a:t>』</a:t>
            </a:r>
            <a:endParaRPr lang="ko-KR" altLang="en-US" sz="1000" dirty="0"/>
          </a:p>
        </p:txBody>
      </p:sp>
      <p:sp>
        <p:nvSpPr>
          <p:cNvPr id="38" name="모서리가 둥근 직사각형 37"/>
          <p:cNvSpPr/>
          <p:nvPr/>
        </p:nvSpPr>
        <p:spPr>
          <a:xfrm>
            <a:off x="683568" y="4573577"/>
            <a:ext cx="7704856" cy="1303695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TextBox 38"/>
          <p:cNvSpPr txBox="1"/>
          <p:nvPr/>
        </p:nvSpPr>
        <p:spPr>
          <a:xfrm>
            <a:off x="549690" y="4573577"/>
            <a:ext cx="80457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dirty="0" smtClean="0">
                <a:latin typeface="+mn-ea"/>
              </a:rPr>
              <a:t>   </a:t>
            </a:r>
            <a:r>
              <a:rPr lang="ko-KR" altLang="en-US" sz="1200" b="1" dirty="0" smtClean="0">
                <a:latin typeface="+mn-ea"/>
              </a:rPr>
              <a:t>다</a:t>
            </a:r>
            <a:r>
              <a:rPr lang="en-US" altLang="ko-KR" sz="1200" b="1" dirty="0" smtClean="0">
                <a:latin typeface="+mn-ea"/>
              </a:rPr>
              <a:t>. </a:t>
            </a:r>
            <a:r>
              <a:rPr lang="ko-KR" altLang="en-US" sz="1200" b="1" dirty="0" smtClean="0">
                <a:latin typeface="+mn-ea"/>
              </a:rPr>
              <a:t>매각결정 </a:t>
            </a:r>
            <a:r>
              <a:rPr lang="ko-KR" altLang="en-US" sz="1200" b="1" dirty="0">
                <a:latin typeface="+mn-ea"/>
              </a:rPr>
              <a:t>후</a:t>
            </a:r>
            <a:r>
              <a:rPr lang="ko-KR" altLang="en-US" sz="1200" b="1" dirty="0" smtClean="0">
                <a:latin typeface="+mn-ea"/>
              </a:rPr>
              <a:t> 매각결정 취소 </a:t>
            </a:r>
            <a:r>
              <a:rPr lang="en-US" altLang="ko-KR" sz="1200" b="1" dirty="0" smtClean="0">
                <a:latin typeface="+mn-ea"/>
              </a:rPr>
              <a:t>(</a:t>
            </a:r>
            <a:r>
              <a:rPr lang="ko-KR" altLang="en-US" sz="1200" b="1" dirty="0" smtClean="0">
                <a:latin typeface="+mn-ea"/>
              </a:rPr>
              <a:t>국세징수법 제</a:t>
            </a:r>
            <a:r>
              <a:rPr lang="en-US" altLang="ko-KR" sz="1200" b="1" dirty="0" smtClean="0">
                <a:latin typeface="+mn-ea"/>
              </a:rPr>
              <a:t>78</a:t>
            </a:r>
            <a:r>
              <a:rPr lang="ko-KR" altLang="en-US" sz="1200" b="1" dirty="0" smtClean="0">
                <a:latin typeface="+mn-ea"/>
              </a:rPr>
              <a:t>조 및 제</a:t>
            </a:r>
            <a:r>
              <a:rPr lang="en-US" altLang="ko-KR" sz="1200" b="1" dirty="0" smtClean="0">
                <a:latin typeface="+mn-ea"/>
              </a:rPr>
              <a:t>95</a:t>
            </a:r>
            <a:r>
              <a:rPr lang="ko-KR" altLang="en-US" sz="1200" b="1" dirty="0" smtClean="0">
                <a:latin typeface="+mn-ea"/>
              </a:rPr>
              <a:t>조</a:t>
            </a:r>
            <a:r>
              <a:rPr lang="en-US" altLang="ko-KR" sz="1200" b="1" dirty="0" smtClean="0">
                <a:latin typeface="+mn-ea"/>
              </a:rPr>
              <a:t>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60645" y="4861609"/>
            <a:ext cx="762777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000" dirty="0" smtClean="0"/>
              <a:t>매각결정 후 매수인이 매수대금을 납부하기 전에 체납자가 매수인의 동의를 받아 체납액을 납부하고 취소하는 경우</a:t>
            </a:r>
            <a:endParaRPr lang="en-US" altLang="ko-KR" sz="1000" dirty="0" smtClean="0"/>
          </a:p>
          <a:p>
            <a:pPr fontAlgn="base">
              <a:lnSpc>
                <a:spcPct val="150000"/>
              </a:lnSpc>
            </a:pPr>
            <a:r>
              <a:rPr lang="ko-KR" altLang="en-US" sz="1000" dirty="0"/>
              <a:t>→ </a:t>
            </a:r>
            <a:r>
              <a:rPr lang="ko-KR" altLang="en-US" sz="1000" dirty="0" smtClean="0"/>
              <a:t>공매보증금 </a:t>
            </a:r>
            <a:r>
              <a:rPr lang="ko-KR" altLang="en-US" sz="1000" dirty="0"/>
              <a:t>매수인에게 반환</a:t>
            </a:r>
            <a:endParaRPr lang="en-US" altLang="ko-KR" sz="1000" dirty="0" smtClean="0"/>
          </a:p>
          <a:p>
            <a:pPr marL="171450" indent="-171450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000" dirty="0" smtClean="0"/>
              <a:t>매수인에게 매수대금 납부최고 하여도 매수인이 매수대금을 지정된 기한까지 납부하지 아니하는 경우</a:t>
            </a:r>
            <a:endParaRPr lang="en-US" altLang="ko-KR" sz="1000" dirty="0" smtClean="0"/>
          </a:p>
          <a:p>
            <a:pPr fontAlgn="base">
              <a:lnSpc>
                <a:spcPct val="150000"/>
              </a:lnSpc>
            </a:pPr>
            <a:r>
              <a:rPr lang="ko-KR" altLang="en-US" sz="1000" dirty="0" smtClean="0"/>
              <a:t>→ 공매보증금을 체납처분비</a:t>
            </a:r>
            <a:r>
              <a:rPr lang="en-US" altLang="ko-KR" sz="1000" dirty="0" smtClean="0"/>
              <a:t>, </a:t>
            </a:r>
            <a:r>
              <a:rPr lang="ko-KR" altLang="en-US" sz="1000" dirty="0" smtClean="0"/>
              <a:t>압류와 관계되는 지방세</a:t>
            </a:r>
            <a:r>
              <a:rPr lang="en-US" altLang="ko-KR" sz="1000" dirty="0" smtClean="0"/>
              <a:t>, </a:t>
            </a:r>
            <a:r>
              <a:rPr lang="ko-KR" altLang="en-US" sz="1000" dirty="0" smtClean="0"/>
              <a:t>가산금의 순위로 충당하며</a:t>
            </a:r>
            <a:r>
              <a:rPr lang="en-US" altLang="ko-KR" sz="1000" dirty="0" smtClean="0"/>
              <a:t> </a:t>
            </a:r>
            <a:r>
              <a:rPr lang="ko-KR" altLang="en-US" sz="1000" dirty="0" smtClean="0"/>
              <a:t>남은 금액은 체납자에게 지급</a:t>
            </a:r>
            <a:endParaRPr lang="en-US" altLang="ko-KR" sz="1000" dirty="0"/>
          </a:p>
        </p:txBody>
      </p:sp>
    </p:spTree>
    <p:extLst>
      <p:ext uri="{BB962C8B-B14F-4D97-AF65-F5344CB8AC3E}">
        <p14:creationId xmlns:p14="http://schemas.microsoft.com/office/powerpoint/2010/main" val="93648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16164" y="537582"/>
            <a:ext cx="3752950" cy="477054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altLang="ko-KR" sz="2500" b="1" spc="-150" dirty="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063A7A"/>
                </a:solidFill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Ⅴ. </a:t>
            </a:r>
            <a:r>
              <a:rPr lang="ko-KR" altLang="en-US" sz="2500" b="1" spc="-150" dirty="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063A7A"/>
                </a:solidFill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공매 주요 내용 </a:t>
            </a:r>
            <a:r>
              <a:rPr lang="en-US" altLang="ko-KR" sz="2500" b="1" spc="-150" dirty="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063A7A"/>
                </a:solidFill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- </a:t>
            </a:r>
            <a:r>
              <a:rPr lang="ko-KR" altLang="en-US" sz="2500" b="1" spc="-150" dirty="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063A7A"/>
                </a:solidFill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매각결정</a:t>
            </a:r>
            <a:endParaRPr lang="ko-KR" altLang="en-US" sz="2500" b="1" spc="-15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rgbClr val="063A7A"/>
              </a:solidFill>
              <a:latin typeface="08서울남산체 B" panose="02020603020101020101" pitchFamily="18" charset="-127"/>
              <a:ea typeface="08서울남산체 B" panose="02020603020101020101" pitchFamily="18" charset="-127"/>
            </a:endParaRPr>
          </a:p>
        </p:txBody>
      </p:sp>
      <p:cxnSp>
        <p:nvCxnSpPr>
          <p:cNvPr id="21" name="직선 연결선 20"/>
          <p:cNvCxnSpPr/>
          <p:nvPr/>
        </p:nvCxnSpPr>
        <p:spPr>
          <a:xfrm>
            <a:off x="539552" y="1079631"/>
            <a:ext cx="8064000" cy="0"/>
          </a:xfrm>
          <a:prstGeom prst="line">
            <a:avLst/>
          </a:prstGeom>
          <a:ln w="38100">
            <a:solidFill>
              <a:srgbClr val="6982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연결선 21"/>
          <p:cNvCxnSpPr/>
          <p:nvPr/>
        </p:nvCxnSpPr>
        <p:spPr>
          <a:xfrm>
            <a:off x="530587" y="6192487"/>
            <a:ext cx="8064896" cy="0"/>
          </a:xfrm>
          <a:prstGeom prst="line">
            <a:avLst/>
          </a:prstGeom>
          <a:ln w="12700">
            <a:solidFill>
              <a:srgbClr val="AEADB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4" name="그림 23" descr="캠코 배경없음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5886073" y="6303415"/>
            <a:ext cx="2718000" cy="195034"/>
          </a:xfrm>
          <a:prstGeom prst="rect">
            <a:avLst/>
          </a:prstGeom>
        </p:spPr>
      </p:pic>
      <p:pic>
        <p:nvPicPr>
          <p:cNvPr id="26" name="그림 25" descr="kamco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7913248" y="755739"/>
            <a:ext cx="691200" cy="196766"/>
          </a:xfrm>
          <a:prstGeom prst="rect">
            <a:avLst/>
          </a:prstGeom>
        </p:spPr>
      </p:pic>
      <p:sp>
        <p:nvSpPr>
          <p:cNvPr id="40" name="직사각형 39"/>
          <p:cNvSpPr/>
          <p:nvPr/>
        </p:nvSpPr>
        <p:spPr>
          <a:xfrm>
            <a:off x="540138" y="1319276"/>
            <a:ext cx="804579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ts val="2400"/>
              </a:lnSpc>
            </a:pPr>
            <a:r>
              <a:rPr lang="ko-KR" altLang="en-US" sz="1500" b="1" dirty="0" smtClean="0"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   가</a:t>
            </a:r>
            <a:r>
              <a:rPr lang="en-US" altLang="ko-KR" sz="1500" b="1" dirty="0" smtClean="0"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. </a:t>
            </a:r>
            <a:r>
              <a:rPr lang="ko-KR" altLang="en-US" sz="1500" b="1" dirty="0" smtClean="0"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매각결정기일</a:t>
            </a:r>
            <a:endParaRPr lang="en-US" altLang="ko-KR" sz="1500" b="1" dirty="0" smtClean="0">
              <a:latin typeface="08서울남산체 B" panose="02020603020101020101" pitchFamily="18" charset="-127"/>
              <a:ea typeface="08서울남산체 B" panose="02020603020101020101" pitchFamily="18" charset="-127"/>
            </a:endParaRPr>
          </a:p>
        </p:txBody>
      </p:sp>
      <p:sp>
        <p:nvSpPr>
          <p:cNvPr id="41" name="직사각형 40"/>
          <p:cNvSpPr/>
          <p:nvPr/>
        </p:nvSpPr>
        <p:spPr>
          <a:xfrm>
            <a:off x="540138" y="2399396"/>
            <a:ext cx="804579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16000" indent="-216000">
              <a:lnSpc>
                <a:spcPts val="2400"/>
              </a:lnSpc>
            </a:pPr>
            <a:r>
              <a:rPr lang="ko-KR" altLang="en-US" sz="1500" b="1" dirty="0" smtClean="0"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   나</a:t>
            </a:r>
            <a:r>
              <a:rPr lang="en-US" altLang="ko-KR" sz="1500" b="1" dirty="0"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. </a:t>
            </a:r>
            <a:r>
              <a:rPr lang="ko-KR" altLang="en-US" sz="1500" b="1" dirty="0" smtClean="0"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매각결정 의의 및 중요성</a:t>
            </a:r>
            <a:endParaRPr lang="en-US" altLang="ko-KR" sz="1500" b="1" dirty="0">
              <a:latin typeface="08서울남산체 B" panose="02020603020101020101" pitchFamily="18" charset="-127"/>
              <a:ea typeface="08서울남산체 B" panose="02020603020101020101" pitchFamily="18" charset="-127"/>
            </a:endParaRPr>
          </a:p>
        </p:txBody>
      </p:sp>
      <p:sp>
        <p:nvSpPr>
          <p:cNvPr id="46" name="직사각형 45"/>
          <p:cNvSpPr/>
          <p:nvPr/>
        </p:nvSpPr>
        <p:spPr>
          <a:xfrm>
            <a:off x="540138" y="1688864"/>
            <a:ext cx="8045794" cy="418833"/>
          </a:xfrm>
          <a:prstGeom prst="rect">
            <a:avLst/>
          </a:prstGeom>
          <a:solidFill>
            <a:schemeClr val="bg1">
              <a:lumMod val="95000"/>
            </a:schemeClr>
          </a:solidFill>
          <a:effectLst>
            <a:softEdge rad="12700"/>
          </a:effectLst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 smtClean="0"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개찰일로부터 </a:t>
            </a:r>
            <a:r>
              <a:rPr lang="en-US" altLang="ko-KR" sz="1600" dirty="0"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3</a:t>
            </a:r>
            <a:r>
              <a:rPr lang="ko-KR" altLang="en-US" sz="1600" dirty="0"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일 이내</a:t>
            </a:r>
            <a:r>
              <a:rPr lang="en-US" altLang="ko-KR" sz="1600" dirty="0"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, </a:t>
            </a:r>
            <a:r>
              <a:rPr lang="ko-KR" altLang="en-US" sz="1600" dirty="0"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효력발생은 </a:t>
            </a:r>
            <a:r>
              <a:rPr lang="ko-KR" altLang="en-US" sz="1600" dirty="0" err="1"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매각결정기일에</a:t>
            </a:r>
            <a:r>
              <a:rPr lang="ko-KR" altLang="en-US" sz="1600" dirty="0"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 매각결정을 할 </a:t>
            </a:r>
            <a:r>
              <a:rPr lang="ko-KR" altLang="en-US" sz="1600" dirty="0" smtClean="0"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때</a:t>
            </a:r>
            <a:endParaRPr lang="en-US" altLang="ko-KR" sz="1600" dirty="0">
              <a:latin typeface="08서울남산체 B" panose="02020603020101020101" pitchFamily="18" charset="-127"/>
              <a:ea typeface="08서울남산체 B" panose="02020603020101020101" pitchFamily="18" charset="-127"/>
            </a:endParaRPr>
          </a:p>
        </p:txBody>
      </p:sp>
      <p:sp>
        <p:nvSpPr>
          <p:cNvPr id="17" name="직사각형 16"/>
          <p:cNvSpPr/>
          <p:nvPr/>
        </p:nvSpPr>
        <p:spPr>
          <a:xfrm>
            <a:off x="540138" y="2799506"/>
            <a:ext cx="8064310" cy="3077766"/>
          </a:xfrm>
          <a:prstGeom prst="rect">
            <a:avLst/>
          </a:prstGeom>
          <a:solidFill>
            <a:schemeClr val="bg1">
              <a:lumMod val="95000"/>
            </a:schemeClr>
          </a:solidFill>
          <a:effectLst>
            <a:softEdge rad="12700"/>
          </a:effectLst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500" b="1" dirty="0" smtClean="0"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의</a:t>
            </a:r>
            <a:r>
              <a:rPr lang="ko-KR" altLang="en-US" sz="1500" b="1" dirty="0"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의</a:t>
            </a:r>
            <a:endParaRPr lang="en-US" altLang="ko-KR" sz="1500" b="1" dirty="0" smtClean="0">
              <a:latin typeface="08서울남산체 B" panose="02020603020101020101" pitchFamily="18" charset="-127"/>
              <a:ea typeface="08서울남산체 B" panose="02020603020101020101" pitchFamily="18" charset="-127"/>
            </a:endParaRPr>
          </a:p>
          <a:p>
            <a:pPr marL="285750" indent="-285750">
              <a:lnSpc>
                <a:spcPts val="2400"/>
              </a:lnSpc>
              <a:buFont typeface="Arial" panose="020B0604020202020204" pitchFamily="34" charset="0"/>
              <a:buChar char="•"/>
            </a:pPr>
            <a:r>
              <a:rPr lang="ko-KR" altLang="en-US" sz="1500" dirty="0"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낙찰자에 대하여 그 매수의 청약을 한 재산을 그들에게 매각하기로 결정하는 처분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500" dirty="0"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매각하는 재산에 대하여 체납자와 최고가 청약자 등과의 사이에 매매계약이 성립하는 효과 </a:t>
            </a:r>
            <a:r>
              <a:rPr lang="ko-KR" altLang="en-US" sz="1500" dirty="0" smtClean="0"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발생</a:t>
            </a:r>
            <a:endParaRPr lang="en-US" altLang="ko-KR" sz="1500" dirty="0" smtClean="0">
              <a:latin typeface="08서울남산체 B" panose="02020603020101020101" pitchFamily="18" charset="-127"/>
              <a:ea typeface="08서울남산체 B" panose="02020603020101020101" pitchFamily="18" charset="-12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500" dirty="0" smtClean="0">
              <a:latin typeface="08서울남산체 B" panose="02020603020101020101" pitchFamily="18" charset="-127"/>
              <a:ea typeface="08서울남산체 B" panose="02020603020101020101" pitchFamily="18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500" b="1" dirty="0" smtClean="0"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중요성</a:t>
            </a:r>
            <a:endParaRPr lang="en-US" altLang="ko-KR" sz="1500" b="1" dirty="0" smtClean="0">
              <a:latin typeface="08서울남산체 B" panose="02020603020101020101" pitchFamily="18" charset="-127"/>
              <a:ea typeface="08서울남산체 B" panose="02020603020101020101" pitchFamily="18" charset="-12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체납자가 체납액을 납부하고 </a:t>
            </a:r>
            <a:r>
              <a:rPr lang="ko-KR" altLang="en-US" sz="1400" dirty="0" smtClean="0"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매각결정 취소를 </a:t>
            </a:r>
            <a:r>
              <a:rPr lang="ko-KR" altLang="en-US" sz="1400" dirty="0"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구하는 </a:t>
            </a:r>
            <a:r>
              <a:rPr lang="ko-KR" altLang="en-US" sz="1400" dirty="0" smtClean="0"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경우</a:t>
            </a:r>
            <a:r>
              <a:rPr lang="en-US" altLang="ko-KR" sz="1400" dirty="0" smtClean="0"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,</a:t>
            </a:r>
            <a:r>
              <a:rPr lang="ko-KR" altLang="en-US" sz="1400" dirty="0" smtClean="0"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 </a:t>
            </a:r>
            <a:r>
              <a:rPr lang="ko-KR" altLang="en-US" sz="1400" dirty="0"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매수인 동의 </a:t>
            </a:r>
            <a:r>
              <a:rPr lang="ko-KR" altLang="en-US" sz="1400" dirty="0" smtClean="0"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필요 여부의 </a:t>
            </a:r>
            <a:r>
              <a:rPr lang="ko-KR" altLang="en-US" sz="1400" dirty="0"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기준시점에 </a:t>
            </a:r>
            <a:r>
              <a:rPr lang="ko-KR" altLang="en-US" sz="1400" dirty="0" smtClean="0"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해당</a:t>
            </a:r>
            <a:endParaRPr lang="en-US" altLang="ko-KR" sz="1400" dirty="0" smtClean="0">
              <a:latin typeface="08서울남산체 B" panose="02020603020101020101" pitchFamily="18" charset="-127"/>
              <a:ea typeface="08서울남산체 B" panose="02020603020101020101" pitchFamily="18" charset="-12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압류재산의 공유자가 우선매수 신고할 수 있는 종기에 해당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최고가 낙찰자 외의 입찰자가 </a:t>
            </a:r>
            <a:r>
              <a:rPr lang="ko-KR" altLang="en-US" sz="1400" dirty="0" err="1"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차순위</a:t>
            </a:r>
            <a:r>
              <a:rPr lang="ko-KR" altLang="en-US" sz="1400" dirty="0"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 매수신고를 할 수 있는 종기에 해당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체납자가 체납세액을 납부하는 경우 공매절차를 중지하는 시점에 </a:t>
            </a:r>
            <a:r>
              <a:rPr lang="ko-KR" altLang="en-US" sz="1400" dirty="0" smtClean="0"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해당</a:t>
            </a:r>
            <a:endParaRPr lang="ko-KR" altLang="en-US" sz="1400" dirty="0">
              <a:latin typeface="08서울남산체 B" panose="02020603020101020101" pitchFamily="18" charset="-127"/>
              <a:ea typeface="08서울남산체 B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717955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직사각형 17"/>
          <p:cNvSpPr/>
          <p:nvPr/>
        </p:nvSpPr>
        <p:spPr>
          <a:xfrm>
            <a:off x="549689" y="1364251"/>
            <a:ext cx="8054384" cy="33861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extBox 1"/>
          <p:cNvSpPr txBox="1"/>
          <p:nvPr/>
        </p:nvSpPr>
        <p:spPr>
          <a:xfrm>
            <a:off x="516164" y="537582"/>
            <a:ext cx="1168910" cy="477054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altLang="ko-KR" sz="2500" b="1" spc="-1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063A7A"/>
                </a:solidFill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Ⅵ</a:t>
            </a:r>
            <a:r>
              <a:rPr lang="en-US" altLang="ko-KR" sz="2500" b="1" spc="-150" dirty="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063A7A"/>
                </a:solidFill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. </a:t>
            </a:r>
            <a:r>
              <a:rPr lang="ko-KR" altLang="en-US" sz="2500" b="1" spc="-150" dirty="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063A7A"/>
                </a:solidFill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배분</a:t>
            </a:r>
            <a:endParaRPr lang="ko-KR" altLang="en-US" sz="2500" b="1" spc="-15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rgbClr val="063A7A"/>
              </a:solidFill>
              <a:latin typeface="08서울남산체 B" panose="02020603020101020101" pitchFamily="18" charset="-127"/>
              <a:ea typeface="08서울남산체 B" panose="02020603020101020101" pitchFamily="18" charset="-127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60645" y="1340768"/>
            <a:ext cx="784169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400"/>
              </a:lnSpc>
            </a:pPr>
            <a:r>
              <a:rPr lang="ko-KR" altLang="en-US" dirty="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0D0D0D"/>
                </a:solidFill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배분과 관련된 주요법률 내용</a:t>
            </a:r>
            <a:endParaRPr lang="ko-KR" altLang="en-US" dirty="0">
              <a:latin typeface="08서울남산체 B" panose="02020603020101020101" pitchFamily="18" charset="-127"/>
              <a:ea typeface="08서울남산체 B" panose="02020603020101020101" pitchFamily="18" charset="-127"/>
            </a:endParaRPr>
          </a:p>
        </p:txBody>
      </p:sp>
      <p:cxnSp>
        <p:nvCxnSpPr>
          <p:cNvPr id="21" name="직선 연결선 20"/>
          <p:cNvCxnSpPr/>
          <p:nvPr/>
        </p:nvCxnSpPr>
        <p:spPr>
          <a:xfrm>
            <a:off x="539552" y="1079631"/>
            <a:ext cx="8064000" cy="0"/>
          </a:xfrm>
          <a:prstGeom prst="line">
            <a:avLst/>
          </a:prstGeom>
          <a:ln w="38100">
            <a:solidFill>
              <a:srgbClr val="6982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연결선 21"/>
          <p:cNvCxnSpPr/>
          <p:nvPr/>
        </p:nvCxnSpPr>
        <p:spPr>
          <a:xfrm>
            <a:off x="530587" y="6021288"/>
            <a:ext cx="8064896" cy="0"/>
          </a:xfrm>
          <a:prstGeom prst="line">
            <a:avLst/>
          </a:prstGeom>
          <a:ln w="12700">
            <a:solidFill>
              <a:srgbClr val="AEADB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4" name="그림 23" descr="캠코 배경없음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5886073" y="6303415"/>
            <a:ext cx="2718000" cy="195034"/>
          </a:xfrm>
          <a:prstGeom prst="rect">
            <a:avLst/>
          </a:prstGeom>
        </p:spPr>
      </p:pic>
      <p:pic>
        <p:nvPicPr>
          <p:cNvPr id="26" name="그림 25" descr="kamco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7913248" y="755739"/>
            <a:ext cx="691200" cy="196766"/>
          </a:xfrm>
          <a:prstGeom prst="rect">
            <a:avLst/>
          </a:prstGeom>
        </p:spPr>
      </p:pic>
      <p:sp>
        <p:nvSpPr>
          <p:cNvPr id="89" name="직사각형 88"/>
          <p:cNvSpPr/>
          <p:nvPr/>
        </p:nvSpPr>
        <p:spPr>
          <a:xfrm>
            <a:off x="548480" y="1388058"/>
            <a:ext cx="42191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200" b="1" spc="-200" dirty="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698299"/>
                </a:solidFill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▶ </a:t>
            </a:r>
            <a:endParaRPr lang="ko-KR" altLang="en-US" sz="1200" dirty="0">
              <a:latin typeface="08서울남산체 B" panose="02020603020101020101" pitchFamily="18" charset="-127"/>
              <a:ea typeface="08서울남산체 B" panose="02020603020101020101" pitchFamily="18" charset="-127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9689" y="1916832"/>
            <a:ext cx="8053173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국세징수법 제</a:t>
            </a:r>
            <a:r>
              <a:rPr lang="en-US" altLang="ko-KR" sz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36</a:t>
            </a:r>
            <a:r>
              <a:rPr lang="ko-KR" altLang="en-US" sz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조 및 지방세기본법 제</a:t>
            </a:r>
            <a:r>
              <a:rPr lang="en-US" altLang="ko-KR" sz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73</a:t>
            </a:r>
            <a:r>
              <a:rPr lang="ko-KR" altLang="en-US" sz="12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조 </a:t>
            </a:r>
            <a:r>
              <a:rPr lang="en-US" altLang="ko-KR" sz="12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ko-KR" altLang="en-US" sz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압류에 의한 우선</a:t>
            </a:r>
            <a:r>
              <a:rPr lang="en-US" altLang="ko-KR" sz="12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100" dirty="0" smtClean="0"/>
              <a:t>지방자치단체의 징수금이 체납처분에 의하여 납세자의 재산을 압류한 후</a:t>
            </a:r>
            <a:r>
              <a:rPr lang="en-US" altLang="ko-KR" sz="1100" dirty="0" smtClean="0"/>
              <a:t>, </a:t>
            </a:r>
            <a:r>
              <a:rPr lang="ko-KR" altLang="en-US" sz="1100" dirty="0" smtClean="0"/>
              <a:t>다른 </a:t>
            </a:r>
            <a:r>
              <a:rPr lang="ko-KR" altLang="en-US" sz="1100" dirty="0" err="1" smtClean="0"/>
              <a:t>지자체의</a:t>
            </a:r>
            <a:r>
              <a:rPr lang="ko-KR" altLang="en-US" sz="1100" dirty="0" smtClean="0"/>
              <a:t> 징수금 또는 국세의 교부청구가 발생하면</a:t>
            </a:r>
            <a:r>
              <a:rPr lang="en-US" altLang="ko-KR" sz="1100" dirty="0" smtClean="0"/>
              <a:t>,</a:t>
            </a:r>
            <a:r>
              <a:rPr lang="ko-KR" altLang="en-US" sz="1100" dirty="0" smtClean="0"/>
              <a:t> 압류에 관계되는 지방자치단체의 징수금이 다른 </a:t>
            </a:r>
            <a:r>
              <a:rPr lang="ko-KR" altLang="en-US" sz="1100" dirty="0" err="1" smtClean="0"/>
              <a:t>지자체의</a:t>
            </a:r>
            <a:r>
              <a:rPr lang="ko-KR" altLang="en-US" sz="1100" dirty="0" smtClean="0"/>
              <a:t> 징수금 또는 국세에 우선하여 징수한다</a:t>
            </a:r>
            <a:r>
              <a:rPr lang="en-US" altLang="ko-KR" sz="1100" dirty="0" smtClean="0"/>
              <a:t>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100" dirty="0" smtClean="0"/>
              <a:t>다른 지방자치단체의 징수금 또는 국세의 체납처분에 의하여 납세자의 재산을 압류한 후</a:t>
            </a:r>
            <a:r>
              <a:rPr lang="en-US" altLang="ko-KR" sz="1100" dirty="0" smtClean="0"/>
              <a:t>, </a:t>
            </a:r>
            <a:r>
              <a:rPr lang="ko-KR" altLang="en-US" sz="1100" dirty="0" smtClean="0"/>
              <a:t>지방자치단체의 징수금 교부청구가 있으면</a:t>
            </a:r>
            <a:r>
              <a:rPr lang="en-US" altLang="ko-KR" sz="1100" dirty="0" smtClean="0"/>
              <a:t>,</a:t>
            </a:r>
            <a:r>
              <a:rPr lang="ko-KR" altLang="en-US" sz="1100" dirty="0" smtClean="0"/>
              <a:t> </a:t>
            </a:r>
            <a:r>
              <a:rPr lang="ko-KR" altLang="en-US" sz="1100" dirty="0" err="1" smtClean="0"/>
              <a:t>교부청구한</a:t>
            </a:r>
            <a:r>
              <a:rPr lang="ko-KR" altLang="en-US" sz="1100" dirty="0" smtClean="0"/>
              <a:t> 징수금은 압류에 관계되는 다른 지방자치단체의 징수금 또는 국세의 다음으로 징수한다</a:t>
            </a:r>
            <a:r>
              <a:rPr lang="en-US" altLang="ko-KR" sz="1100" dirty="0" smtClean="0"/>
              <a:t>.</a:t>
            </a:r>
            <a:endParaRPr lang="ko-KR" altLang="en-US" sz="1100" dirty="0"/>
          </a:p>
        </p:txBody>
      </p:sp>
      <p:sp>
        <p:nvSpPr>
          <p:cNvPr id="25" name="TextBox 24"/>
          <p:cNvSpPr txBox="1"/>
          <p:nvPr/>
        </p:nvSpPr>
        <p:spPr>
          <a:xfrm>
            <a:off x="549689" y="4725144"/>
            <a:ext cx="8053173" cy="8771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2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국세징수법 제</a:t>
            </a:r>
            <a:r>
              <a:rPr lang="en-US" altLang="ko-KR" sz="12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37</a:t>
            </a:r>
            <a:r>
              <a:rPr lang="ko-KR" altLang="en-US" sz="12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조 및 지방세기본법 제</a:t>
            </a:r>
            <a:r>
              <a:rPr lang="en-US" altLang="ko-KR" sz="12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74</a:t>
            </a:r>
            <a:r>
              <a:rPr lang="ko-KR" altLang="en-US" sz="12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조 </a:t>
            </a:r>
            <a:r>
              <a:rPr lang="en-US" altLang="ko-KR" sz="12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ko-KR" altLang="en-US" sz="12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담보가 있는 지방세의 우선</a:t>
            </a:r>
            <a:r>
              <a:rPr lang="en-US" altLang="ko-KR" sz="12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100" dirty="0" smtClean="0"/>
              <a:t>납세담보가 있는 재산을 매각하였을 때에는 제</a:t>
            </a:r>
            <a:r>
              <a:rPr lang="en-US" altLang="ko-KR" sz="1100" dirty="0" smtClean="0"/>
              <a:t>73</a:t>
            </a:r>
            <a:r>
              <a:rPr lang="ko-KR" altLang="en-US" sz="1100" dirty="0" smtClean="0"/>
              <a:t>조에도 불구하고</a:t>
            </a:r>
            <a:r>
              <a:rPr lang="en-US" altLang="ko-KR" sz="1100" dirty="0" smtClean="0"/>
              <a:t>, </a:t>
            </a:r>
            <a:r>
              <a:rPr lang="ko-KR" altLang="en-US" sz="1100" dirty="0" smtClean="0"/>
              <a:t>해당 지방자치단체에서 다른 지방자치단체의 징수금과 국세에 우선하여 징수한다</a:t>
            </a:r>
            <a:r>
              <a:rPr lang="en-US" altLang="ko-KR" sz="1100" dirty="0" smtClean="0"/>
              <a:t>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9689" y="3576792"/>
            <a:ext cx="8053173" cy="8771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국세징수법 </a:t>
            </a:r>
            <a:r>
              <a:rPr lang="ko-KR" altLang="en-US" sz="12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제</a:t>
            </a:r>
            <a:r>
              <a:rPr lang="en-US" altLang="ko-KR" sz="12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47</a:t>
            </a:r>
            <a:r>
              <a:rPr lang="ko-KR" altLang="en-US" sz="12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조 </a:t>
            </a:r>
            <a:r>
              <a:rPr lang="ko-KR" altLang="en-US" sz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및 지방세기본법 </a:t>
            </a:r>
            <a:r>
              <a:rPr lang="ko-KR" altLang="en-US" sz="12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제</a:t>
            </a:r>
            <a:r>
              <a:rPr lang="en-US" altLang="ko-KR" sz="12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57</a:t>
            </a:r>
            <a:r>
              <a:rPr lang="ko-KR" altLang="en-US" sz="12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조 </a:t>
            </a:r>
            <a:r>
              <a:rPr lang="en-US" altLang="ko-KR" sz="12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ko-KR" altLang="en-US" sz="12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부동산 등의 압류의 효력</a:t>
            </a:r>
            <a:r>
              <a:rPr lang="en-US" altLang="ko-KR" sz="12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100" dirty="0" smtClean="0"/>
              <a:t>부동산 및 자동차 등의 압류절차에 따른 압류의 효력은 그 압류의 등기 또는 등록이 완료된 때에 발생한다</a:t>
            </a:r>
            <a:r>
              <a:rPr lang="en-US" altLang="ko-KR" sz="1100" dirty="0" smtClean="0"/>
              <a:t>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100" dirty="0" smtClean="0"/>
              <a:t>제</a:t>
            </a:r>
            <a:r>
              <a:rPr lang="en-US" altLang="ko-KR" sz="1100" dirty="0" smtClean="0"/>
              <a:t>1</a:t>
            </a:r>
            <a:r>
              <a:rPr lang="ko-KR" altLang="en-US" sz="1100" dirty="0" smtClean="0"/>
              <a:t>항에 따른 압류는 압류재산의 소유권이 이전되기 전에 </a:t>
            </a:r>
            <a:r>
              <a:rPr lang="ko-KR" altLang="en-US" sz="1100" dirty="0" err="1" smtClean="0"/>
              <a:t>법정기일이</a:t>
            </a:r>
            <a:r>
              <a:rPr lang="ko-KR" altLang="en-US" sz="1100" dirty="0" smtClean="0"/>
              <a:t> 도래한 지방세의 체납액에 대해서 동 효력이 미친다</a:t>
            </a:r>
            <a:r>
              <a:rPr lang="en-US" altLang="ko-KR" sz="1100" dirty="0" smtClean="0"/>
              <a:t>.</a:t>
            </a:r>
            <a:endParaRPr lang="ko-KR" altLang="en-US" sz="1100" dirty="0"/>
          </a:p>
        </p:txBody>
      </p:sp>
    </p:spTree>
    <p:extLst>
      <p:ext uri="{BB962C8B-B14F-4D97-AF65-F5344CB8AC3E}">
        <p14:creationId xmlns:p14="http://schemas.microsoft.com/office/powerpoint/2010/main" val="205076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직사각형 17"/>
          <p:cNvSpPr/>
          <p:nvPr/>
        </p:nvSpPr>
        <p:spPr>
          <a:xfrm>
            <a:off x="549689" y="1364251"/>
            <a:ext cx="8054384" cy="33861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extBox 1"/>
          <p:cNvSpPr txBox="1"/>
          <p:nvPr/>
        </p:nvSpPr>
        <p:spPr>
          <a:xfrm>
            <a:off x="516164" y="537582"/>
            <a:ext cx="1168910" cy="477054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altLang="ko-KR" sz="2500" b="1" spc="-1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063A7A"/>
                </a:solidFill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Ⅵ</a:t>
            </a:r>
            <a:r>
              <a:rPr lang="en-US" altLang="ko-KR" sz="2500" b="1" spc="-150" dirty="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063A7A"/>
                </a:solidFill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. </a:t>
            </a:r>
            <a:r>
              <a:rPr lang="ko-KR" altLang="en-US" sz="2500" b="1" spc="-150" dirty="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063A7A"/>
                </a:solidFill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배분</a:t>
            </a:r>
            <a:endParaRPr lang="ko-KR" altLang="en-US" sz="2500" b="1" spc="-15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rgbClr val="063A7A"/>
              </a:solidFill>
              <a:latin typeface="08서울남산체 B" panose="02020603020101020101" pitchFamily="18" charset="-127"/>
              <a:ea typeface="08서울남산체 B" panose="02020603020101020101" pitchFamily="18" charset="-127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60645" y="1340768"/>
            <a:ext cx="7841697" cy="378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400"/>
              </a:lnSpc>
            </a:pPr>
            <a:r>
              <a:rPr lang="ko-KR" altLang="en-US" dirty="0" smtClean="0"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배분금전예탁</a:t>
            </a:r>
            <a:endParaRPr lang="ko-KR" altLang="en-US" dirty="0">
              <a:latin typeface="08서울남산체 B" panose="02020603020101020101" pitchFamily="18" charset="-127"/>
              <a:ea typeface="08서울남산체 B" panose="02020603020101020101" pitchFamily="18" charset="-127"/>
            </a:endParaRPr>
          </a:p>
        </p:txBody>
      </p:sp>
      <p:cxnSp>
        <p:nvCxnSpPr>
          <p:cNvPr id="21" name="직선 연결선 20"/>
          <p:cNvCxnSpPr/>
          <p:nvPr/>
        </p:nvCxnSpPr>
        <p:spPr>
          <a:xfrm>
            <a:off x="539552" y="1079631"/>
            <a:ext cx="8064000" cy="0"/>
          </a:xfrm>
          <a:prstGeom prst="line">
            <a:avLst/>
          </a:prstGeom>
          <a:ln w="38100">
            <a:solidFill>
              <a:srgbClr val="6982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연결선 21"/>
          <p:cNvCxnSpPr/>
          <p:nvPr/>
        </p:nvCxnSpPr>
        <p:spPr>
          <a:xfrm>
            <a:off x="530587" y="6021288"/>
            <a:ext cx="8064896" cy="0"/>
          </a:xfrm>
          <a:prstGeom prst="line">
            <a:avLst/>
          </a:prstGeom>
          <a:ln w="12700">
            <a:solidFill>
              <a:srgbClr val="AEADB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4" name="그림 23" descr="캠코 배경없음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5886073" y="6303415"/>
            <a:ext cx="2718000" cy="195034"/>
          </a:xfrm>
          <a:prstGeom prst="rect">
            <a:avLst/>
          </a:prstGeom>
        </p:spPr>
      </p:pic>
      <p:pic>
        <p:nvPicPr>
          <p:cNvPr id="26" name="그림 25" descr="kamco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7913248" y="755739"/>
            <a:ext cx="691200" cy="196766"/>
          </a:xfrm>
          <a:prstGeom prst="rect">
            <a:avLst/>
          </a:prstGeom>
        </p:spPr>
      </p:pic>
      <p:sp>
        <p:nvSpPr>
          <p:cNvPr id="89" name="직사각형 88"/>
          <p:cNvSpPr/>
          <p:nvPr/>
        </p:nvSpPr>
        <p:spPr>
          <a:xfrm>
            <a:off x="548480" y="1388058"/>
            <a:ext cx="42191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200" b="1" spc="-200" dirty="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698299"/>
                </a:solidFill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▶ </a:t>
            </a:r>
            <a:endParaRPr lang="ko-KR" altLang="en-US" sz="1200" dirty="0">
              <a:latin typeface="08서울남산체 B" panose="02020603020101020101" pitchFamily="18" charset="-127"/>
              <a:ea typeface="08서울남산체 B" panose="02020603020101020101" pitchFamily="18" charset="-127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9689" y="1971997"/>
            <a:ext cx="8053173" cy="11310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2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지방세법 제</a:t>
            </a:r>
            <a:r>
              <a:rPr lang="en-US" altLang="ko-KR" sz="12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103</a:t>
            </a:r>
            <a:r>
              <a:rPr lang="ko-KR" altLang="en-US" sz="12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조</a:t>
            </a:r>
            <a:endParaRPr lang="en-US" altLang="ko-KR" sz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100" dirty="0" smtClean="0"/>
              <a:t>지방자치단체장은 배분한 금전 중 채권자 또는 체납자에게 지급하지 못한 것은 </a:t>
            </a:r>
            <a:r>
              <a:rPr lang="en-US" altLang="ko-KR" sz="1100" dirty="0" smtClean="0"/>
              <a:t>『</a:t>
            </a:r>
            <a:r>
              <a:rPr lang="ko-KR" altLang="en-US" sz="1100" dirty="0" smtClean="0"/>
              <a:t>지방회계법</a:t>
            </a:r>
            <a:r>
              <a:rPr lang="en-US" altLang="ko-KR" sz="1100" dirty="0" smtClean="0"/>
              <a:t>』 </a:t>
            </a:r>
            <a:r>
              <a:rPr lang="ko-KR" altLang="en-US" sz="1100" dirty="0" smtClean="0"/>
              <a:t>제</a:t>
            </a:r>
            <a:r>
              <a:rPr lang="en-US" altLang="ko-KR" sz="1100" dirty="0" smtClean="0"/>
              <a:t>38</a:t>
            </a:r>
            <a:r>
              <a:rPr lang="ko-KR" altLang="en-US" sz="1100" dirty="0" smtClean="0"/>
              <a:t>조에 따라 지정된 금고에 예탁하여야 한다</a:t>
            </a:r>
            <a:r>
              <a:rPr lang="en-US" altLang="ko-KR" sz="1100" dirty="0" smtClean="0"/>
              <a:t>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100" dirty="0" smtClean="0"/>
              <a:t>지방자치단체장은 제</a:t>
            </a:r>
            <a:r>
              <a:rPr lang="en-US" altLang="ko-KR" sz="1100" dirty="0" smtClean="0"/>
              <a:t>1</a:t>
            </a:r>
            <a:r>
              <a:rPr lang="ko-KR" altLang="en-US" sz="1100" dirty="0" smtClean="0"/>
              <a:t>항에 따라 예탁하였을 때에는 그 사실을 채권자 또는 체납자에게 통지하여야 한다</a:t>
            </a:r>
            <a:r>
              <a:rPr lang="en-US" altLang="ko-KR" sz="1100" dirty="0" smtClean="0"/>
              <a:t>.</a:t>
            </a:r>
            <a:endParaRPr lang="ko-KR" altLang="en-US" sz="1100" dirty="0"/>
          </a:p>
        </p:txBody>
      </p:sp>
      <p:sp>
        <p:nvSpPr>
          <p:cNvPr id="25" name="TextBox 24"/>
          <p:cNvSpPr txBox="1"/>
          <p:nvPr/>
        </p:nvSpPr>
        <p:spPr>
          <a:xfrm>
            <a:off x="549689" y="3330349"/>
            <a:ext cx="8053173" cy="2042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2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압류재산매각대행업무처리요령 제</a:t>
            </a:r>
            <a:r>
              <a:rPr lang="en-US" altLang="ko-KR" sz="12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58</a:t>
            </a:r>
            <a:r>
              <a:rPr lang="ko-KR" altLang="en-US" sz="12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조 </a:t>
            </a:r>
            <a:r>
              <a:rPr lang="en-US" altLang="ko-KR" sz="12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ko-KR" altLang="en-US" sz="12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배분금</a:t>
            </a:r>
            <a:r>
              <a:rPr lang="ko-KR" altLang="en-US" sz="12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등의 인계</a:t>
            </a:r>
            <a:r>
              <a:rPr lang="en-US" altLang="ko-KR" sz="12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100" dirty="0" smtClean="0"/>
              <a:t>배분계산서 작성을 완료한 때의 체납액 해당 </a:t>
            </a:r>
            <a:r>
              <a:rPr lang="ko-KR" altLang="en-US" sz="1100" dirty="0" err="1" smtClean="0"/>
              <a:t>배분금</a:t>
            </a:r>
            <a:endParaRPr lang="en-US" altLang="ko-KR" sz="1100" dirty="0" smtClean="0"/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100" b="1" u="sng" dirty="0" smtClean="0"/>
              <a:t>배분계산서 원안에 이의가 있어 배분을 유보한 경우</a:t>
            </a:r>
            <a:endParaRPr lang="en-US" altLang="ko-KR" sz="1100" b="1" u="sng" dirty="0" smtClean="0"/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100" b="1" u="sng" dirty="0" smtClean="0"/>
              <a:t>배분한 금전 중 </a:t>
            </a:r>
            <a:r>
              <a:rPr lang="ko-KR" altLang="en-US" sz="1100" b="1" u="sng" dirty="0" err="1" smtClean="0"/>
              <a:t>배분기일로부터</a:t>
            </a:r>
            <a:r>
              <a:rPr lang="ko-KR" altLang="en-US" sz="1100" b="1" u="sng" dirty="0" smtClean="0"/>
              <a:t> </a:t>
            </a:r>
            <a:r>
              <a:rPr lang="en-US" altLang="ko-KR" sz="1100" b="1" u="sng" dirty="0" smtClean="0"/>
              <a:t>30</a:t>
            </a:r>
            <a:r>
              <a:rPr lang="ko-KR" altLang="en-US" sz="1100" b="1" u="sng" dirty="0" smtClean="0"/>
              <a:t>일이 지나도 배분 받을 권리자</a:t>
            </a:r>
            <a:r>
              <a:rPr lang="en-US" altLang="ko-KR" sz="1100" b="1" u="sng" dirty="0" smtClean="0"/>
              <a:t>(</a:t>
            </a:r>
            <a:r>
              <a:rPr lang="ko-KR" altLang="en-US" sz="1100" b="1" u="sng" dirty="0" smtClean="0"/>
              <a:t>채권자 또는 체납자</a:t>
            </a:r>
            <a:r>
              <a:rPr lang="en-US" altLang="ko-KR" sz="1100" b="1" u="sng" dirty="0" smtClean="0"/>
              <a:t>)</a:t>
            </a:r>
            <a:r>
              <a:rPr lang="ko-KR" altLang="en-US" sz="1100" b="1" u="sng" dirty="0" smtClean="0"/>
              <a:t>에게 지급하지 못한 금액</a:t>
            </a:r>
            <a:endParaRPr lang="en-US" altLang="ko-KR" sz="1100" b="1" u="sng" dirty="0" smtClean="0"/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100" dirty="0" smtClean="0"/>
              <a:t>낙찰자에게 매각결정을 할 수 없어 매각결정 여부를 통지한 날로부터 </a:t>
            </a:r>
            <a:r>
              <a:rPr lang="en-US" altLang="ko-KR" sz="1100" dirty="0" smtClean="0"/>
              <a:t>30</a:t>
            </a:r>
            <a:r>
              <a:rPr lang="ko-KR" altLang="en-US" sz="1100" dirty="0" smtClean="0"/>
              <a:t>일이 지나도 낙찰자에게 지급하지 못한 공매보증금</a:t>
            </a:r>
            <a:endParaRPr lang="en-US" altLang="ko-KR" sz="1100" dirty="0" smtClean="0"/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100" dirty="0" smtClean="0"/>
              <a:t>매각대금을 지정된 기한까지 납부하지 않</a:t>
            </a:r>
            <a:r>
              <a:rPr lang="ko-KR" altLang="en-US" sz="1100" dirty="0"/>
              <a:t>아</a:t>
            </a:r>
            <a:r>
              <a:rPr lang="ko-KR" altLang="en-US" sz="1100" dirty="0" smtClean="0"/>
              <a:t> 매각결정을 취소한 경우</a:t>
            </a:r>
            <a:r>
              <a:rPr lang="en-US" altLang="ko-KR" sz="1100" dirty="0"/>
              <a:t> </a:t>
            </a:r>
            <a:r>
              <a:rPr lang="ko-KR" altLang="en-US" sz="1100" dirty="0" smtClean="0"/>
              <a:t>압류에 관계된 체납액 등에 충당할 공매보증금</a:t>
            </a:r>
            <a:endParaRPr lang="en-US" altLang="ko-KR" sz="1100" dirty="0"/>
          </a:p>
          <a:p>
            <a:pPr>
              <a:lnSpc>
                <a:spcPct val="250000"/>
              </a:lnSpc>
            </a:pPr>
            <a:r>
              <a:rPr lang="ko-KR" altLang="en-US" sz="1050" dirty="0" smtClean="0">
                <a:solidFill>
                  <a:schemeClr val="accent1"/>
                </a:solidFill>
              </a:rPr>
              <a:t>⇒ 한국자산관리공사는 위 항에 따라 세무서장이 지정한 금융회사 계좌에 입금한 경우</a:t>
            </a:r>
            <a:r>
              <a:rPr lang="en-US" altLang="ko-KR" sz="1050" dirty="0">
                <a:solidFill>
                  <a:schemeClr val="accent1"/>
                </a:solidFill>
              </a:rPr>
              <a:t> </a:t>
            </a:r>
            <a:r>
              <a:rPr lang="ko-KR" altLang="en-US" sz="1050" dirty="0" smtClean="0">
                <a:solidFill>
                  <a:schemeClr val="accent1"/>
                </a:solidFill>
              </a:rPr>
              <a:t>그 사실을 세무서장에게 통지하여야 한다</a:t>
            </a:r>
            <a:r>
              <a:rPr lang="en-US" altLang="ko-KR" sz="1050" dirty="0" smtClean="0">
                <a:solidFill>
                  <a:schemeClr val="accent1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2001887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직사각형 29"/>
          <p:cNvSpPr/>
          <p:nvPr/>
        </p:nvSpPr>
        <p:spPr>
          <a:xfrm>
            <a:off x="549689" y="3099708"/>
            <a:ext cx="8054384" cy="33861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직사각형 17"/>
          <p:cNvSpPr/>
          <p:nvPr/>
        </p:nvSpPr>
        <p:spPr>
          <a:xfrm>
            <a:off x="549689" y="1364251"/>
            <a:ext cx="8054384" cy="33861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extBox 1"/>
          <p:cNvSpPr txBox="1"/>
          <p:nvPr/>
        </p:nvSpPr>
        <p:spPr>
          <a:xfrm>
            <a:off x="516164" y="537582"/>
            <a:ext cx="2518638" cy="477054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altLang="ko-KR" sz="2500" b="1" spc="-150" dirty="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063A7A"/>
                </a:solidFill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Ⅵ. </a:t>
            </a:r>
            <a:r>
              <a:rPr lang="ko-KR" altLang="en-US" sz="2500" b="1" spc="-150" dirty="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063A7A"/>
                </a:solidFill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배분 </a:t>
            </a:r>
            <a:r>
              <a:rPr lang="en-US" altLang="ko-KR" sz="2500" b="1" spc="-150" dirty="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063A7A"/>
                </a:solidFill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- </a:t>
            </a:r>
            <a:r>
              <a:rPr lang="ko-KR" altLang="en-US" sz="2500" b="1" spc="-150" dirty="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063A7A"/>
                </a:solidFill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신탁재산</a:t>
            </a:r>
            <a:endParaRPr lang="ko-KR" altLang="en-US" sz="2500" b="1" spc="-15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rgbClr val="063A7A"/>
              </a:solidFill>
              <a:latin typeface="08서울남산체 B" panose="02020603020101020101" pitchFamily="18" charset="-127"/>
              <a:ea typeface="08서울남산체 B" panose="02020603020101020101" pitchFamily="18" charset="-127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60645" y="1340768"/>
            <a:ext cx="7841697" cy="378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400"/>
              </a:lnSpc>
            </a:pPr>
            <a:r>
              <a:rPr lang="ko-KR" altLang="en-US" dirty="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0D0D0D"/>
                </a:solidFill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지방세법 제</a:t>
            </a:r>
            <a:r>
              <a:rPr lang="en-US" altLang="ko-KR" dirty="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0D0D0D"/>
                </a:solidFill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107</a:t>
            </a:r>
            <a:r>
              <a:rPr lang="ko-KR" altLang="en-US" dirty="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0D0D0D"/>
                </a:solidFill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조</a:t>
            </a:r>
            <a:r>
              <a:rPr lang="en-US" altLang="ko-KR" dirty="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0D0D0D"/>
                </a:solidFill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(</a:t>
            </a:r>
            <a:r>
              <a:rPr lang="ko-KR" altLang="en-US" dirty="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0D0D0D"/>
                </a:solidFill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납세의무자</a:t>
            </a:r>
            <a:r>
              <a:rPr lang="en-US" altLang="ko-KR" dirty="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0D0D0D"/>
                </a:solidFill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) </a:t>
            </a:r>
            <a:r>
              <a:rPr lang="ko-KR" altLang="en-US" dirty="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0D0D0D"/>
                </a:solidFill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제</a:t>
            </a:r>
            <a:r>
              <a:rPr lang="en-US" altLang="ko-KR" dirty="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0D0D0D"/>
                </a:solidFill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1</a:t>
            </a:r>
            <a:r>
              <a:rPr lang="ko-KR" altLang="en-US" dirty="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0D0D0D"/>
                </a:solidFill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항 제</a:t>
            </a:r>
            <a:r>
              <a:rPr lang="en-US" altLang="ko-KR" dirty="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0D0D0D"/>
                </a:solidFill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3</a:t>
            </a:r>
            <a:r>
              <a:rPr lang="ko-KR" altLang="en-US" dirty="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0D0D0D"/>
                </a:solidFill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호</a:t>
            </a:r>
            <a:endParaRPr lang="ko-KR" altLang="en-US" dirty="0">
              <a:latin typeface="08서울남산체 B" panose="02020603020101020101" pitchFamily="18" charset="-127"/>
              <a:ea typeface="08서울남산체 B" panose="02020603020101020101" pitchFamily="18" charset="-127"/>
            </a:endParaRPr>
          </a:p>
        </p:txBody>
      </p:sp>
      <p:cxnSp>
        <p:nvCxnSpPr>
          <p:cNvPr id="21" name="직선 연결선 20"/>
          <p:cNvCxnSpPr/>
          <p:nvPr/>
        </p:nvCxnSpPr>
        <p:spPr>
          <a:xfrm>
            <a:off x="539552" y="1079631"/>
            <a:ext cx="8064000" cy="0"/>
          </a:xfrm>
          <a:prstGeom prst="line">
            <a:avLst/>
          </a:prstGeom>
          <a:ln w="38100">
            <a:solidFill>
              <a:srgbClr val="6982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연결선 21"/>
          <p:cNvCxnSpPr/>
          <p:nvPr/>
        </p:nvCxnSpPr>
        <p:spPr>
          <a:xfrm>
            <a:off x="530587" y="6192487"/>
            <a:ext cx="8064896" cy="0"/>
          </a:xfrm>
          <a:prstGeom prst="line">
            <a:avLst/>
          </a:prstGeom>
          <a:ln w="12700">
            <a:solidFill>
              <a:srgbClr val="AEADB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4" name="그림 23" descr="캠코 배경없음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5886073" y="6303415"/>
            <a:ext cx="2718000" cy="195034"/>
          </a:xfrm>
          <a:prstGeom prst="rect">
            <a:avLst/>
          </a:prstGeom>
        </p:spPr>
      </p:pic>
      <p:pic>
        <p:nvPicPr>
          <p:cNvPr id="26" name="그림 25" descr="kamco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7913248" y="755739"/>
            <a:ext cx="691200" cy="196766"/>
          </a:xfrm>
          <a:prstGeom prst="rect">
            <a:avLst/>
          </a:prstGeom>
        </p:spPr>
      </p:pic>
      <p:sp>
        <p:nvSpPr>
          <p:cNvPr id="89" name="직사각형 88"/>
          <p:cNvSpPr/>
          <p:nvPr/>
        </p:nvSpPr>
        <p:spPr>
          <a:xfrm>
            <a:off x="548480" y="1388058"/>
            <a:ext cx="42191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200" b="1" spc="-200" dirty="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698299"/>
                </a:solidFill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▶ </a:t>
            </a:r>
            <a:endParaRPr lang="ko-KR" altLang="en-US" sz="1200" dirty="0">
              <a:latin typeface="08서울남산체 B" panose="02020603020101020101" pitchFamily="18" charset="-127"/>
              <a:ea typeface="08서울남산체 B" panose="02020603020101020101" pitchFamily="18" charset="-127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9689" y="1798679"/>
            <a:ext cx="8053173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500" dirty="0"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 </a:t>
            </a:r>
            <a:r>
              <a:rPr lang="en-US" altLang="ko-KR" sz="1500" dirty="0" smtClean="0"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  『</a:t>
            </a:r>
            <a:r>
              <a:rPr lang="ko-KR" altLang="en-US" sz="1500" dirty="0" err="1" smtClean="0"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신탁법</a:t>
            </a:r>
            <a:r>
              <a:rPr lang="en-US" altLang="ko-KR" sz="1500" dirty="0" smtClean="0"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』</a:t>
            </a:r>
            <a:r>
              <a:rPr lang="ko-KR" altLang="en-US" sz="1500" dirty="0" smtClean="0"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에 따라 수탁자 명의로 등기</a:t>
            </a:r>
            <a:r>
              <a:rPr lang="en-US" altLang="ko-KR" sz="1500" dirty="0" smtClean="0"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·</a:t>
            </a:r>
            <a:r>
              <a:rPr lang="ko-KR" altLang="en-US" sz="1500" dirty="0" smtClean="0"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등록된 신탁재산의 경우</a:t>
            </a:r>
            <a:r>
              <a:rPr lang="en-US" altLang="ko-KR" sz="1500" dirty="0"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 </a:t>
            </a:r>
            <a:r>
              <a:rPr lang="en-US" altLang="ko-KR" sz="1500" dirty="0" smtClean="0"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: </a:t>
            </a:r>
            <a:r>
              <a:rPr lang="ko-KR" altLang="en-US" sz="1500" dirty="0" err="1" smtClean="0"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위탁자별로</a:t>
            </a:r>
            <a:r>
              <a:rPr lang="ko-KR" altLang="en-US" sz="1500" dirty="0" smtClean="0"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 구분된 재산에 대하여는 수탁자</a:t>
            </a:r>
            <a:r>
              <a:rPr lang="en-US" altLang="ko-KR" sz="1500" dirty="0" smtClean="0"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. </a:t>
            </a:r>
            <a:r>
              <a:rPr lang="ko-KR" altLang="en-US" sz="1500" dirty="0" smtClean="0"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이 경우 </a:t>
            </a:r>
            <a:r>
              <a:rPr lang="ko-KR" altLang="en-US" sz="1500" dirty="0" err="1"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위</a:t>
            </a:r>
            <a:r>
              <a:rPr lang="ko-KR" altLang="en-US" sz="1500" dirty="0" err="1" smtClean="0"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탁자별로</a:t>
            </a:r>
            <a:r>
              <a:rPr lang="ko-KR" altLang="en-US" sz="1500" dirty="0" smtClean="0"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 구분된 재산에 대한 납세의무자는 각각 다른 납세의무자로 본다</a:t>
            </a:r>
            <a:r>
              <a:rPr lang="en-US" altLang="ko-KR" sz="1500" dirty="0" smtClean="0"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.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760645" y="3068960"/>
            <a:ext cx="7699787" cy="378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400"/>
              </a:lnSpc>
            </a:pPr>
            <a:r>
              <a:rPr lang="ko-KR" altLang="en-US" dirty="0" smtClean="0"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지방세법 제</a:t>
            </a:r>
            <a:r>
              <a:rPr lang="en-US" altLang="ko-KR" dirty="0" smtClean="0"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119</a:t>
            </a:r>
            <a:r>
              <a:rPr lang="ko-KR" altLang="en-US" dirty="0" smtClean="0"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조의 </a:t>
            </a:r>
            <a:r>
              <a:rPr lang="en-US" altLang="ko-KR" dirty="0" smtClean="0"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2(</a:t>
            </a:r>
            <a:r>
              <a:rPr lang="ko-KR" altLang="en-US" dirty="0" smtClean="0"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신탁재산에 대한 특례</a:t>
            </a:r>
            <a:r>
              <a:rPr lang="en-US" altLang="ko-KR" dirty="0" smtClean="0"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) 2014. 1. 1. </a:t>
            </a:r>
            <a:r>
              <a:rPr lang="ko-KR" altLang="en-US" dirty="0" err="1" smtClean="0"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본조신설</a:t>
            </a:r>
            <a:endParaRPr lang="ko-KR" altLang="en-US" dirty="0">
              <a:latin typeface="08서울남산체 B" panose="02020603020101020101" pitchFamily="18" charset="-127"/>
              <a:ea typeface="08서울남산체 B" panose="02020603020101020101" pitchFamily="18" charset="-127"/>
            </a:endParaRPr>
          </a:p>
        </p:txBody>
      </p:sp>
      <p:sp>
        <p:nvSpPr>
          <p:cNvPr id="95" name="직사각형 94"/>
          <p:cNvSpPr/>
          <p:nvPr/>
        </p:nvSpPr>
        <p:spPr>
          <a:xfrm>
            <a:off x="548480" y="3117211"/>
            <a:ext cx="42191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200" b="1" spc="-200" dirty="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698299"/>
                </a:solidFill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▶ </a:t>
            </a:r>
            <a:endParaRPr lang="ko-KR" altLang="en-US" sz="1200" dirty="0">
              <a:latin typeface="08서울남산체 B" panose="02020603020101020101" pitchFamily="18" charset="-127"/>
              <a:ea typeface="08서울남산체 B" panose="02020603020101020101" pitchFamily="18" charset="-127"/>
            </a:endParaRPr>
          </a:p>
        </p:txBody>
      </p:sp>
      <p:sp>
        <p:nvSpPr>
          <p:cNvPr id="96" name="TextBox 95"/>
          <p:cNvSpPr txBox="1"/>
          <p:nvPr/>
        </p:nvSpPr>
        <p:spPr>
          <a:xfrm>
            <a:off x="549689" y="3538226"/>
            <a:ext cx="8053173" cy="11310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>
              <a:lnSpc>
                <a:spcPct val="150000"/>
              </a:lnSpc>
            </a:pPr>
            <a:r>
              <a:rPr lang="en-US" altLang="ko-KR" sz="1500" dirty="0" smtClean="0"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   『</a:t>
            </a:r>
            <a:r>
              <a:rPr lang="ko-KR" altLang="en-US" sz="1500" dirty="0" err="1"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신탁법</a:t>
            </a:r>
            <a:r>
              <a:rPr lang="en-US" altLang="ko-KR" sz="1500" dirty="0"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』</a:t>
            </a:r>
            <a:r>
              <a:rPr lang="ko-KR" altLang="en-US" sz="1500" dirty="0"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에 따라 수탁자 명의로 </a:t>
            </a:r>
            <a:r>
              <a:rPr lang="ko-KR" altLang="en-US" sz="1500" dirty="0" smtClean="0"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등기된 신탁재산에 대한 재산세가 체납된 경우에는 </a:t>
            </a:r>
            <a:r>
              <a:rPr lang="en-US" altLang="ko-KR" sz="1500" dirty="0" smtClean="0"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『</a:t>
            </a:r>
            <a:r>
              <a:rPr lang="ko-KR" altLang="en-US" sz="1500" dirty="0" smtClean="0"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지방세징수법</a:t>
            </a:r>
            <a:r>
              <a:rPr lang="en-US" altLang="ko-KR" sz="1500" dirty="0" smtClean="0"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』 </a:t>
            </a:r>
            <a:r>
              <a:rPr lang="ko-KR" altLang="en-US" sz="1500" dirty="0" smtClean="0"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제</a:t>
            </a:r>
            <a:r>
              <a:rPr lang="en-US" altLang="ko-KR" sz="1500" dirty="0" smtClean="0"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33</a:t>
            </a:r>
            <a:r>
              <a:rPr lang="ko-KR" altLang="en-US" sz="1500" dirty="0" smtClean="0"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조에도 불구하고</a:t>
            </a:r>
            <a:r>
              <a:rPr lang="en-US" altLang="ko-KR" sz="1500" dirty="0"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 </a:t>
            </a:r>
            <a:r>
              <a:rPr lang="ko-KR" altLang="en-US" sz="1500" dirty="0" smtClean="0"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재산세가 체납된 해당 재산에 대해서만 압류할 수 있다</a:t>
            </a:r>
            <a:r>
              <a:rPr lang="en-US" altLang="ko-KR" sz="1500" dirty="0" smtClean="0"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. </a:t>
            </a:r>
            <a:r>
              <a:rPr lang="ko-KR" altLang="en-US" sz="1500" dirty="0" smtClean="0"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다만</a:t>
            </a:r>
            <a:r>
              <a:rPr lang="en-US" altLang="ko-KR" sz="1500" dirty="0" smtClean="0"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, </a:t>
            </a:r>
            <a:r>
              <a:rPr lang="ko-KR" altLang="en-US" sz="1500" dirty="0" smtClean="0"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재산세가 체납된 재산이 속한 신탁에 다른 재산이 있는 경우에는 그 다른 재산에 대하여 압류할 수 있다</a:t>
            </a:r>
            <a:r>
              <a:rPr lang="en-US" altLang="ko-KR" sz="1500" dirty="0" smtClean="0"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.</a:t>
            </a:r>
            <a:endParaRPr lang="en-US" altLang="ko-KR" sz="1500" dirty="0">
              <a:latin typeface="08서울남산체 B" panose="02020603020101020101" pitchFamily="18" charset="-127"/>
              <a:ea typeface="08서울남산체 B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217212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직사각형 17"/>
          <p:cNvSpPr/>
          <p:nvPr/>
        </p:nvSpPr>
        <p:spPr>
          <a:xfrm>
            <a:off x="549689" y="1220235"/>
            <a:ext cx="8054384" cy="33861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extBox 1"/>
          <p:cNvSpPr txBox="1"/>
          <p:nvPr/>
        </p:nvSpPr>
        <p:spPr>
          <a:xfrm>
            <a:off x="516164" y="537582"/>
            <a:ext cx="1944763" cy="477054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altLang="ko-KR" sz="2500" b="1" spc="-1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063A7A"/>
                </a:solidFill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Ⅶ</a:t>
            </a:r>
            <a:r>
              <a:rPr lang="en-US" altLang="ko-KR" sz="2500" b="1" spc="-150" dirty="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063A7A"/>
                </a:solidFill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. </a:t>
            </a:r>
            <a:r>
              <a:rPr lang="ko-KR" altLang="en-US" sz="2500" b="1" spc="-150" dirty="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063A7A"/>
                </a:solidFill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체납처분비</a:t>
            </a:r>
            <a:endParaRPr lang="ko-KR" altLang="en-US" sz="2500" b="1" spc="-15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rgbClr val="063A7A"/>
              </a:solidFill>
              <a:latin typeface="08서울남산체 B" panose="02020603020101020101" pitchFamily="18" charset="-127"/>
              <a:ea typeface="08서울남산체 B" panose="02020603020101020101" pitchFamily="18" charset="-127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60645" y="1196752"/>
            <a:ext cx="7841697" cy="378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400"/>
              </a:lnSpc>
            </a:pPr>
            <a:r>
              <a:rPr lang="ko-KR" altLang="en-US" dirty="0" smtClean="0"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관련법</a:t>
            </a:r>
            <a:endParaRPr lang="ko-KR" altLang="en-US" dirty="0">
              <a:latin typeface="08서울남산체 B" panose="02020603020101020101" pitchFamily="18" charset="-127"/>
              <a:ea typeface="08서울남산체 B" panose="02020603020101020101" pitchFamily="18" charset="-127"/>
            </a:endParaRPr>
          </a:p>
        </p:txBody>
      </p:sp>
      <p:cxnSp>
        <p:nvCxnSpPr>
          <p:cNvPr id="21" name="직선 연결선 20"/>
          <p:cNvCxnSpPr/>
          <p:nvPr/>
        </p:nvCxnSpPr>
        <p:spPr>
          <a:xfrm>
            <a:off x="539552" y="1079631"/>
            <a:ext cx="8064000" cy="0"/>
          </a:xfrm>
          <a:prstGeom prst="line">
            <a:avLst/>
          </a:prstGeom>
          <a:ln w="38100">
            <a:solidFill>
              <a:srgbClr val="6982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연결선 21"/>
          <p:cNvCxnSpPr/>
          <p:nvPr/>
        </p:nvCxnSpPr>
        <p:spPr>
          <a:xfrm>
            <a:off x="530587" y="6021288"/>
            <a:ext cx="8064896" cy="0"/>
          </a:xfrm>
          <a:prstGeom prst="line">
            <a:avLst/>
          </a:prstGeom>
          <a:ln w="12700">
            <a:solidFill>
              <a:srgbClr val="AEADB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4" name="그림 23" descr="캠코 배경없음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5886073" y="6303415"/>
            <a:ext cx="2718000" cy="195034"/>
          </a:xfrm>
          <a:prstGeom prst="rect">
            <a:avLst/>
          </a:prstGeom>
        </p:spPr>
      </p:pic>
      <p:pic>
        <p:nvPicPr>
          <p:cNvPr id="26" name="그림 25" descr="kamco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7913248" y="755739"/>
            <a:ext cx="691200" cy="196766"/>
          </a:xfrm>
          <a:prstGeom prst="rect">
            <a:avLst/>
          </a:prstGeom>
        </p:spPr>
      </p:pic>
      <p:sp>
        <p:nvSpPr>
          <p:cNvPr id="89" name="직사각형 88"/>
          <p:cNvSpPr/>
          <p:nvPr/>
        </p:nvSpPr>
        <p:spPr>
          <a:xfrm>
            <a:off x="548480" y="1244042"/>
            <a:ext cx="42191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200" b="1" spc="-200" dirty="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698299"/>
                </a:solidFill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▶ </a:t>
            </a:r>
            <a:endParaRPr lang="ko-KR" altLang="en-US" sz="1200" dirty="0">
              <a:latin typeface="08서울남산체 B" panose="02020603020101020101" pitchFamily="18" charset="-127"/>
              <a:ea typeface="08서울남산체 B" panose="02020603020101020101" pitchFamily="18" charset="-127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9689" y="1665809"/>
            <a:ext cx="8126767" cy="11310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2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지방세기본법 제</a:t>
            </a:r>
            <a:r>
              <a:rPr lang="en-US" altLang="ko-KR" sz="12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</a:t>
            </a:r>
            <a:r>
              <a:rPr lang="ko-KR" altLang="en-US" sz="12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조 제</a:t>
            </a:r>
            <a:r>
              <a:rPr lang="en-US" altLang="ko-KR" sz="12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</a:t>
            </a:r>
            <a:r>
              <a:rPr lang="ko-KR" altLang="en-US" sz="12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항 제</a:t>
            </a:r>
            <a:r>
              <a:rPr lang="en-US" altLang="ko-KR" sz="12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25</a:t>
            </a:r>
            <a:r>
              <a:rPr lang="ko-KR" altLang="en-US" sz="12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호</a:t>
            </a:r>
            <a:r>
              <a:rPr lang="ko-KR" altLang="en-US" sz="1100" dirty="0" smtClean="0"/>
              <a:t> </a:t>
            </a:r>
          </a:p>
          <a:p>
            <a:pPr>
              <a:lnSpc>
                <a:spcPct val="150000"/>
              </a:lnSpc>
            </a:pPr>
            <a:r>
              <a:rPr lang="en-US" altLang="ko-KR" sz="1100" dirty="0" smtClean="0"/>
              <a:t>  ’</a:t>
            </a:r>
            <a:r>
              <a:rPr lang="ko-KR" altLang="en-US" sz="1100" dirty="0" smtClean="0"/>
              <a:t>체납처분비</a:t>
            </a:r>
            <a:r>
              <a:rPr lang="en-US" altLang="ko-KR" sz="1100" dirty="0" smtClean="0"/>
              <a:t>’</a:t>
            </a:r>
            <a:r>
              <a:rPr lang="ko-KR" altLang="en-US" sz="1100" dirty="0" smtClean="0"/>
              <a:t>란 지방세징수법 제</a:t>
            </a:r>
            <a:r>
              <a:rPr lang="en-US" altLang="ko-KR" sz="1100" dirty="0" smtClean="0"/>
              <a:t>3</a:t>
            </a:r>
            <a:r>
              <a:rPr lang="ko-KR" altLang="en-US" sz="1100" dirty="0" smtClean="0"/>
              <a:t>장의 체납처분에 관한 규정에 따른 재산의 압류</a:t>
            </a:r>
            <a:r>
              <a:rPr lang="en-US" altLang="ko-KR" sz="1100" dirty="0" smtClean="0"/>
              <a:t>, </a:t>
            </a:r>
            <a:r>
              <a:rPr lang="ko-KR" altLang="en-US" sz="1100" dirty="0" smtClean="0"/>
              <a:t>보관</a:t>
            </a:r>
            <a:r>
              <a:rPr lang="en-US" altLang="ko-KR" sz="1100" dirty="0" smtClean="0"/>
              <a:t>, </a:t>
            </a:r>
            <a:r>
              <a:rPr lang="ko-KR" altLang="en-US" sz="1100" dirty="0" smtClean="0"/>
              <a:t>운반과 매각에 드는 비용 </a:t>
            </a:r>
            <a:r>
              <a:rPr lang="en-US" altLang="ko-KR" sz="1100" dirty="0" smtClean="0"/>
              <a:t>(</a:t>
            </a:r>
            <a:r>
              <a:rPr lang="ko-KR" altLang="en-US" sz="1100" dirty="0" smtClean="0"/>
              <a:t>매각을 대행시키는 경우 그 수수료를 포함한다</a:t>
            </a:r>
            <a:r>
              <a:rPr lang="en-US" altLang="ko-KR" sz="1100" dirty="0" smtClean="0"/>
              <a:t>)</a:t>
            </a:r>
            <a:r>
              <a:rPr lang="ko-KR" altLang="en-US" sz="1100" dirty="0" smtClean="0"/>
              <a:t>을 말한다</a:t>
            </a:r>
            <a:r>
              <a:rPr lang="en-US" altLang="ko-KR" sz="1100" dirty="0" smtClean="0"/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sz="1100" dirty="0"/>
              <a:t> </a:t>
            </a:r>
            <a:r>
              <a:rPr lang="en-US" altLang="ko-KR" sz="1100" dirty="0" smtClean="0"/>
              <a:t> </a:t>
            </a:r>
            <a:r>
              <a:rPr lang="ko-KR" altLang="en-US" sz="1100" dirty="0" smtClean="0"/>
              <a:t>예</a:t>
            </a:r>
            <a:r>
              <a:rPr lang="en-US" altLang="ko-KR" sz="1100" dirty="0" smtClean="0"/>
              <a:t>) </a:t>
            </a:r>
            <a:r>
              <a:rPr lang="ko-KR" altLang="en-US" sz="1100" dirty="0" smtClean="0"/>
              <a:t>공부발급</a:t>
            </a:r>
            <a:r>
              <a:rPr lang="en-US" altLang="ko-KR" sz="1100" dirty="0" smtClean="0"/>
              <a:t>, </a:t>
            </a:r>
            <a:r>
              <a:rPr lang="ko-KR" altLang="en-US" sz="1100" dirty="0" smtClean="0"/>
              <a:t>감정평가</a:t>
            </a:r>
            <a:r>
              <a:rPr lang="en-US" altLang="ko-KR" sz="1100" dirty="0" smtClean="0"/>
              <a:t>, </a:t>
            </a:r>
            <a:r>
              <a:rPr lang="ko-KR" altLang="en-US" sz="1100" dirty="0" smtClean="0"/>
              <a:t>현황조사</a:t>
            </a:r>
            <a:r>
              <a:rPr lang="en-US" altLang="ko-KR" sz="1100" dirty="0" smtClean="0"/>
              <a:t>, </a:t>
            </a:r>
            <a:r>
              <a:rPr lang="ko-KR" altLang="en-US" sz="1100" dirty="0" smtClean="0"/>
              <a:t>공매공고</a:t>
            </a:r>
            <a:r>
              <a:rPr lang="en-US" altLang="ko-KR" sz="1100" dirty="0" smtClean="0"/>
              <a:t>, </a:t>
            </a:r>
            <a:r>
              <a:rPr lang="ko-KR" altLang="en-US" sz="1100" dirty="0" smtClean="0"/>
              <a:t>공매공고등기</a:t>
            </a:r>
            <a:r>
              <a:rPr lang="en-US" altLang="ko-KR" sz="1100" dirty="0" smtClean="0"/>
              <a:t>, </a:t>
            </a:r>
            <a:r>
              <a:rPr lang="ko-KR" altLang="en-US" sz="1100" dirty="0" err="1" smtClean="0"/>
              <a:t>우편및교부송달</a:t>
            </a:r>
            <a:r>
              <a:rPr lang="en-US" altLang="ko-KR" sz="1100" dirty="0" smtClean="0"/>
              <a:t>, </a:t>
            </a:r>
            <a:r>
              <a:rPr lang="ko-KR" altLang="en-US" sz="1100" dirty="0" smtClean="0"/>
              <a:t>매각대행수수료</a:t>
            </a:r>
            <a:endParaRPr lang="ko-KR" altLang="en-US" sz="1100" dirty="0"/>
          </a:p>
        </p:txBody>
      </p:sp>
      <p:sp>
        <p:nvSpPr>
          <p:cNvPr id="25" name="TextBox 24"/>
          <p:cNvSpPr txBox="1"/>
          <p:nvPr/>
        </p:nvSpPr>
        <p:spPr>
          <a:xfrm>
            <a:off x="549689" y="2817937"/>
            <a:ext cx="8053173" cy="3336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2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지방세징수법 시행규칙 제</a:t>
            </a:r>
            <a:r>
              <a:rPr lang="en-US" altLang="ko-KR" sz="12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52</a:t>
            </a:r>
            <a:r>
              <a:rPr lang="ko-KR" altLang="en-US" sz="12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조의 </a:t>
            </a:r>
            <a:r>
              <a:rPr lang="en-US" altLang="ko-KR" sz="12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 (</a:t>
            </a:r>
            <a:r>
              <a:rPr lang="ko-KR" altLang="en-US" sz="12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매각대행수수료</a:t>
            </a:r>
            <a:r>
              <a:rPr lang="en-US" altLang="ko-KR" sz="12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</a:p>
        </p:txBody>
      </p:sp>
      <p:graphicFrame>
        <p:nvGraphicFramePr>
          <p:cNvPr id="13" name="표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1059356"/>
              </p:ext>
            </p:extLst>
          </p:nvPr>
        </p:nvGraphicFramePr>
        <p:xfrm>
          <a:off x="574966" y="3249985"/>
          <a:ext cx="8003829" cy="187184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6754"/>
                <a:gridCol w="1584176"/>
                <a:gridCol w="2232248"/>
                <a:gridCol w="1368152"/>
                <a:gridCol w="1342499"/>
              </a:tblGrid>
              <a:tr h="22325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구분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기준금액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공매진행단계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수수료율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최저수수료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22325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자납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납부세액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000" dirty="0" smtClean="0">
                          <a:latin typeface="+mn-ea"/>
                          <a:ea typeface="+mn-ea"/>
                        </a:rPr>
                        <a:t>공매공고 전</a:t>
                      </a:r>
                      <a:endParaRPr lang="en-US" altLang="ko-KR" sz="1000" dirty="0" smtClean="0">
                        <a:latin typeface="+mn-ea"/>
                        <a:ea typeface="+mn-ea"/>
                      </a:endParaRP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000" dirty="0" smtClean="0">
                          <a:latin typeface="+mn-ea"/>
                          <a:ea typeface="+mn-ea"/>
                        </a:rPr>
                        <a:t>공고 후 매각결정 전</a:t>
                      </a:r>
                      <a:endParaRPr lang="en-US" altLang="ko-KR" sz="1000" dirty="0" smtClean="0">
                        <a:latin typeface="+mn-ea"/>
                        <a:ea typeface="+mn-ea"/>
                      </a:endParaRP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000" dirty="0" smtClean="0">
                          <a:latin typeface="+mn-ea"/>
                          <a:ea typeface="+mn-ea"/>
                        </a:rPr>
                        <a:t>매각결정 후 대금납부 전</a:t>
                      </a:r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0.6%</a:t>
                      </a: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0.9%</a:t>
                      </a: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000" smtClean="0">
                          <a:latin typeface="+mn-ea"/>
                          <a:ea typeface="+mn-ea"/>
                        </a:rPr>
                        <a:t>1.2%</a:t>
                      </a:r>
                      <a:endParaRPr lang="en-US" altLang="ko-KR" sz="1000" dirty="0" smtClean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12</a:t>
                      </a:r>
                      <a:r>
                        <a:rPr lang="ko-KR" altLang="en-US" sz="1000" dirty="0" smtClean="0">
                          <a:latin typeface="+mn-ea"/>
                          <a:ea typeface="+mn-ea"/>
                        </a:rPr>
                        <a:t>만원</a:t>
                      </a:r>
                      <a:endParaRPr lang="en-US" altLang="ko-KR" sz="1000" dirty="0" smtClean="0">
                        <a:latin typeface="+mn-ea"/>
                        <a:ea typeface="+mn-ea"/>
                      </a:endParaRP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18</a:t>
                      </a:r>
                      <a:r>
                        <a:rPr lang="ko-KR" altLang="en-US" sz="1000" dirty="0" smtClean="0">
                          <a:latin typeface="+mn-ea"/>
                          <a:ea typeface="+mn-ea"/>
                        </a:rPr>
                        <a:t>만원</a:t>
                      </a:r>
                      <a:endParaRPr lang="en-US" altLang="ko-KR" sz="1000" dirty="0" smtClean="0">
                        <a:latin typeface="+mn-ea"/>
                        <a:ea typeface="+mn-ea"/>
                      </a:endParaRP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24</a:t>
                      </a:r>
                      <a:r>
                        <a:rPr lang="ko-KR" altLang="en-US" sz="1000" dirty="0" smtClean="0">
                          <a:latin typeface="+mn-ea"/>
                          <a:ea typeface="+mn-ea"/>
                        </a:rPr>
                        <a:t>만원</a:t>
                      </a:r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5500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smtClean="0">
                          <a:latin typeface="+mn-ea"/>
                          <a:ea typeface="+mn-ea"/>
                        </a:rPr>
                        <a:t>해제</a:t>
                      </a:r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smtClean="0">
                          <a:latin typeface="+mn-ea"/>
                          <a:ea typeface="+mn-ea"/>
                        </a:rPr>
                        <a:t>체납액 또는</a:t>
                      </a:r>
                      <a:endParaRPr lang="en-US" altLang="ko-KR" sz="1000" dirty="0" smtClean="0">
                        <a:latin typeface="+mn-ea"/>
                        <a:ea typeface="+mn-ea"/>
                      </a:endParaRPr>
                    </a:p>
                    <a:p>
                      <a:pPr algn="ctr" latinLnBrk="1"/>
                      <a:r>
                        <a:rPr lang="ko-KR" altLang="en-US" sz="1000" dirty="0" smtClean="0">
                          <a:latin typeface="+mn-ea"/>
                          <a:ea typeface="+mn-ea"/>
                        </a:rPr>
                        <a:t>매각예정가격 중</a:t>
                      </a:r>
                      <a:endParaRPr lang="en-US" altLang="ko-KR" sz="1000" dirty="0" smtClean="0">
                        <a:latin typeface="+mn-ea"/>
                        <a:ea typeface="+mn-ea"/>
                      </a:endParaRPr>
                    </a:p>
                    <a:p>
                      <a:pPr algn="ctr" latinLnBrk="1"/>
                      <a:r>
                        <a:rPr lang="ko-KR" altLang="en-US" sz="1000" dirty="0" smtClean="0">
                          <a:latin typeface="+mn-ea"/>
                          <a:ea typeface="+mn-ea"/>
                        </a:rPr>
                        <a:t>적은 금액</a:t>
                      </a:r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한컴 윤고딕 230" panose="02020603020101020101" pitchFamily="18" charset="-127"/>
                        <a:ea typeface="한컴 윤고딕 230" panose="02020603020101020101" pitchFamily="18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9934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smtClean="0">
                          <a:latin typeface="+mn-ea"/>
                          <a:ea typeface="+mn-ea"/>
                        </a:rPr>
                        <a:t>매각</a:t>
                      </a:r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smtClean="0">
                          <a:latin typeface="+mn-ea"/>
                          <a:ea typeface="+mn-ea"/>
                        </a:rPr>
                        <a:t>해당매각금액</a:t>
                      </a:r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3.0%</a:t>
                      </a:r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30</a:t>
                      </a:r>
                      <a:r>
                        <a:rPr lang="ko-KR" altLang="en-US" sz="1000" dirty="0" smtClean="0">
                          <a:latin typeface="+mn-ea"/>
                          <a:ea typeface="+mn-ea"/>
                        </a:rPr>
                        <a:t>만원</a:t>
                      </a:r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9934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smtClean="0">
                          <a:latin typeface="+mn-ea"/>
                          <a:ea typeface="+mn-ea"/>
                        </a:rPr>
                        <a:t>매각대금불납취소</a:t>
                      </a:r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smtClean="0">
                          <a:latin typeface="+mn-ea"/>
                          <a:ea typeface="+mn-ea"/>
                        </a:rPr>
                        <a:t>해당매수금액</a:t>
                      </a:r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1.2%</a:t>
                      </a:r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24</a:t>
                      </a:r>
                      <a:r>
                        <a:rPr lang="ko-KR" altLang="en-US" sz="1000" dirty="0" smtClean="0">
                          <a:latin typeface="+mn-ea"/>
                          <a:ea typeface="+mn-ea"/>
                        </a:rPr>
                        <a:t>만원</a:t>
                      </a:r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2051720" y="5122193"/>
            <a:ext cx="6624736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lnSpc>
                <a:spcPct val="150000"/>
              </a:lnSpc>
              <a:buAutoNum type="arabicParenBoth"/>
            </a:pPr>
            <a:r>
              <a:rPr lang="ko-KR" altLang="en-US" sz="1000" dirty="0" smtClean="0"/>
              <a:t>기준금액이 </a:t>
            </a:r>
            <a:r>
              <a:rPr lang="en-US" altLang="ko-KR" sz="1000" dirty="0" smtClean="0"/>
              <a:t>12</a:t>
            </a:r>
            <a:r>
              <a:rPr lang="ko-KR" altLang="en-US" sz="1000" dirty="0" smtClean="0"/>
              <a:t>억을 초과하는 경우에는 </a:t>
            </a:r>
            <a:r>
              <a:rPr lang="en-US" altLang="ko-KR" sz="1000" dirty="0" smtClean="0"/>
              <a:t>12</a:t>
            </a:r>
            <a:r>
              <a:rPr lang="ko-KR" altLang="en-US" sz="1000" dirty="0" err="1" smtClean="0"/>
              <a:t>억원으로</a:t>
            </a:r>
            <a:r>
              <a:rPr lang="ko-KR" altLang="en-US" sz="1000" dirty="0" smtClean="0"/>
              <a:t> 한다</a:t>
            </a:r>
            <a:r>
              <a:rPr lang="en-US" altLang="ko-KR" sz="1000" dirty="0" smtClean="0"/>
              <a:t>.</a:t>
            </a:r>
          </a:p>
          <a:p>
            <a:pPr marL="228600" indent="-228600">
              <a:lnSpc>
                <a:spcPct val="150000"/>
              </a:lnSpc>
              <a:buAutoNum type="arabicParenBoth"/>
            </a:pPr>
            <a:r>
              <a:rPr lang="ko-KR" altLang="en-US" sz="1000" dirty="0" smtClean="0"/>
              <a:t>한국자산관리공사가 매각대행의뢰를 받은 날부터 </a:t>
            </a:r>
            <a:r>
              <a:rPr lang="en-US" altLang="ko-KR" sz="1000" dirty="0" smtClean="0"/>
              <a:t>10</a:t>
            </a:r>
            <a:r>
              <a:rPr lang="ko-KR" altLang="en-US" sz="1000" dirty="0" smtClean="0"/>
              <a:t>일 이내에 공매가 중지되거나  매각결정이 취소되거나 매각대행의뢰가 해제된 경우에는 해당 수수료를 면제할 수 있다</a:t>
            </a:r>
            <a:r>
              <a:rPr lang="en-US" altLang="ko-KR" sz="1000" dirty="0" smtClean="0"/>
              <a:t>.</a:t>
            </a:r>
            <a:endParaRPr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22979783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029964" y="3071475"/>
            <a:ext cx="307808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8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감사합니다</a:t>
            </a:r>
            <a:endParaRPr lang="ko-KR" altLang="en-US" sz="48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1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pic>
        <p:nvPicPr>
          <p:cNvPr id="3" name="그림 2" descr="KAMCO 영문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80678" y="331340"/>
            <a:ext cx="2754000" cy="217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57327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6900</TotalTime>
  <Words>1997</Words>
  <Application>Microsoft Office PowerPoint</Application>
  <PresentationFormat>화면 슬라이드 쇼(4:3)</PresentationFormat>
  <Paragraphs>250</Paragraphs>
  <Slides>18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18</vt:i4>
      </vt:variant>
    </vt:vector>
  </HeadingPairs>
  <TitlesOfParts>
    <vt:vector size="28" baseType="lpstr">
      <vt:lpstr>굴림</vt:lpstr>
      <vt:lpstr>Arial</vt:lpstr>
      <vt:lpstr>08서울남산체 B</vt:lpstr>
      <vt:lpstr>나눔고딕</vt:lpstr>
      <vt:lpstr>맑은 고딕</vt:lpstr>
      <vt:lpstr>Wingdings</vt:lpstr>
      <vt:lpstr>나눔고딕OTF</vt:lpstr>
      <vt:lpstr>나눔고딕 ExtraBold</vt:lpstr>
      <vt:lpstr>나눔명조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kang</dc:creator>
  <cp:lastModifiedBy>user</cp:lastModifiedBy>
  <cp:revision>517</cp:revision>
  <cp:lastPrinted>2018-04-26T05:52:38Z</cp:lastPrinted>
  <dcterms:created xsi:type="dcterms:W3CDTF">2015-06-30T05:03:20Z</dcterms:created>
  <dcterms:modified xsi:type="dcterms:W3CDTF">2018-04-26T05:53:04Z</dcterms:modified>
</cp:coreProperties>
</file>