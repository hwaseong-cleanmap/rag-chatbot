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70" r:id="rId2"/>
    <p:sldId id="551" r:id="rId3"/>
    <p:sldId id="576" r:id="rId4"/>
    <p:sldId id="577" r:id="rId5"/>
    <p:sldId id="553" r:id="rId6"/>
    <p:sldId id="554" r:id="rId7"/>
    <p:sldId id="575" r:id="rId8"/>
    <p:sldId id="555" r:id="rId9"/>
    <p:sldId id="556" r:id="rId10"/>
    <p:sldId id="557" r:id="rId11"/>
    <p:sldId id="558" r:id="rId12"/>
    <p:sldId id="559" r:id="rId13"/>
    <p:sldId id="560" r:id="rId14"/>
    <p:sldId id="561" r:id="rId15"/>
    <p:sldId id="562" r:id="rId16"/>
    <p:sldId id="563" r:id="rId17"/>
    <p:sldId id="564" r:id="rId18"/>
    <p:sldId id="565" r:id="rId19"/>
    <p:sldId id="566" r:id="rId20"/>
    <p:sldId id="567" r:id="rId21"/>
    <p:sldId id="568" r:id="rId22"/>
    <p:sldId id="569" r:id="rId23"/>
    <p:sldId id="570" r:id="rId24"/>
    <p:sldId id="571" r:id="rId25"/>
    <p:sldId id="572" r:id="rId26"/>
    <p:sldId id="573" r:id="rId27"/>
    <p:sldId id="574" r:id="rId28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436">
          <p15:clr>
            <a:srgbClr val="A4A3A4"/>
          </p15:clr>
        </p15:guide>
        <p15:guide id="3" orient="horz" pos="4065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845">
          <p15:clr>
            <a:srgbClr val="A4A3A4"/>
          </p15:clr>
        </p15:guide>
        <p15:guide id="6" orient="horz" pos="3385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orient="horz" pos="3113">
          <p15:clr>
            <a:srgbClr val="A4A3A4"/>
          </p15:clr>
        </p15:guide>
        <p15:guide id="9" pos="3120">
          <p15:clr>
            <a:srgbClr val="A4A3A4"/>
          </p15:clr>
        </p15:guide>
        <p15:guide id="10" pos="81">
          <p15:clr>
            <a:srgbClr val="A4A3A4"/>
          </p15:clr>
        </p15:guide>
        <p15:guide id="11" pos="172">
          <p15:clr>
            <a:srgbClr val="A4A3A4"/>
          </p15:clr>
        </p15:guide>
        <p15:guide id="12" pos="6159">
          <p15:clr>
            <a:srgbClr val="A4A3A4"/>
          </p15:clr>
        </p15:guide>
        <p15:guide id="13" pos="6068">
          <p15:clr>
            <a:srgbClr val="A4A3A4"/>
          </p15:clr>
        </p15:guide>
        <p15:guide id="14" pos="5978">
          <p15:clr>
            <a:srgbClr val="A4A3A4"/>
          </p15:clr>
        </p15:guide>
        <p15:guide id="15" pos="3211">
          <p15:clr>
            <a:srgbClr val="A4A3A4"/>
          </p15:clr>
        </p15:guide>
        <p15:guide id="16" pos="16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FFFFCC"/>
    <a:srgbClr val="404040"/>
    <a:srgbClr val="FFFFFF"/>
    <a:srgbClr val="FE8637"/>
    <a:srgbClr val="F7A74F"/>
    <a:srgbClr val="D9D9D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74" autoAdjust="0"/>
    <p:restoredTop sz="95245" autoAdjust="0"/>
  </p:normalViewPr>
  <p:slideViewPr>
    <p:cSldViewPr showGuides="1">
      <p:cViewPr varScale="1">
        <p:scale>
          <a:sx n="87" d="100"/>
          <a:sy n="87" d="100"/>
        </p:scale>
        <p:origin x="1608" y="90"/>
      </p:cViewPr>
      <p:guideLst>
        <p:guide orient="horz" pos="663"/>
        <p:guide orient="horz" pos="436"/>
        <p:guide orient="horz" pos="4065"/>
        <p:guide orient="horz" pos="981"/>
        <p:guide orient="horz" pos="845"/>
        <p:guide orient="horz" pos="3385"/>
        <p:guide orient="horz" pos="2160"/>
        <p:guide orient="horz" pos="3113"/>
        <p:guide pos="3120"/>
        <p:guide pos="81"/>
        <p:guide pos="172"/>
        <p:guide pos="6159"/>
        <p:guide pos="6068"/>
        <p:guide pos="5978"/>
        <p:guide pos="3211"/>
        <p:guide pos="16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101" d="100"/>
          <a:sy n="101" d="100"/>
        </p:scale>
        <p:origin x="-912" y="-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52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F115A-2084-42F3-AD9C-47CDA8BEE491}" type="datetimeFigureOut">
              <a:rPr lang="ko-KR" altLang="en-US" smtClean="0"/>
              <a:pPr/>
              <a:t>2023-01-19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8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" y="9428588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52" y="9428588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16ACA-EB84-4D22-9D9B-B30BDA60F17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468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16ACA-EB84-4D22-9D9B-B30BDA60F17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08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2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4805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3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8755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4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7313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5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2895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6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7524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7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06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8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548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9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5239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10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699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11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2906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12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346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13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0410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14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8789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15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0184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16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0189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17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38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18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5183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19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0728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20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77937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21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85091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22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43308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23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0007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24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10212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25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22283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26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4038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5325C-8261-4876-B95F-85B3FDDCD676}" type="slidenum">
              <a:rPr lang="en-US" altLang="ko-KR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/>
              <a:t>27</a:t>
            </a:fld>
            <a:endParaRPr lang="en-US" altLang="ko-KR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44538"/>
            <a:ext cx="5380037" cy="3724275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파트너는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2008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대표자 신용정보서비스로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오픈하여</a:t>
            </a:r>
            <a:endParaRPr lang="ko-KR" altLang="en-US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지난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5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년 동안 많은 개선과 발전을 거듭하였고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금년 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10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월에는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/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서비스와 제공정보를 대폭 확대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개선하여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New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크레딧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파트너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오픈을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앞에 두고 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  <a:endParaRPr lang="ko-KR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6454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8" descr="3"/>
          <p:cNvPicPr>
            <a:picLocks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0132" y="595974"/>
            <a:ext cx="9360000" cy="4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그림 6" descr="KCB CI 최종.jpg"/>
          <p:cNvPicPr>
            <a:picLocks noChangeAspect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968432" y="6531382"/>
            <a:ext cx="756023" cy="248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526256" y="3996353"/>
            <a:ext cx="88534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3200" b="1" dirty="0" smtClean="0">
                <a:ea typeface="+mj-ea"/>
              </a:rPr>
              <a:t>가상자산 압류 서비스 이용 안내자료</a:t>
            </a:r>
            <a:endParaRPr lang="ko-KR" altLang="en-US" sz="3200" b="1" dirty="0">
              <a:ea typeface="+mj-ea"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910806" y="5155282"/>
            <a:ext cx="2084388" cy="35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7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나눔고딕" pitchFamily="50" charset="-127"/>
              </a:rPr>
              <a:t>2023</a:t>
            </a:r>
            <a:r>
              <a:rPr lang="ko-KR" altLang="en-US" sz="17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나눔고딕" pitchFamily="50" charset="-127"/>
              </a:rPr>
              <a:t>년</a:t>
            </a:r>
            <a:r>
              <a:rPr lang="en-US" altLang="ko-KR" sz="17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나눔고딕" pitchFamily="50" charset="-127"/>
              </a:rPr>
              <a:t>  1</a:t>
            </a:r>
            <a:r>
              <a:rPr lang="ko-KR" altLang="en-US" sz="17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나눔고딕" pitchFamily="50" charset="-127"/>
              </a:rPr>
              <a:t>월</a:t>
            </a:r>
            <a:endParaRPr lang="en-US" altLang="ko-KR" sz="1700" b="1" dirty="0">
              <a:solidFill>
                <a:schemeClr val="tx1">
                  <a:lumMod val="75000"/>
                  <a:lumOff val="25000"/>
                </a:schemeClr>
              </a:solidFill>
              <a:ea typeface="나눔고딕" pitchFamily="50" charset="-127"/>
            </a:endParaRPr>
          </a:p>
        </p:txBody>
      </p:sp>
      <p:sp>
        <p:nvSpPr>
          <p:cNvPr id="5" name="Rectangle 141"/>
          <p:cNvSpPr>
            <a:spLocks noChangeArrowheads="1"/>
          </p:cNvSpPr>
          <p:nvPr/>
        </p:nvSpPr>
        <p:spPr bwMode="auto">
          <a:xfrm>
            <a:off x="7680796" y="273348"/>
            <a:ext cx="1872208" cy="357187"/>
          </a:xfrm>
          <a:prstGeom prst="rect">
            <a:avLst/>
          </a:prstGeom>
          <a:noFill/>
          <a:ln w="28575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ko-KR" sz="1700" b="1" i="1" dirty="0" smtClean="0">
                <a:solidFill>
                  <a:srgbClr val="CC3300"/>
                </a:solidFill>
                <a:ea typeface="Arial Unicode MS" pitchFamily="50" charset="-127"/>
                <a:cs typeface="Arial Unicode MS" pitchFamily="50" charset="-127"/>
              </a:rPr>
              <a:t>Confidential</a:t>
            </a:r>
            <a:endParaRPr lang="en-US" altLang="ko-KR" sz="1700" b="1" i="1" dirty="0">
              <a:solidFill>
                <a:srgbClr val="CC3300"/>
              </a:solidFill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85910" y="6392803"/>
            <a:ext cx="22942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http://cpr.allcredit.co.kr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79" descr="5"/>
          <p:cNvPicPr preferRelativeResize="0"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92792"/>
            <a:ext cx="9906000" cy="432000"/>
          </a:xfrm>
          <a:prstGeom prst="rect">
            <a:avLst/>
          </a:prstGeom>
          <a:noFill/>
        </p:spPr>
      </p:pic>
      <p:sp>
        <p:nvSpPr>
          <p:cNvPr id="8" name="Text Box 81"/>
          <p:cNvSpPr txBox="1">
            <a:spLocks noChangeArrowheads="1"/>
          </p:cNvSpPr>
          <p:nvPr/>
        </p:nvSpPr>
        <p:spPr bwMode="gray">
          <a:xfrm>
            <a:off x="416496" y="745007"/>
            <a:ext cx="45735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latinLnBrk="0">
              <a:spcBef>
                <a:spcPct val="0"/>
              </a:spcBef>
            </a:pPr>
            <a:r>
              <a:rPr kumimoji="0" lang="en-US" altLang="ko-KR" sz="1400" b="1" dirty="0">
                <a:solidFill>
                  <a:schemeClr val="bg1"/>
                </a:solidFill>
                <a:ea typeface="HY헤드라인M" pitchFamily="18" charset="-127"/>
              </a:rPr>
              <a:t>KCB, The Common Asset of Korea Credit </a:t>
            </a:r>
            <a:r>
              <a:rPr kumimoji="0" lang="en-US" altLang="ko-KR" sz="1400" b="1" dirty="0" smtClean="0">
                <a:solidFill>
                  <a:schemeClr val="bg1"/>
                </a:solidFill>
                <a:ea typeface="HY헤드라인M" pitchFamily="18" charset="-127"/>
              </a:rPr>
              <a:t>Business</a:t>
            </a:r>
            <a:endParaRPr kumimoji="0" lang="en-US" altLang="ko-KR" sz="1400" b="1" dirty="0">
              <a:solidFill>
                <a:schemeClr val="bg1"/>
              </a:solidFill>
              <a:ea typeface="굴림" charset="-127"/>
            </a:endParaRPr>
          </a:p>
        </p:txBody>
      </p:sp>
      <p:pic>
        <p:nvPicPr>
          <p:cNvPr id="9" name="Picture 82" descr="PPT_A_1_1"/>
          <p:cNvPicPr>
            <a:picLocks noChangeAspect="1" noChangeArrowheads="1"/>
          </p:cNvPicPr>
          <p:nvPr/>
        </p:nvPicPr>
        <p:blipFill>
          <a:blip r:embed="rId4" cstate="print">
            <a:lum contrast="-20000"/>
          </a:blip>
          <a:srcRect/>
          <a:stretch>
            <a:fillRect/>
          </a:stretch>
        </p:blipFill>
        <p:spPr bwMode="auto">
          <a:xfrm>
            <a:off x="93664" y="1103312"/>
            <a:ext cx="9827601" cy="2469704"/>
          </a:xfrm>
          <a:prstGeom prst="rect">
            <a:avLst/>
          </a:prstGeom>
          <a:noFill/>
        </p:spPr>
      </p:pic>
      <p:pic>
        <p:nvPicPr>
          <p:cNvPr id="10" name="Picture 83" descr="iStock_000001764508Small"/>
          <p:cNvPicPr preferRelativeResize="0">
            <a:picLocks noChangeArrowheads="1"/>
          </p:cNvPicPr>
          <p:nvPr/>
        </p:nvPicPr>
        <p:blipFill>
          <a:blip r:embed="rId5" cstate="print">
            <a:lum contrast="-20000"/>
          </a:blip>
          <a:srcRect/>
          <a:stretch>
            <a:fillRect/>
          </a:stretch>
        </p:blipFill>
        <p:spPr bwMode="auto">
          <a:xfrm>
            <a:off x="0" y="1103312"/>
            <a:ext cx="3404828" cy="2469704"/>
          </a:xfrm>
          <a:prstGeom prst="rect">
            <a:avLst/>
          </a:prstGeom>
          <a:noFill/>
        </p:spPr>
      </p:pic>
      <p:pic>
        <p:nvPicPr>
          <p:cNvPr id="12" name="Picture 1" descr="C:\Users\KCB\Documents\기업은행\KCB CI 최종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9996" y="325829"/>
            <a:ext cx="898004" cy="294859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91964" y="6440636"/>
            <a:ext cx="6188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“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본 자료는 당사의 사전 서면 승인 없이 직접 또는 간접적으로 제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자에게 누출되어서는 안 됩니다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. ”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369993" y="5439201"/>
            <a:ext cx="3142206" cy="56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  <a:cs typeface="한컴바탕" pitchFamily="18" charset="-127"/>
              </a:rPr>
              <a:t>코리아크레딧뷰로</a:t>
            </a:r>
            <a:r>
              <a:rPr kumimoji="1" lang="ko-KR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  <a:cs typeface="한컴바탕" pitchFamily="18" charset="-127"/>
              </a:rPr>
              <a:t> 주식회사</a:t>
            </a:r>
            <a:endParaRPr kumimoji="1"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  <a:cs typeface="한컴바탕" pitchFamily="18" charset="-127"/>
            </a:endParaRPr>
          </a:p>
        </p:txBody>
      </p:sp>
    </p:spTree>
  </p:cSld>
  <p:clrMapOvr>
    <a:masterClrMapping/>
  </p:clrMapOvr>
  <p:transition advTm="7703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Ⅰ.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서비스 개요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KCB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는 공공기관의 체납징수업무 지원을 위해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,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가상자산사업자 ㈜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코빗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㈜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빗썸코리아와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업무협약을 통해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가상자산 압류를 지원하고 있습니다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7774" y="2132856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■ 신청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회신 프로세스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7835438" y="4293467"/>
            <a:ext cx="1440160" cy="1665488"/>
          </a:xfrm>
          <a:prstGeom prst="rect">
            <a:avLst/>
          </a:prstGeom>
          <a:solidFill>
            <a:srgbClr val="0000FF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700" b="1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가산자산</a:t>
            </a:r>
            <a:endParaRPr lang="en-US" altLang="ko-KR" sz="1700" b="1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700" b="1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거래소</a:t>
            </a:r>
            <a:endParaRPr kumimoji="1" lang="ko-KR" altLang="en-US" sz="1700" b="1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636507" y="4293459"/>
            <a:ext cx="1440160" cy="1665488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600" b="1" i="0" u="none" strike="noStrike" cap="none" normalizeH="0" baseline="0" dirty="0" smtClean="0">
                <a:ln>
                  <a:noFill/>
                </a:ln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공공기관</a:t>
            </a:r>
          </a:p>
        </p:txBody>
      </p:sp>
      <p:sp>
        <p:nvSpPr>
          <p:cNvPr id="33" name="직사각형 32"/>
          <p:cNvSpPr/>
          <p:nvPr/>
        </p:nvSpPr>
        <p:spPr bwMode="auto">
          <a:xfrm>
            <a:off x="4243937" y="4293460"/>
            <a:ext cx="1440160" cy="1665488"/>
          </a:xfrm>
          <a:prstGeom prst="rect">
            <a:avLst/>
          </a:prstGeom>
          <a:solidFill>
            <a:srgbClr val="FFFF00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KCB</a:t>
            </a: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2076667" y="4697371"/>
            <a:ext cx="2167270" cy="1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H="1" flipV="1">
            <a:off x="5684097" y="4697372"/>
            <a:ext cx="2151341" cy="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2074829" y="4838754"/>
            <a:ext cx="2167270" cy="1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H="1" flipV="1">
            <a:off x="5682259" y="4838755"/>
            <a:ext cx="2151341" cy="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087126" y="4445208"/>
            <a:ext cx="2140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① 계정조회 신청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공문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주민번호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87488" y="4293460"/>
            <a:ext cx="2140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② 계정조회자료 전달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공문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KCBID)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56500" y="5963151"/>
            <a:ext cx="32222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공문 수신처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KCB,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가상화폐거래소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85288" y="4855694"/>
            <a:ext cx="2140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④ 결과값 제공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(Y/N, KCBID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687814" y="4855689"/>
            <a:ext cx="2140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③ 결과값 회신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(Y/N, KCBID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2074829" y="5565871"/>
            <a:ext cx="2167270" cy="1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 flipH="1" flipV="1">
            <a:off x="5682259" y="5565872"/>
            <a:ext cx="2151341" cy="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>
            <a:off x="2072991" y="5696237"/>
            <a:ext cx="2167270" cy="1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flipH="1" flipV="1">
            <a:off x="5680421" y="5696238"/>
            <a:ext cx="2151341" cy="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085288" y="5164161"/>
            <a:ext cx="2140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⑤ 압류신청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해제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원화추심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자산이전 신청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공문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KCBID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688451" y="5318662"/>
            <a:ext cx="2140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⑥ 신청자료 전달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공문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KCBID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680421" y="5712727"/>
            <a:ext cx="2140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⑦ 결과값 회신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(Y/N,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K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CBID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085288" y="5715005"/>
            <a:ext cx="2140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⑧ 결과값 제공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(Y/N, KCBID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왼쪽 중괄호 56"/>
          <p:cNvSpPr/>
          <p:nvPr/>
        </p:nvSpPr>
        <p:spPr>
          <a:xfrm rot="5400000">
            <a:off x="2987522" y="2400508"/>
            <a:ext cx="260505" cy="3525400"/>
          </a:xfrm>
          <a:prstGeom prst="leftBrace">
            <a:avLst>
              <a:gd name="adj1" fmla="val 8333"/>
              <a:gd name="adj2" fmla="val 49687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2058350" y="3644103"/>
            <a:ext cx="2140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신용정보 서비스 이용 계약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크레딧파트너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왼쪽 중괄호 58"/>
          <p:cNvSpPr/>
          <p:nvPr/>
        </p:nvSpPr>
        <p:spPr>
          <a:xfrm rot="5400000">
            <a:off x="6654304" y="2398670"/>
            <a:ext cx="260505" cy="3525400"/>
          </a:xfrm>
          <a:prstGeom prst="leftBrace">
            <a:avLst>
              <a:gd name="adj1" fmla="val 8333"/>
              <a:gd name="adj2" fmla="val 49687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5659029" y="3719384"/>
            <a:ext cx="2295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《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가상자산 압류 업무 제휴 계약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》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오각형 1"/>
          <p:cNvSpPr/>
          <p:nvPr/>
        </p:nvSpPr>
        <p:spPr>
          <a:xfrm>
            <a:off x="636506" y="2708919"/>
            <a:ext cx="1724206" cy="503109"/>
          </a:xfrm>
          <a:prstGeom prst="homePlate">
            <a:avLst/>
          </a:prstGeom>
          <a:solidFill>
            <a:srgbClr val="FFFF99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solidFill>
                  <a:schemeClr val="tx1"/>
                </a:solidFill>
              </a:rPr>
              <a:t>(1</a:t>
            </a:r>
            <a:r>
              <a:rPr lang="ko-KR" altLang="en-US" sz="1500" dirty="0" smtClean="0">
                <a:solidFill>
                  <a:schemeClr val="tx1"/>
                </a:solidFill>
              </a:rPr>
              <a:t>단계</a:t>
            </a:r>
            <a:r>
              <a:rPr lang="en-US" altLang="ko-KR" sz="1500" dirty="0" smtClean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500" b="1" dirty="0" smtClean="0">
                <a:solidFill>
                  <a:schemeClr val="tx1"/>
                </a:solidFill>
              </a:rPr>
              <a:t>계정조회</a:t>
            </a:r>
            <a:endParaRPr lang="ko-KR" altLang="en-US" sz="1500" b="1" dirty="0">
              <a:solidFill>
                <a:schemeClr val="tx1"/>
              </a:solidFill>
            </a:endParaRPr>
          </a:p>
        </p:txBody>
      </p:sp>
      <p:sp>
        <p:nvSpPr>
          <p:cNvPr id="63" name="오각형 62"/>
          <p:cNvSpPr/>
          <p:nvPr/>
        </p:nvSpPr>
        <p:spPr>
          <a:xfrm>
            <a:off x="2360712" y="2708919"/>
            <a:ext cx="1724206" cy="503109"/>
          </a:xfrm>
          <a:prstGeom prst="homePlate">
            <a:avLst/>
          </a:prstGeom>
          <a:solidFill>
            <a:srgbClr val="FFFF99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solidFill>
                  <a:schemeClr val="tx1"/>
                </a:solidFill>
              </a:rPr>
              <a:t>(2</a:t>
            </a:r>
            <a:r>
              <a:rPr lang="ko-KR" altLang="en-US" sz="1500" dirty="0" smtClean="0">
                <a:solidFill>
                  <a:schemeClr val="tx1"/>
                </a:solidFill>
              </a:rPr>
              <a:t>단계</a:t>
            </a:r>
            <a:r>
              <a:rPr lang="en-US" altLang="ko-KR" sz="15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500" b="1" dirty="0" smtClean="0">
                <a:solidFill>
                  <a:schemeClr val="tx1"/>
                </a:solidFill>
              </a:rPr>
              <a:t>압류신청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64" name="오각형 63"/>
          <p:cNvSpPr/>
          <p:nvPr/>
        </p:nvSpPr>
        <p:spPr>
          <a:xfrm>
            <a:off x="4088904" y="2708919"/>
            <a:ext cx="1724206" cy="503109"/>
          </a:xfrm>
          <a:prstGeom prst="homePlate">
            <a:avLst/>
          </a:prstGeom>
          <a:solidFill>
            <a:srgbClr val="FFFF99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solidFill>
                  <a:schemeClr val="tx1"/>
                </a:solidFill>
              </a:rPr>
              <a:t>(3</a:t>
            </a:r>
            <a:r>
              <a:rPr lang="ko-KR" altLang="en-US" sz="1500" dirty="0" smtClean="0">
                <a:solidFill>
                  <a:schemeClr val="tx1"/>
                </a:solidFill>
              </a:rPr>
              <a:t>단계</a:t>
            </a:r>
            <a:r>
              <a:rPr lang="en-US" altLang="ko-KR" sz="15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500" b="1" dirty="0" smtClean="0">
                <a:solidFill>
                  <a:schemeClr val="tx1"/>
                </a:solidFill>
              </a:rPr>
              <a:t>원화추심</a:t>
            </a:r>
            <a:endParaRPr lang="ko-KR" altLang="en-US" sz="1500" b="1" dirty="0">
              <a:solidFill>
                <a:schemeClr val="tx1"/>
              </a:solidFill>
            </a:endParaRPr>
          </a:p>
        </p:txBody>
      </p:sp>
      <p:sp>
        <p:nvSpPr>
          <p:cNvPr id="65" name="오각형 64"/>
          <p:cNvSpPr/>
          <p:nvPr/>
        </p:nvSpPr>
        <p:spPr>
          <a:xfrm>
            <a:off x="5821082" y="2708919"/>
            <a:ext cx="1724206" cy="503109"/>
          </a:xfrm>
          <a:prstGeom prst="homePlate">
            <a:avLst/>
          </a:prstGeom>
          <a:solidFill>
            <a:srgbClr val="FFFF99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solidFill>
                  <a:schemeClr val="tx1"/>
                </a:solidFill>
              </a:rPr>
              <a:t>(4</a:t>
            </a:r>
            <a:r>
              <a:rPr lang="ko-KR" altLang="en-US" sz="1500" dirty="0" smtClean="0">
                <a:solidFill>
                  <a:schemeClr val="tx1"/>
                </a:solidFill>
              </a:rPr>
              <a:t>단계</a:t>
            </a:r>
            <a:r>
              <a:rPr lang="en-US" altLang="ko-KR" sz="15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500" b="1" dirty="0" smtClean="0">
                <a:solidFill>
                  <a:schemeClr val="tx1"/>
                </a:solidFill>
              </a:rPr>
              <a:t>자산이전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66" name="오각형 65"/>
          <p:cNvSpPr/>
          <p:nvPr/>
        </p:nvSpPr>
        <p:spPr>
          <a:xfrm>
            <a:off x="7545288" y="2708919"/>
            <a:ext cx="1724206" cy="503109"/>
          </a:xfrm>
          <a:prstGeom prst="homePlate">
            <a:avLst/>
          </a:prstGeom>
          <a:solidFill>
            <a:srgbClr val="FFFF99"/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solidFill>
                  <a:schemeClr val="tx1"/>
                </a:solidFill>
              </a:rPr>
              <a:t>(5</a:t>
            </a:r>
            <a:r>
              <a:rPr lang="ko-KR" altLang="en-US" sz="1500" dirty="0" smtClean="0">
                <a:solidFill>
                  <a:schemeClr val="tx1"/>
                </a:solidFill>
              </a:rPr>
              <a:t>단계</a:t>
            </a:r>
            <a:r>
              <a:rPr lang="en-US" altLang="ko-KR" sz="15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500" b="1" dirty="0" smtClean="0">
                <a:solidFill>
                  <a:schemeClr val="tx1"/>
                </a:solidFill>
              </a:rPr>
              <a:t>압류해제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Ⅰ.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서비스 개요 </a:t>
            </a:r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데이터 처리 프로세스</a:t>
            </a:r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자치단체에서 등록한 체납자 주민번호는 아래의 과정을 거쳐 거래소에 전달 및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체납자 재산을 찾아냅니다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7774" y="1423793"/>
            <a:ext cx="91613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▶ 자치단체 계정조회 업로드 양식 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sz="1500" b="1" dirty="0" smtClean="0">
                <a:solidFill>
                  <a:srgbClr val="0000FF"/>
                </a:solidFill>
                <a:latin typeface="나눔고딕" pitchFamily="50" charset="-127"/>
                <a:ea typeface="나눔고딕" pitchFamily="50" charset="-127"/>
              </a:rPr>
              <a:t>주민번호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(13</a:t>
            </a:r>
            <a:r>
              <a:rPr lang="ko-KR" altLang="en-US" sz="15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자리수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문자 및 수식 포함여부 체크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엑셀파일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▶ </a:t>
            </a:r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KCB </a:t>
            </a:r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데이터 처리 프로세스</a:t>
            </a:r>
            <a:endParaRPr lang="en-US" altLang="ko-KR" sz="15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4798" y="2706098"/>
            <a:ext cx="3187091" cy="9233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주민번호 </a:t>
            </a:r>
            <a:r>
              <a:rPr lang="en-US" altLang="ko-KR" sz="1200" dirty="0" smtClean="0"/>
              <a:t>= </a:t>
            </a:r>
            <a:r>
              <a:rPr lang="ko-KR" altLang="en-US" sz="1200" dirty="0" smtClean="0"/>
              <a:t>성명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생년월일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성별</a:t>
            </a:r>
            <a:r>
              <a:rPr lang="en-US" altLang="ko-KR" sz="1200" dirty="0" smtClean="0"/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휴대폰번호</a:t>
            </a:r>
            <a:r>
              <a:rPr lang="en-US" altLang="ko-KR" sz="1200" dirty="0" smtClean="0">
                <a:solidFill>
                  <a:srgbClr val="0000FF"/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/>
              <a:t>주민번호 </a:t>
            </a:r>
            <a:r>
              <a:rPr lang="en-US" altLang="ko-KR" sz="1200" dirty="0"/>
              <a:t>= </a:t>
            </a:r>
            <a:r>
              <a:rPr lang="ko-KR" altLang="en-US" sz="1200" dirty="0"/>
              <a:t>성명</a:t>
            </a:r>
            <a:r>
              <a:rPr lang="en-US" altLang="ko-KR" sz="1200" dirty="0"/>
              <a:t>, </a:t>
            </a:r>
            <a:r>
              <a:rPr lang="ko-KR" altLang="en-US" sz="1200" dirty="0"/>
              <a:t>생년월일</a:t>
            </a:r>
            <a:r>
              <a:rPr lang="en-US" altLang="ko-KR" sz="1200" dirty="0"/>
              <a:t>, </a:t>
            </a:r>
            <a:r>
              <a:rPr lang="ko-KR" altLang="en-US" sz="1200" dirty="0"/>
              <a:t>성별</a:t>
            </a:r>
            <a:r>
              <a:rPr lang="en-US" altLang="ko-KR" sz="1200" dirty="0"/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휴대폰번호</a:t>
            </a:r>
            <a:r>
              <a:rPr lang="en-US" altLang="ko-KR" sz="1200" dirty="0" smtClean="0">
                <a:solidFill>
                  <a:srgbClr val="0000FF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/>
              <a:t>주민번호 </a:t>
            </a:r>
            <a:r>
              <a:rPr lang="en-US" altLang="ko-KR" sz="1200" dirty="0"/>
              <a:t>= </a:t>
            </a:r>
            <a:r>
              <a:rPr lang="ko-KR" altLang="en-US" sz="1200" dirty="0"/>
              <a:t>성명</a:t>
            </a:r>
            <a:r>
              <a:rPr lang="en-US" altLang="ko-KR" sz="1200" dirty="0"/>
              <a:t>, </a:t>
            </a:r>
            <a:r>
              <a:rPr lang="ko-KR" altLang="en-US" sz="1200" dirty="0"/>
              <a:t>생년월일</a:t>
            </a:r>
            <a:r>
              <a:rPr lang="en-US" altLang="ko-KR" sz="1200" dirty="0"/>
              <a:t>, </a:t>
            </a:r>
            <a:r>
              <a:rPr lang="ko-KR" altLang="en-US" sz="1200" dirty="0"/>
              <a:t>성별</a:t>
            </a:r>
            <a:r>
              <a:rPr lang="en-US" altLang="ko-KR" sz="1200" dirty="0"/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휴대폰번호</a:t>
            </a:r>
            <a:r>
              <a:rPr lang="en-US" altLang="ko-KR" sz="1200" dirty="0" smtClean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6936" y="2707259"/>
            <a:ext cx="5434501" cy="9233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성명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생년월일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성별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휴대폰번호</a:t>
            </a:r>
            <a:r>
              <a:rPr lang="en-US" altLang="ko-KR" sz="1200" dirty="0" smtClean="0"/>
              <a:t>1 = </a:t>
            </a:r>
            <a:r>
              <a:rPr lang="ko-KR" altLang="en-US" sz="1200" dirty="0" smtClean="0"/>
              <a:t>계정 없음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dirty="0" smtClean="0"/>
              <a:t>성명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생년월일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성별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휴대폰번호</a:t>
            </a:r>
            <a:r>
              <a:rPr lang="en-US" altLang="ko-KR" sz="1200" dirty="0" smtClean="0"/>
              <a:t>2 =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거래소 계정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보유원화금액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보유코인갯수</a:t>
            </a:r>
            <a:endParaRPr lang="en-US" altLang="ko-KR" sz="12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/>
              <a:t>성명</a:t>
            </a:r>
            <a:r>
              <a:rPr lang="en-US" altLang="ko-KR" sz="1200" dirty="0"/>
              <a:t>, </a:t>
            </a:r>
            <a:r>
              <a:rPr lang="ko-KR" altLang="en-US" sz="1200" dirty="0"/>
              <a:t>생년월일</a:t>
            </a:r>
            <a:r>
              <a:rPr lang="en-US" altLang="ko-KR" sz="1200" dirty="0"/>
              <a:t>, </a:t>
            </a:r>
            <a:r>
              <a:rPr lang="ko-KR" altLang="en-US" sz="1200" dirty="0"/>
              <a:t>성별</a:t>
            </a:r>
            <a:r>
              <a:rPr lang="en-US" altLang="ko-KR" sz="1200" dirty="0"/>
              <a:t>, </a:t>
            </a:r>
            <a:r>
              <a:rPr lang="ko-KR" altLang="en-US" sz="1200" dirty="0" smtClean="0"/>
              <a:t>휴대폰번호</a:t>
            </a:r>
            <a:r>
              <a:rPr lang="en-US" altLang="ko-KR" sz="1200" dirty="0" smtClean="0"/>
              <a:t>3 = </a:t>
            </a:r>
            <a:r>
              <a:rPr lang="ko-KR" altLang="en-US" sz="1200" dirty="0" smtClean="0"/>
              <a:t>계정 없음</a:t>
            </a:r>
            <a:endParaRPr lang="ko-KR" altLang="en-US" sz="1200" dirty="0"/>
          </a:p>
        </p:txBody>
      </p:sp>
      <p:sp>
        <p:nvSpPr>
          <p:cNvPr id="48" name="오른쪽 화살표 47"/>
          <p:cNvSpPr/>
          <p:nvPr/>
        </p:nvSpPr>
        <p:spPr>
          <a:xfrm>
            <a:off x="3894914" y="2769911"/>
            <a:ext cx="398140" cy="7875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624798" y="2348880"/>
            <a:ext cx="1159850" cy="28803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 dirty="0" smtClean="0">
                <a:solidFill>
                  <a:schemeClr val="bg1"/>
                </a:solidFill>
              </a:rPr>
              <a:t>KCB</a:t>
            </a:r>
            <a:endParaRPr lang="ko-KR" altLang="en-US" sz="1700" b="1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369214" y="2348880"/>
            <a:ext cx="1159850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 b="1" dirty="0" smtClean="0">
                <a:solidFill>
                  <a:schemeClr val="tx1"/>
                </a:solidFill>
              </a:rPr>
              <a:t>거래소</a:t>
            </a:r>
            <a:endParaRPr lang="ko-KR" altLang="en-US" sz="1700" b="1" dirty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66418" y="3640445"/>
            <a:ext cx="2505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+mj-lt"/>
              </a:rPr>
              <a:t>※ </a:t>
            </a:r>
            <a:r>
              <a:rPr lang="ko-KR" altLang="en-US" sz="1100" dirty="0" smtClean="0">
                <a:latin typeface="+mj-lt"/>
              </a:rPr>
              <a:t>위 </a:t>
            </a:r>
            <a:r>
              <a:rPr lang="en-US" altLang="ko-KR" sz="1100" dirty="0" smtClean="0">
                <a:latin typeface="+mj-lt"/>
              </a:rPr>
              <a:t>3</a:t>
            </a:r>
            <a:r>
              <a:rPr lang="ko-KR" altLang="en-US" sz="1100" dirty="0" smtClean="0">
                <a:latin typeface="+mj-lt"/>
              </a:rPr>
              <a:t>개의 체납자 주민번호는 동일 함</a:t>
            </a:r>
            <a:endParaRPr lang="ko-KR" altLang="en-US" sz="1100" dirty="0">
              <a:latin typeface="+mj-lt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420148" y="3035909"/>
            <a:ext cx="5185432" cy="28803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632520" y="4506298"/>
            <a:ext cx="6011582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주민번호 </a:t>
            </a:r>
            <a:r>
              <a:rPr lang="en-US" altLang="ko-KR" sz="1200" dirty="0"/>
              <a:t>= </a:t>
            </a:r>
            <a:r>
              <a:rPr lang="ko-KR" altLang="en-US" sz="1200" dirty="0"/>
              <a:t>성명</a:t>
            </a:r>
            <a:r>
              <a:rPr lang="en-US" altLang="ko-KR" sz="1200" dirty="0"/>
              <a:t>, </a:t>
            </a:r>
            <a:r>
              <a:rPr lang="ko-KR" altLang="en-US" sz="1200" dirty="0"/>
              <a:t>생년월일</a:t>
            </a:r>
            <a:r>
              <a:rPr lang="en-US" altLang="ko-KR" sz="1200" dirty="0"/>
              <a:t>, </a:t>
            </a:r>
            <a:r>
              <a:rPr lang="ko-KR" altLang="en-US" sz="1200" dirty="0"/>
              <a:t>성별</a:t>
            </a:r>
            <a:r>
              <a:rPr lang="en-US" altLang="ko-KR" sz="1200" dirty="0"/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휴대폰번호</a:t>
            </a:r>
            <a:r>
              <a:rPr lang="en-US" altLang="ko-KR" sz="1200" dirty="0" smtClean="0">
                <a:solidFill>
                  <a:srgbClr val="0000FF"/>
                </a:solidFill>
              </a:rPr>
              <a:t>2 =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거래소정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ID,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보유원화금액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보유코인갯수</a:t>
            </a:r>
            <a:endParaRPr lang="en-US" altLang="ko-KR" sz="1200" b="1" dirty="0" smtClean="0">
              <a:solidFill>
                <a:srgbClr val="FF0000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32520" y="4149080"/>
            <a:ext cx="1159850" cy="28803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 dirty="0" smtClean="0">
                <a:solidFill>
                  <a:schemeClr val="bg1"/>
                </a:solidFill>
              </a:rPr>
              <a:t>KCB</a:t>
            </a:r>
            <a:endParaRPr lang="ko-KR" altLang="en-US" sz="1700" b="1" dirty="0">
              <a:solidFill>
                <a:schemeClr val="bg1"/>
              </a:solidFill>
            </a:endParaRPr>
          </a:p>
        </p:txBody>
      </p:sp>
      <p:cxnSp>
        <p:nvCxnSpPr>
          <p:cNvPr id="71" name="꺾인 연결선 70"/>
          <p:cNvCxnSpPr/>
          <p:nvPr/>
        </p:nvCxnSpPr>
        <p:spPr>
          <a:xfrm rot="5400000">
            <a:off x="5346495" y="1637398"/>
            <a:ext cx="1182357" cy="4555442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32520" y="5586418"/>
            <a:ext cx="2242922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주민번호 </a:t>
            </a:r>
            <a:r>
              <a:rPr lang="en-US" altLang="ko-KR" sz="1200" dirty="0"/>
              <a:t>=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계정보유여부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(Y/N)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632520" y="5229200"/>
            <a:ext cx="1159850" cy="2880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 b="1" dirty="0" smtClean="0">
                <a:solidFill>
                  <a:schemeClr val="tx1"/>
                </a:solidFill>
              </a:rPr>
              <a:t>자치단체</a:t>
            </a:r>
            <a:endParaRPr lang="ko-KR" altLang="en-US" sz="1700" b="1" dirty="0">
              <a:solidFill>
                <a:schemeClr val="tx1"/>
              </a:solidFill>
            </a:endParaRPr>
          </a:p>
        </p:txBody>
      </p:sp>
      <p:cxnSp>
        <p:nvCxnSpPr>
          <p:cNvPr id="74" name="꺾인 연결선 73"/>
          <p:cNvCxnSpPr>
            <a:stCxn id="69" idx="2"/>
            <a:endCxn id="72" idx="3"/>
          </p:cNvCxnSpPr>
          <p:nvPr/>
        </p:nvCxnSpPr>
        <p:spPr>
          <a:xfrm rot="5400000">
            <a:off x="2809150" y="4941923"/>
            <a:ext cx="895454" cy="762869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71529" y="5975702"/>
            <a:ext cx="55114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+mj-lt"/>
              </a:rPr>
              <a:t>※ </a:t>
            </a:r>
            <a:r>
              <a:rPr lang="ko-KR" altLang="en-US" sz="1100" dirty="0" smtClean="0">
                <a:latin typeface="+mj-lt"/>
              </a:rPr>
              <a:t>체납자가 보유한 보유원화금액</a:t>
            </a:r>
            <a:r>
              <a:rPr lang="en-US" altLang="ko-KR" sz="1100" dirty="0" smtClean="0">
                <a:latin typeface="+mj-lt"/>
              </a:rPr>
              <a:t>,</a:t>
            </a:r>
            <a:r>
              <a:rPr lang="ko-KR" altLang="en-US" sz="1100" dirty="0" smtClean="0">
                <a:latin typeface="+mj-lt"/>
              </a:rPr>
              <a:t> </a:t>
            </a:r>
            <a:r>
              <a:rPr lang="ko-KR" altLang="en-US" sz="1100" dirty="0" err="1" smtClean="0">
                <a:latin typeface="+mj-lt"/>
              </a:rPr>
              <a:t>보유코인갯수는</a:t>
            </a:r>
            <a:r>
              <a:rPr lang="ko-KR" altLang="en-US" sz="1100" dirty="0" smtClean="0">
                <a:latin typeface="+mj-lt"/>
              </a:rPr>
              <a:t> 압류신청 시점에 최신 데이터를 공개 함</a:t>
            </a:r>
            <a:endParaRPr lang="en-US" altLang="ko-KR" sz="1100" dirty="0" smtClean="0">
              <a:latin typeface="+mj-lt"/>
            </a:endParaRPr>
          </a:p>
          <a:p>
            <a:r>
              <a:rPr lang="en-US" altLang="ko-KR" sz="1100" dirty="0">
                <a:latin typeface="+mj-lt"/>
              </a:rPr>
              <a:t> </a:t>
            </a:r>
            <a:r>
              <a:rPr lang="en-US" altLang="ko-KR" sz="1100" dirty="0" smtClean="0">
                <a:latin typeface="+mj-lt"/>
              </a:rPr>
              <a:t>   (</a:t>
            </a:r>
            <a:r>
              <a:rPr lang="ko-KR" altLang="en-US" sz="1100" dirty="0" smtClean="0"/>
              <a:t>계정조회와 압류신청의 </a:t>
            </a:r>
            <a:r>
              <a:rPr lang="ko-KR" altLang="en-US" sz="1100" dirty="0"/>
              <a:t>시점차이로 </a:t>
            </a:r>
            <a:r>
              <a:rPr lang="ko-KR" altLang="en-US" sz="1100" dirty="0" smtClean="0"/>
              <a:t>인한 </a:t>
            </a:r>
            <a:r>
              <a:rPr lang="ko-KR" altLang="en-US" sz="1100" dirty="0"/>
              <a:t>보유원화금액</a:t>
            </a:r>
            <a:r>
              <a:rPr lang="en-US" altLang="ko-KR" sz="1100" dirty="0"/>
              <a:t>,</a:t>
            </a:r>
            <a:r>
              <a:rPr lang="ko-KR" altLang="en-US" sz="1100" dirty="0"/>
              <a:t> </a:t>
            </a:r>
            <a:r>
              <a:rPr lang="ko-KR" altLang="en-US" sz="1100" dirty="0" err="1" smtClean="0"/>
              <a:t>보유코인갯수</a:t>
            </a:r>
            <a:r>
              <a:rPr lang="ko-KR" altLang="en-US" sz="1100" dirty="0" smtClean="0"/>
              <a:t> 변동</a:t>
            </a:r>
            <a:r>
              <a:rPr lang="en-US" altLang="ko-KR" sz="1100" dirty="0" smtClean="0"/>
              <a:t>)</a:t>
            </a:r>
            <a:endParaRPr lang="ko-KR" altLang="en-US" sz="1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1436352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Ⅰ.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서비스 개요 </a:t>
            </a:r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참고자료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181" y="844373"/>
            <a:ext cx="9161347" cy="78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2021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년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월 경기도는 전화번호가 없는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11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만명의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휴대폰번호를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KCB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로 부터 제공받아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만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천명의 체납자가 보유한 가상화폐를 찾아냄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01" y="1916832"/>
            <a:ext cx="4579891" cy="400472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025" y="2005763"/>
            <a:ext cx="4608512" cy="4387998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5743361" y="1972712"/>
            <a:ext cx="915798" cy="27110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403992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Ⅱ.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 계정조회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(1) </a:t>
            </a:r>
            <a:r>
              <a:rPr lang="ko-KR" altLang="en-US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계정조회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압류신청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(3)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원화추심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자산이전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압류해제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58" y="1728208"/>
            <a:ext cx="7477258" cy="4674901"/>
          </a:xfrm>
          <a:prstGeom prst="rect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7833320" y="4742067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725959" y="1700808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977336" y="5118235"/>
            <a:ext cx="720080" cy="1284874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006578" y="2470862"/>
            <a:ext cx="5044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- </a:t>
            </a:r>
            <a:r>
              <a:rPr lang="ko-KR" altLang="en-US" sz="800" b="1" dirty="0" err="1" smtClean="0">
                <a:solidFill>
                  <a:srgbClr val="0000FF"/>
                </a:solidFill>
                <a:latin typeface="+mj-lt"/>
              </a:rPr>
              <a:t>작성중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 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: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아직 신청 전 입니다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수정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/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등록 팝업에서 요청정보 및 업로드파일 수정이 가능합니다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</a:t>
            </a:r>
          </a:p>
          <a:p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-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신청실패 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: </a:t>
            </a:r>
            <a:r>
              <a:rPr lang="ko-KR" altLang="en-US" sz="800" b="1" dirty="0" err="1" smtClean="0">
                <a:solidFill>
                  <a:srgbClr val="0000FF"/>
                </a:solidFill>
                <a:latin typeface="+mj-lt"/>
              </a:rPr>
              <a:t>업로드한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 별첨파일의 형식 등이 맞지 않아 오류처리 되었습니다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다시 별첨파일을 </a:t>
            </a:r>
            <a:r>
              <a:rPr lang="ko-KR" altLang="en-US" sz="800" b="1" dirty="0" err="1" smtClean="0">
                <a:solidFill>
                  <a:srgbClr val="0000FF"/>
                </a:solidFill>
                <a:latin typeface="+mj-lt"/>
              </a:rPr>
              <a:t>업로드해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 주십시오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</a:t>
            </a:r>
          </a:p>
          <a:p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-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신청완료 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: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처리신청을 완료하였습니다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거래기관 담당자의 접수자료 확인 및 접수처리 를 기다리고 있습니다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</a:t>
            </a:r>
          </a:p>
          <a:p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-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접수대기 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: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거래기관에 접수자료가 제공되어 접수처리를 기다리고 있습니다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</a:t>
            </a:r>
          </a:p>
          <a:p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-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접수완료 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: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신청한 거래기관에서 모두 접수를 완료하고 결과추출을 진행하고 있습니다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</a:t>
            </a:r>
          </a:p>
          <a:p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-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처리완료 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: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신청한 거래기관에서 모두 처리를 완료하였습니다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 </a:t>
            </a:r>
            <a:r>
              <a:rPr lang="ko-KR" altLang="en-US" sz="800" b="1" dirty="0" smtClean="0">
                <a:solidFill>
                  <a:srgbClr val="0000FF"/>
                </a:solidFill>
                <a:latin typeface="+mj-lt"/>
              </a:rPr>
              <a:t>다운로드 팝업에서 확인이 가능합니다</a:t>
            </a:r>
            <a:r>
              <a:rPr lang="en-US" altLang="ko-KR" sz="800" b="1" dirty="0" smtClean="0">
                <a:solidFill>
                  <a:srgbClr val="0000FF"/>
                </a:solidFill>
                <a:latin typeface="+mj-lt"/>
              </a:rPr>
              <a:t>.</a:t>
            </a:r>
            <a:endParaRPr lang="ko-KR" altLang="en-US" sz="800" b="1" dirty="0">
              <a:solidFill>
                <a:srgbClr val="0000FF"/>
              </a:solidFill>
              <a:latin typeface="+mj-lt"/>
            </a:endParaRPr>
          </a:p>
        </p:txBody>
      </p:sp>
      <p:cxnSp>
        <p:nvCxnSpPr>
          <p:cNvPr id="6" name="직선 화살표 연결선 5"/>
          <p:cNvCxnSpPr>
            <a:endCxn id="4" idx="2"/>
          </p:cNvCxnSpPr>
          <p:nvPr/>
        </p:nvCxnSpPr>
        <p:spPr>
          <a:xfrm flipH="1" flipV="1">
            <a:off x="4529064" y="3301859"/>
            <a:ext cx="3448272" cy="2458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749139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Ⅱ. </a:t>
            </a:r>
            <a:r>
              <a:rPr lang="ko-KR" altLang="en-US" sz="2000" b="1" dirty="0">
                <a:latin typeface="나눔고딕" pitchFamily="50" charset="-127"/>
                <a:ea typeface="나눔고딕" pitchFamily="50" charset="-127"/>
              </a:rPr>
              <a:t>계정조회</a:t>
            </a: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(1)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계정조회신청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812" y="1628800"/>
            <a:ext cx="5521449" cy="4708597"/>
          </a:xfrm>
          <a:prstGeom prst="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3718642" y="5733256"/>
            <a:ext cx="736208" cy="360040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311099" y="3839082"/>
            <a:ext cx="1356869" cy="309998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275340" y="4191861"/>
            <a:ext cx="174278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smtClean="0"/>
              <a:t>엑셀파일 양식 확인</a:t>
            </a:r>
            <a:endParaRPr lang="ko-KR" altLang="en-US" sz="15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048" y="4518711"/>
            <a:ext cx="4170293" cy="1120503"/>
          </a:xfrm>
          <a:prstGeom prst="rec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295115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Ⅱ. </a:t>
            </a:r>
            <a:r>
              <a:rPr lang="ko-KR" altLang="en-US" sz="2000" b="1" dirty="0">
                <a:latin typeface="나눔고딕" pitchFamily="50" charset="-127"/>
                <a:ea typeface="나눔고딕" pitchFamily="50" charset="-127"/>
              </a:rPr>
              <a:t>계정조회</a:t>
            </a: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(1)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계정조회신청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   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□ 신청파일 양식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엑셀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  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□ 결과파일 양식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엑셀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86" y="1999857"/>
            <a:ext cx="6124575" cy="23526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68" y="4985236"/>
            <a:ext cx="714375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35678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Ⅱ. </a:t>
            </a:r>
            <a:r>
              <a:rPr lang="ko-KR" altLang="en-US" sz="2000" b="1" dirty="0">
                <a:latin typeface="나눔고딕" pitchFamily="50" charset="-127"/>
                <a:ea typeface="나눔고딕" pitchFamily="50" charset="-127"/>
              </a:rPr>
              <a:t>계정조회</a:t>
            </a: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(1)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신청정보확인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9" y="1628800"/>
            <a:ext cx="5896343" cy="4685487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1706143092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Ⅲ.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압류신청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(1)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 → </a:t>
            </a:r>
            <a:r>
              <a:rPr lang="en-US" altLang="ko-KR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ko-KR" altLang="en-US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압류신청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(3)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원화추심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자산이전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압류해제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230" y="1647305"/>
            <a:ext cx="7494568" cy="4672779"/>
          </a:xfrm>
          <a:prstGeom prst="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5507030" y="1617783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866371" y="4675965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484297" y="6065103"/>
            <a:ext cx="515073" cy="265998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730457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723" y="1628800"/>
            <a:ext cx="5865699" cy="4701564"/>
          </a:xfrm>
          <a:prstGeom prst="rect">
            <a:avLst/>
          </a:prstGeom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신규압류신청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93015" y="5902803"/>
            <a:ext cx="615627" cy="278629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205679" y="2608971"/>
            <a:ext cx="360651" cy="290557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Ⅲ.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압류신청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231376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72" y="1628800"/>
            <a:ext cx="5924243" cy="46805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신규압류신청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914043" y="5833204"/>
            <a:ext cx="781071" cy="310066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Ⅲ.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압류신청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746908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873" y="1628800"/>
            <a:ext cx="6054480" cy="46805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신규압류신청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등록공문확인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Ⅲ.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압류신청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8388395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신규압류신청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등록공문확인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자산보유현황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Ⅲ.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압류신청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707" y="1629960"/>
            <a:ext cx="6148620" cy="3618273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875371498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127" y="1649352"/>
            <a:ext cx="7351298" cy="4682720"/>
          </a:xfrm>
          <a:prstGeom prst="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Ⅳ.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원화추심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(1)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압류신청 → </a:t>
            </a:r>
            <a:r>
              <a:rPr lang="en-US" altLang="ko-KR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(3) </a:t>
            </a:r>
            <a:r>
              <a:rPr lang="ko-KR" altLang="en-US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원화추심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자산이전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압류해제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249144" y="1617783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800269" y="4620880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080189" y="5301208"/>
            <a:ext cx="515073" cy="265998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059516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706" y="1628800"/>
            <a:ext cx="5876955" cy="4701564"/>
          </a:xfrm>
          <a:prstGeom prst="rect">
            <a:avLst/>
          </a:prstGeom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(3)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원화추심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신규추심신청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304032" y="5891786"/>
            <a:ext cx="587977" cy="334509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183645" y="2653039"/>
            <a:ext cx="360651" cy="290557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Ⅳ.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원화추심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860687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772" y="1628800"/>
            <a:ext cx="5262316" cy="468052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(3)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원화추심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신규추심신청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Ⅳ.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원화추심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903026" y="5874130"/>
            <a:ext cx="720080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508653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96" y="1628198"/>
            <a:ext cx="5495528" cy="4681122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(3)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원화추심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신규추심신청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등록공문확인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Ⅳ.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원화추심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0759555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(3)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원화추심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신규추심신청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등록공문확인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추심결과확인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Ⅳ.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원화추심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13" y="1988840"/>
            <a:ext cx="8551910" cy="169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66095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574" y="1642035"/>
            <a:ext cx="7131632" cy="4739293"/>
          </a:xfrm>
          <a:prstGeom prst="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Ⅴ.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자산이전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(1)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압류신청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(3)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원화추심 → </a:t>
            </a:r>
            <a:r>
              <a:rPr lang="en-US" altLang="ko-KR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ko-KR" altLang="en-US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자산이전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압류해제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952301" y="1617783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712133" y="4532744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570227" y="6143006"/>
            <a:ext cx="515073" cy="265998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568117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172" y="1625793"/>
            <a:ext cx="5855139" cy="4700877"/>
          </a:xfrm>
          <a:prstGeom prst="rect">
            <a:avLst/>
          </a:prstGeom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자산이전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신규이전신청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315049" y="5869752"/>
            <a:ext cx="587977" cy="334509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183645" y="2653039"/>
            <a:ext cx="360651" cy="290557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Ⅴ.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자산이전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5891494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780" y="1628800"/>
            <a:ext cx="5120514" cy="468052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자산이전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신규이전신청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Ⅴ.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자산이전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903026" y="5885147"/>
            <a:ext cx="720080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981942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자산이전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신규이전신청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등록공문확인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Ⅴ.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자산이전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313" y="1628799"/>
            <a:ext cx="5140052" cy="4672775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4969802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자산이전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신규이전신청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등록공문확인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자산이전결과확인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Ⅴ.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자산이전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059" y="1988840"/>
            <a:ext cx="4579197" cy="3434398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2782922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128" y="1645723"/>
            <a:ext cx="7617296" cy="4685032"/>
          </a:xfrm>
          <a:prstGeom prst="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1" name="TextBox 50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Ⅵ.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압류해제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18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(1)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계정조회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압류신청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(3)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원화추심 →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자산이전 → </a:t>
            </a:r>
            <a:r>
              <a:rPr lang="en-US" altLang="ko-KR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ko-KR" altLang="en-US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압류해제</a:t>
            </a:r>
            <a:endParaRPr lang="en-US" altLang="ko-KR" sz="1200" b="1" dirty="0" smtClean="0"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916345" y="1639817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927362" y="4758195"/>
            <a:ext cx="864096" cy="288032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550624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700" y="1630768"/>
            <a:ext cx="6552728" cy="4718482"/>
          </a:xfrm>
          <a:prstGeom prst="rect">
            <a:avLst/>
          </a:prstGeom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압류해제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신규해제신청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966922" y="5891786"/>
            <a:ext cx="587977" cy="334509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834622" y="2653039"/>
            <a:ext cx="360651" cy="290557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Ⅵ.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압류해제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8011924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압류해제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신규해제신청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Ⅵ.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압류해제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817" y="1628800"/>
            <a:ext cx="6056536" cy="4691364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4925060" y="5816281"/>
            <a:ext cx="770054" cy="338006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183712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742" y="1633143"/>
            <a:ext cx="6374469" cy="4683607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슬라이드 번호 개체 틀 3"/>
          <p:cNvSpPr txBox="1">
            <a:spLocks/>
          </p:cNvSpPr>
          <p:nvPr/>
        </p:nvSpPr>
        <p:spPr>
          <a:xfrm>
            <a:off x="4343028" y="6546850"/>
            <a:ext cx="1199654" cy="32385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fld id="{E884DC1D-2830-4B8F-9068-6919A659173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181" y="844373"/>
            <a:ext cx="916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압류해제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신규해제신청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공문등록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공문확인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3050" y="173970"/>
            <a:ext cx="7560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atin typeface="나눔고딕" pitchFamily="50" charset="-127"/>
                <a:ea typeface="나눔고딕" pitchFamily="50" charset="-127"/>
              </a:rPr>
              <a:t> Ⅵ. </a:t>
            </a:r>
            <a:r>
              <a:rPr lang="ko-KR" altLang="en-US" sz="2000" b="1" dirty="0" smtClean="0">
                <a:latin typeface="나눔고딕" pitchFamily="50" charset="-127"/>
                <a:ea typeface="나눔고딕" pitchFamily="50" charset="-127"/>
              </a:rPr>
              <a:t>압류해제</a:t>
            </a:r>
            <a:endParaRPr lang="ko-KR" altLang="en-US" sz="2000" b="1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4257426"/>
      </p:ext>
    </p:extLst>
  </p:cSld>
  <p:clrMapOvr>
    <a:masterClrMapping/>
  </p:clrMapOvr>
  <p:transition advTm="187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오렌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사용자 지정 1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30142</TotalTime>
  <Words>1732</Words>
  <Application>Microsoft Office PowerPoint</Application>
  <PresentationFormat>A4 용지(210x297mm)</PresentationFormat>
  <Paragraphs>291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Arial Unicode MS</vt:lpstr>
      <vt:lpstr>HY헤드라인M</vt:lpstr>
      <vt:lpstr>굴림</vt:lpstr>
      <vt:lpstr>나눔고딕</vt:lpstr>
      <vt:lpstr>맑은 고딕</vt:lpstr>
      <vt:lpstr>Arial</vt:lpstr>
      <vt:lpstr>한컴바탕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이동희</dc:creator>
  <cp:lastModifiedBy>유재성</cp:lastModifiedBy>
  <cp:revision>507</cp:revision>
  <cp:lastPrinted>2022-12-05T01:12:50Z</cp:lastPrinted>
  <dcterms:created xsi:type="dcterms:W3CDTF">2013-04-27T04:51:08Z</dcterms:created>
  <dcterms:modified xsi:type="dcterms:W3CDTF">2023-01-19T00:39:53Z</dcterms:modified>
</cp:coreProperties>
</file>